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2" r:id="rId2"/>
    <p:sldId id="273" r:id="rId3"/>
    <p:sldId id="256" r:id="rId4"/>
    <p:sldId id="278" r:id="rId5"/>
    <p:sldId id="257" r:id="rId6"/>
    <p:sldId id="276" r:id="rId7"/>
    <p:sldId id="258" r:id="rId8"/>
    <p:sldId id="279" r:id="rId9"/>
    <p:sldId id="280" r:id="rId10"/>
    <p:sldId id="266" r:id="rId11"/>
    <p:sldId id="277"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5983B0-40B9-413A-935B-C2B543B75DBD}">
          <p14:sldIdLst>
            <p14:sldId id="272"/>
            <p14:sldId id="273"/>
            <p14:sldId id="256"/>
            <p14:sldId id="278"/>
            <p14:sldId id="257"/>
          </p14:sldIdLst>
        </p14:section>
        <p14:section name="Développement" id="{C71CAA2A-6EB0-49F0-8948-CADC9C6B4BA2}">
          <p14:sldIdLst>
            <p14:sldId id="276"/>
            <p14:sldId id="258"/>
            <p14:sldId id="279"/>
            <p14:sldId id="280"/>
            <p14:sldId id="266"/>
          </p14:sldIdLst>
        </p14:section>
        <p14:section name="Conclusion" id="{95E045BD-0CD2-4AF0-B516-8CEA379DC40B}">
          <p14:sldIdLst>
            <p14:sldId id="277"/>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5" autoAdjust="0"/>
    <p:restoredTop sz="94610"/>
  </p:normalViewPr>
  <p:slideViewPr>
    <p:cSldViewPr snapToGrid="0" snapToObjects="1">
      <p:cViewPr varScale="1">
        <p:scale>
          <a:sx n="75" d="100"/>
          <a:sy n="75" d="100"/>
        </p:scale>
        <p:origin x="5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CI"/>
          </a:p>
        </p:txBody>
      </p:sp>
      <p:sp>
        <p:nvSpPr>
          <p:cNvPr id="3" name="Espace réservé de la date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BBE7729-BF23-42E1-BC3F-4E88632394CD}" type="datetimeFigureOut">
              <a:rPr lang="fr-CI" smtClean="0"/>
              <a:t>14/10/2026</a:t>
            </a:fld>
            <a:endParaRPr lang="fr-CI"/>
          </a:p>
        </p:txBody>
      </p:sp>
      <p:sp>
        <p:nvSpPr>
          <p:cNvPr id="4" name="Espace réservé de l'image des diapositives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fr-CI"/>
          </a:p>
        </p:txBody>
      </p:sp>
      <p:sp>
        <p:nvSpPr>
          <p:cNvPr id="5" name="Espace réservé des not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6" name="Espace réservé du pied de page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fr-CI"/>
          </a:p>
        </p:txBody>
      </p:sp>
      <p:sp>
        <p:nvSpPr>
          <p:cNvPr id="7" name="Espace réservé du numéro de diapositive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E95A1E68-55B2-4AF4-A42C-D2B103940C80}" type="slidenum">
              <a:rPr lang="fr-CI" smtClean="0"/>
              <a:t>‹N°›</a:t>
            </a:fld>
            <a:endParaRPr lang="fr-CI"/>
          </a:p>
        </p:txBody>
      </p:sp>
    </p:spTree>
    <p:extLst>
      <p:ext uri="{BB962C8B-B14F-4D97-AF65-F5344CB8AC3E}">
        <p14:creationId xmlns:p14="http://schemas.microsoft.com/office/powerpoint/2010/main" val="4267638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de YaGaz : une application Android qui permet de repérer les dépôts de gaz autour de soi, de consulter formats, stocks et prix, puis de contacter le vendeur. Présenter le groupe et les membres.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constat : aujourd’hui, un client doit parfois se déplacer dans plusieurs dépôts sans savoir s’ils sont ouverts ni s’ils ont le format de bouteille recherché (B6, B12 ou B28).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en trois verbes : trouver, comparer, contacter. Les écrans à droite sont ceux que l’on découvre au premier lancement : on les déploie à la diapositive suivante.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prévisionnelle : l’application Android (Jetpack Compose) s’appuie sur Firebase (authentification, base Firestore, notifications). Le contact se fait par appel ou WhatsApp. L’application gérant (phase 2) met à jour les mêmes données.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le détail, on annonce le plan : trois étapes. Les trois bandes de couleur vont s’étaler pour former les colonnes de la feuille de route.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étapes : la V1 (trouver et contacter), la phase 2 (outiller les dépôts avec l’application gérant) et les étapes suivantes (commande, livraison et paiement Mobile Money).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démonstration se lance toute seule. Chaque fonction s’affiche à droite au moment où elle apparaît à l’écran : recherche et filtres, carte, liste, fiche du dépôt, prix et stock, contact par appel ou WhatsApp, puis favoris et profil.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Remercier le jury et l’assistance.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246120"/>
            <a:ext cx="5852160" cy="109728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Titre</a:t>
            </a: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I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640080" y="713232"/>
            <a:ext cx="1088136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r>
              <a:rPr lang="en-US" sz="3400" b="1" dirty="0">
                <a:solidFill>
                  <a:schemeClr val="tx2"/>
                </a:solidFill>
              </a:rPr>
              <a:t>Titre</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AIR_TEL_DRO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640080" y="713232"/>
            <a:ext cx="768096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r>
              <a:rPr lang="en-US" sz="3400" b="1" dirty="0">
                <a:solidFill>
                  <a:schemeClr val="tx2"/>
                </a:solidFill>
              </a:rPr>
              <a:t>Titre</a:t>
            </a:r>
            <a:endParaRPr lang="en-US" sz="3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AIR_TEL_GAUCH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480560" y="960120"/>
            <a:ext cx="704088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r>
              <a:rPr lang="en-US" sz="3400" b="1" dirty="0">
                <a:solidFill>
                  <a:schemeClr val="tx2"/>
                </a:solidFill>
              </a:rPr>
              <a:t>Titre</a:t>
            </a:r>
            <a:endParaRPr lang="en-US" sz="3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AIR_PLE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713232"/>
            <a:ext cx="1088136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r>
              <a:rPr lang="en-US" sz="3400" b="1" dirty="0">
                <a:solidFill>
                  <a:schemeClr val="tx2"/>
                </a:solidFill>
              </a:rPr>
              <a:t>Titre</a:t>
            </a:r>
            <a:endParaRPr lang="en-US" sz="34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B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640080" y="713232"/>
            <a:ext cx="1088136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r>
              <a:rPr lang="en-US" sz="3400" b="1" dirty="0">
                <a:solidFill>
                  <a:schemeClr val="bg1"/>
                </a:solidFill>
              </a:rPr>
              <a:t>Titre</a:t>
            </a:r>
            <a:endParaRPr lang="en-US" sz="3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103120"/>
            <a:ext cx="6400800" cy="1188720"/>
          </a:xfrm>
          <a:prstGeom prst="rect">
            <a:avLst/>
          </a:prstGeom>
          <a:noFill/>
          <a:ln/>
        </p:spPr>
        <p:txBody>
          <a:bodyPr wrap="square" rtlCol="0"/>
          <a:lstStyle>
            <a:lvl1pPr marL="0" indent="0" algn="l">
              <a:buNone/>
              <a:defRPr lang="en-US" sz="6600" b="1" dirty="0">
                <a:solidFill>
                  <a:schemeClr val="bg1"/>
                </a:solidFill>
              </a:defRPr>
            </a:lvl1pPr>
          </a:lstStyle>
          <a:p>
            <a:pPr marL="0" indent="0" algn="l">
              <a:buNone/>
            </a:pPr>
            <a:r>
              <a:rPr lang="en-US" sz="6600" b="1" dirty="0">
                <a:solidFill>
                  <a:schemeClr val="bg1"/>
                </a:solidFill>
              </a:rPr>
              <a:t>Titre</a:t>
            </a:r>
            <a:endParaRPr lang="en-US" sz="6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N_QUES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05840"/>
            <a:ext cx="7315200" cy="2468880"/>
          </a:xfrm>
          <a:prstGeom prst="rect">
            <a:avLst/>
          </a:prstGeom>
          <a:noFill/>
          <a:ln/>
        </p:spPr>
        <p:txBody>
          <a:bodyPr wrap="square" rtlCol="0"/>
          <a:lstStyle>
            <a:lvl1pPr marL="0" indent="0" algn="l">
              <a:buNone/>
              <a:defRPr lang="en-US" sz="6600" b="1" dirty="0">
                <a:solidFill>
                  <a:schemeClr val="bg1"/>
                </a:solidFill>
              </a:defRPr>
            </a:lvl1pPr>
          </a:lstStyle>
          <a:p>
            <a:pPr marL="0" indent="0" algn="l">
              <a:buNone/>
            </a:pPr>
            <a:r>
              <a:rPr lang="en-US" sz="6600" b="1" dirty="0">
                <a:solidFill>
                  <a:schemeClr val="bg1"/>
                </a:solidFill>
              </a:rPr>
              <a:t>Titre</a:t>
            </a: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1.png"/><Relationship Id="rId4"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_trouver"/>
          <p:cNvSpPr/>
          <p:nvPr/>
        </p:nvSpPr>
        <p:spPr>
          <a:xfrm>
            <a:off x="5684504" y="2651760"/>
            <a:ext cx="822960" cy="822960"/>
          </a:xfrm>
          <a:prstGeom prst="ellipse">
            <a:avLst/>
          </a:prstGeom>
          <a:solidFill>
            <a:srgbClr val="2B7FC4"/>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i_trouver" descr="trouver.png"/>
          <p:cNvPicPr>
            <a:picLocks noChangeAspect="1"/>
          </p:cNvPicPr>
          <p:nvPr/>
        </p:nvPicPr>
        <p:blipFill>
          <a:blip r:embed="rId2"/>
          <a:stretch>
            <a:fillRect/>
          </a:stretch>
        </p:blipFill>
        <p:spPr>
          <a:xfrm>
            <a:off x="5890244" y="2857500"/>
            <a:ext cx="411480" cy="411480"/>
          </a:xfrm>
          <a:prstGeom prst="rect">
            <a:avLst/>
          </a:prstGeom>
        </p:spPr>
      </p:pic>
      <p:sp>
        <p:nvSpPr>
          <p:cNvPr id="4" name="!!b_comparer"/>
          <p:cNvSpPr/>
          <p:nvPr/>
        </p:nvSpPr>
        <p:spPr>
          <a:xfrm>
            <a:off x="5684504" y="2651760"/>
            <a:ext cx="822960" cy="82296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_comparer" descr="comparer.png"/>
          <p:cNvPicPr>
            <a:picLocks noChangeAspect="1"/>
          </p:cNvPicPr>
          <p:nvPr/>
        </p:nvPicPr>
        <p:blipFill>
          <a:blip r:embed="rId3"/>
          <a:stretch>
            <a:fillRect/>
          </a:stretch>
        </p:blipFill>
        <p:spPr>
          <a:xfrm>
            <a:off x="5890244" y="2857500"/>
            <a:ext cx="411480" cy="411480"/>
          </a:xfrm>
          <a:prstGeom prst="rect">
            <a:avLst/>
          </a:prstGeom>
        </p:spPr>
      </p:pic>
      <p:sp>
        <p:nvSpPr>
          <p:cNvPr id="6" name="!!b_contacter"/>
          <p:cNvSpPr/>
          <p:nvPr/>
        </p:nvSpPr>
        <p:spPr>
          <a:xfrm>
            <a:off x="5684504" y="2651760"/>
            <a:ext cx="822960" cy="822960"/>
          </a:xfrm>
          <a:prstGeom prst="ellipse">
            <a:avLst/>
          </a:prstGeom>
          <a:solidFill>
            <a:srgbClr val="F26A1B"/>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_contacter" descr="contacter.png"/>
          <p:cNvPicPr>
            <a:picLocks noChangeAspect="1"/>
          </p:cNvPicPr>
          <p:nvPr/>
        </p:nvPicPr>
        <p:blipFill>
          <a:blip r:embed="rId4"/>
          <a:stretch>
            <a:fillRect/>
          </a:stretch>
        </p:blipFill>
        <p:spPr>
          <a:xfrm>
            <a:off x="5890244" y="2857500"/>
            <a:ext cx="411480" cy="411480"/>
          </a:xfrm>
          <a:prstGeom prst="rect">
            <a:avLst/>
          </a:prstGeom>
        </p:spPr>
      </p:pic>
      <p:sp>
        <p:nvSpPr>
          <p:cNvPr id="8" name="!!b_carte"/>
          <p:cNvSpPr/>
          <p:nvPr/>
        </p:nvSpPr>
        <p:spPr>
          <a:xfrm>
            <a:off x="5684504" y="2651760"/>
            <a:ext cx="822960" cy="822960"/>
          </a:xfrm>
          <a:prstGeom prst="ellipse">
            <a:avLst/>
          </a:prstGeom>
          <a:solidFill>
            <a:srgbClr val="1FB5C9"/>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_carte" descr="carte.png"/>
          <p:cNvPicPr>
            <a:picLocks noChangeAspect="1"/>
          </p:cNvPicPr>
          <p:nvPr/>
        </p:nvPicPr>
        <p:blipFill>
          <a:blip r:embed="rId5"/>
          <a:stretch>
            <a:fillRect/>
          </a:stretch>
        </p:blipFill>
        <p:spPr>
          <a:xfrm>
            <a:off x="5890244" y="2857500"/>
            <a:ext cx="411480" cy="411480"/>
          </a:xfrm>
          <a:prstGeom prst="rect">
            <a:avLst/>
          </a:prstGeom>
        </p:spPr>
      </p:pic>
      <p:sp>
        <p:nvSpPr>
          <p:cNvPr id="10" name="!!b_stock"/>
          <p:cNvSpPr/>
          <p:nvPr/>
        </p:nvSpPr>
        <p:spPr>
          <a:xfrm>
            <a:off x="5684504" y="2651760"/>
            <a:ext cx="822960" cy="82296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_stock" descr="stock.png"/>
          <p:cNvPicPr>
            <a:picLocks noChangeAspect="1"/>
          </p:cNvPicPr>
          <p:nvPr/>
        </p:nvPicPr>
        <p:blipFill>
          <a:blip r:embed="rId6"/>
          <a:stretch>
            <a:fillRect/>
          </a:stretch>
        </p:blipFill>
        <p:spPr>
          <a:xfrm>
            <a:off x="5890244" y="2857500"/>
            <a:ext cx="411480" cy="411480"/>
          </a:xfrm>
          <a:prstGeom prst="rect">
            <a:avLst/>
          </a:prstGeom>
        </p:spPr>
      </p:pic>
      <p:sp>
        <p:nvSpPr>
          <p:cNvPr id="12" name="!!b_prix"/>
          <p:cNvSpPr/>
          <p:nvPr/>
        </p:nvSpPr>
        <p:spPr>
          <a:xfrm>
            <a:off x="5684504" y="2651760"/>
            <a:ext cx="822960" cy="822960"/>
          </a:xfrm>
          <a:prstGeom prst="ellipse">
            <a:avLst/>
          </a:prstGeom>
          <a:solidFill>
            <a:srgbClr val="134B8A"/>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_prix" descr="prix.png"/>
          <p:cNvPicPr>
            <a:picLocks noChangeAspect="1"/>
          </p:cNvPicPr>
          <p:nvPr/>
        </p:nvPicPr>
        <p:blipFill>
          <a:blip r:embed="rId7"/>
          <a:stretch>
            <a:fillRect/>
          </a:stretch>
        </p:blipFill>
        <p:spPr>
          <a:xfrm>
            <a:off x="5890244" y="2857500"/>
            <a:ext cx="411480" cy="411480"/>
          </a:xfrm>
          <a:prstGeom prst="rect">
            <a:avLst/>
          </a:prstGeom>
        </p:spPr>
      </p:pic>
      <p:sp>
        <p:nvSpPr>
          <p:cNvPr id="14" name="!!b_favoris"/>
          <p:cNvSpPr/>
          <p:nvPr/>
        </p:nvSpPr>
        <p:spPr>
          <a:xfrm>
            <a:off x="5684504" y="2651760"/>
            <a:ext cx="822960" cy="82296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_favoris" descr="favoris.png"/>
          <p:cNvPicPr>
            <a:picLocks noChangeAspect="1"/>
          </p:cNvPicPr>
          <p:nvPr/>
        </p:nvPicPr>
        <p:blipFill>
          <a:blip r:embed="rId8"/>
          <a:stretch>
            <a:fillRect/>
          </a:stretch>
        </p:blipFill>
        <p:spPr>
          <a:xfrm>
            <a:off x="5890244" y="2857500"/>
            <a:ext cx="411480" cy="411480"/>
          </a:xfrm>
          <a:prstGeom prst="rect">
            <a:avLst/>
          </a:prstGeom>
        </p:spPr>
      </p:pic>
      <p:sp>
        <p:nvSpPr>
          <p:cNvPr id="16" name="!!b_appeler"/>
          <p:cNvSpPr/>
          <p:nvPr/>
        </p:nvSpPr>
        <p:spPr>
          <a:xfrm>
            <a:off x="5684504" y="2651760"/>
            <a:ext cx="822960" cy="822960"/>
          </a:xfrm>
          <a:prstGeom prst="ellipse">
            <a:avLst/>
          </a:prstGeom>
          <a:solidFill>
            <a:srgbClr val="1FB5C9"/>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_appeler" descr="appeler.png"/>
          <p:cNvPicPr>
            <a:picLocks noChangeAspect="1"/>
          </p:cNvPicPr>
          <p:nvPr/>
        </p:nvPicPr>
        <p:blipFill>
          <a:blip r:embed="rId9"/>
          <a:stretch>
            <a:fillRect/>
          </a:stretch>
        </p:blipFill>
        <p:spPr>
          <a:xfrm>
            <a:off x="5890244" y="2857500"/>
            <a:ext cx="411480" cy="411480"/>
          </a:xfrm>
          <a:prstGeom prst="rect">
            <a:avLst/>
          </a:prstGeom>
        </p:spPr>
      </p:pic>
      <p:sp>
        <p:nvSpPr>
          <p:cNvPr id="18" name="!!b_ouvert"/>
          <p:cNvSpPr/>
          <p:nvPr/>
        </p:nvSpPr>
        <p:spPr>
          <a:xfrm>
            <a:off x="5684504" y="2651760"/>
            <a:ext cx="822960" cy="82296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_ouvert" descr="ouvert.png"/>
          <p:cNvPicPr>
            <a:picLocks noChangeAspect="1"/>
          </p:cNvPicPr>
          <p:nvPr/>
        </p:nvPicPr>
        <p:blipFill>
          <a:blip r:embed="rId10"/>
          <a:stretch>
            <a:fillRect/>
          </a:stretch>
        </p:blipFill>
        <p:spPr>
          <a:xfrm>
            <a:off x="5890244" y="2857500"/>
            <a:ext cx="411480" cy="411480"/>
          </a:xfrm>
          <a:prstGeom prst="rect">
            <a:avLst/>
          </a:prstGeom>
        </p:spPr>
      </p:pic>
      <p:sp>
        <p:nvSpPr>
          <p:cNvPr id="20" name="!!titre"/>
          <p:cNvSpPr/>
          <p:nvPr/>
        </p:nvSpPr>
        <p:spPr>
          <a:xfrm>
            <a:off x="4724384" y="1691640"/>
            <a:ext cx="2743200" cy="2743200"/>
          </a:xfrm>
          <a:prstGeom prst="ellipse">
            <a:avLst/>
          </a:prstGeom>
          <a:solidFill>
            <a:srgbClr val="0B1B33"/>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45720" rIns="45720" rtlCol="0" anchor="ctr"/>
          <a:lstStyle/>
          <a:p>
            <a:pPr algn="ctr"/>
            <a:endParaRPr lang="fr-FR" sz="2600" b="1" dirty="0">
              <a:solidFill>
                <a:srgbClr val="FFFFFF"/>
              </a:solidFill>
              <a:latin typeface="+mj-lt"/>
            </a:endParaRPr>
          </a:p>
          <a:p>
            <a:pPr algn="ctr"/>
            <a:r>
              <a:rPr sz="2600" b="1" dirty="0">
                <a:solidFill>
                  <a:srgbClr val="FFFFFF"/>
                </a:solidFill>
                <a:latin typeface="+mj-lt"/>
              </a:rPr>
              <a:t>Bienvenue</a:t>
            </a:r>
          </a:p>
          <a:p>
            <a:pPr algn="ctr"/>
            <a:endParaRPr lang="fr-FR" sz="1600" dirty="0">
              <a:solidFill>
                <a:srgbClr val="A9D2F5"/>
              </a:solidFill>
            </a:endParaRPr>
          </a:p>
          <a:p>
            <a:pPr algn="ctr"/>
            <a:endParaRPr sz="1600" dirty="0">
              <a:solidFill>
                <a:srgbClr val="A9D2F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_trouver"/>
          <p:cNvSpPr/>
          <p:nvPr/>
        </p:nvSpPr>
        <p:spPr>
          <a:xfrm>
            <a:off x="3381131" y="1555394"/>
            <a:ext cx="1325880" cy="1325880"/>
          </a:xfrm>
          <a:prstGeom prst="ellipse">
            <a:avLst/>
          </a:prstGeom>
          <a:solidFill>
            <a:srgbClr val="2B7FC4"/>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i_trouver" descr="trouver.png"/>
          <p:cNvPicPr>
            <a:picLocks noChangeAspect="1"/>
          </p:cNvPicPr>
          <p:nvPr/>
        </p:nvPicPr>
        <p:blipFill>
          <a:blip r:embed="rId2"/>
          <a:stretch>
            <a:fillRect/>
          </a:stretch>
        </p:blipFill>
        <p:spPr>
          <a:xfrm>
            <a:off x="3712601" y="1886864"/>
            <a:ext cx="662940" cy="662940"/>
          </a:xfrm>
          <a:prstGeom prst="rect">
            <a:avLst/>
          </a:prstGeom>
        </p:spPr>
      </p:pic>
      <p:sp>
        <p:nvSpPr>
          <p:cNvPr id="4" name="!!b_comparer"/>
          <p:cNvSpPr/>
          <p:nvPr/>
        </p:nvSpPr>
        <p:spPr>
          <a:xfrm>
            <a:off x="3794439" y="3738981"/>
            <a:ext cx="1143000" cy="114300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_comparer" descr="comparer.png"/>
          <p:cNvPicPr>
            <a:picLocks noChangeAspect="1"/>
          </p:cNvPicPr>
          <p:nvPr/>
        </p:nvPicPr>
        <p:blipFill>
          <a:blip r:embed="rId3"/>
          <a:stretch>
            <a:fillRect/>
          </a:stretch>
        </p:blipFill>
        <p:spPr>
          <a:xfrm>
            <a:off x="4080189" y="4024731"/>
            <a:ext cx="571500" cy="571500"/>
          </a:xfrm>
          <a:prstGeom prst="rect">
            <a:avLst/>
          </a:prstGeom>
        </p:spPr>
      </p:pic>
      <p:sp>
        <p:nvSpPr>
          <p:cNvPr id="6" name="!!b_contacter"/>
          <p:cNvSpPr/>
          <p:nvPr/>
        </p:nvSpPr>
        <p:spPr>
          <a:xfrm>
            <a:off x="7519705" y="1590141"/>
            <a:ext cx="1417320" cy="1417320"/>
          </a:xfrm>
          <a:prstGeom prst="ellipse">
            <a:avLst/>
          </a:prstGeom>
          <a:solidFill>
            <a:srgbClr val="F26A1B"/>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_contacter" descr="contacter.png"/>
          <p:cNvPicPr>
            <a:picLocks noChangeAspect="1"/>
          </p:cNvPicPr>
          <p:nvPr/>
        </p:nvPicPr>
        <p:blipFill>
          <a:blip r:embed="rId4"/>
          <a:stretch>
            <a:fillRect/>
          </a:stretch>
        </p:blipFill>
        <p:spPr>
          <a:xfrm>
            <a:off x="7874035" y="1944471"/>
            <a:ext cx="708660" cy="708660"/>
          </a:xfrm>
          <a:prstGeom prst="rect">
            <a:avLst/>
          </a:prstGeom>
        </p:spPr>
      </p:pic>
      <p:sp>
        <p:nvSpPr>
          <p:cNvPr id="8" name="!!b_carte"/>
          <p:cNvSpPr/>
          <p:nvPr/>
        </p:nvSpPr>
        <p:spPr>
          <a:xfrm>
            <a:off x="6736979" y="726948"/>
            <a:ext cx="1051560" cy="1051560"/>
          </a:xfrm>
          <a:prstGeom prst="ellipse">
            <a:avLst/>
          </a:prstGeom>
          <a:solidFill>
            <a:srgbClr val="1FB5C9"/>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_carte" descr="carte.png"/>
          <p:cNvPicPr>
            <a:picLocks noChangeAspect="1"/>
          </p:cNvPicPr>
          <p:nvPr/>
        </p:nvPicPr>
        <p:blipFill>
          <a:blip r:embed="rId5"/>
          <a:stretch>
            <a:fillRect/>
          </a:stretch>
        </p:blipFill>
        <p:spPr>
          <a:xfrm>
            <a:off x="6999869" y="989838"/>
            <a:ext cx="525780" cy="525780"/>
          </a:xfrm>
          <a:prstGeom prst="rect">
            <a:avLst/>
          </a:prstGeom>
        </p:spPr>
      </p:pic>
      <p:sp>
        <p:nvSpPr>
          <p:cNvPr id="10" name="!!b_stock"/>
          <p:cNvSpPr/>
          <p:nvPr/>
        </p:nvSpPr>
        <p:spPr>
          <a:xfrm>
            <a:off x="5092887" y="651967"/>
            <a:ext cx="960120" cy="96012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_stock" descr="stock.png"/>
          <p:cNvPicPr>
            <a:picLocks noChangeAspect="1"/>
          </p:cNvPicPr>
          <p:nvPr/>
        </p:nvPicPr>
        <p:blipFill>
          <a:blip r:embed="rId6"/>
          <a:stretch>
            <a:fillRect/>
          </a:stretch>
        </p:blipFill>
        <p:spPr>
          <a:xfrm>
            <a:off x="5332917" y="891997"/>
            <a:ext cx="480060" cy="480060"/>
          </a:xfrm>
          <a:prstGeom prst="rect">
            <a:avLst/>
          </a:prstGeom>
        </p:spPr>
      </p:pic>
      <p:sp>
        <p:nvSpPr>
          <p:cNvPr id="12" name="!!b_prix"/>
          <p:cNvSpPr/>
          <p:nvPr/>
        </p:nvSpPr>
        <p:spPr>
          <a:xfrm>
            <a:off x="7501417" y="3744468"/>
            <a:ext cx="1051560" cy="1051560"/>
          </a:xfrm>
          <a:prstGeom prst="ellipse">
            <a:avLst/>
          </a:prstGeom>
          <a:solidFill>
            <a:srgbClr val="134B8A"/>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_prix" descr="prix.png"/>
          <p:cNvPicPr>
            <a:picLocks noChangeAspect="1"/>
          </p:cNvPicPr>
          <p:nvPr/>
        </p:nvPicPr>
        <p:blipFill>
          <a:blip r:embed="rId7"/>
          <a:stretch>
            <a:fillRect/>
          </a:stretch>
        </p:blipFill>
        <p:spPr>
          <a:xfrm>
            <a:off x="7764307" y="4007358"/>
            <a:ext cx="525780" cy="525780"/>
          </a:xfrm>
          <a:prstGeom prst="rect">
            <a:avLst/>
          </a:prstGeom>
        </p:spPr>
      </p:pic>
      <p:sp>
        <p:nvSpPr>
          <p:cNvPr id="14" name="!!b_favoris"/>
          <p:cNvSpPr/>
          <p:nvPr/>
        </p:nvSpPr>
        <p:spPr>
          <a:xfrm>
            <a:off x="6063980" y="4640580"/>
            <a:ext cx="868680" cy="86868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_favoris" descr="favoris.png"/>
          <p:cNvPicPr>
            <a:picLocks noChangeAspect="1"/>
          </p:cNvPicPr>
          <p:nvPr/>
        </p:nvPicPr>
        <p:blipFill>
          <a:blip r:embed="rId8"/>
          <a:stretch>
            <a:fillRect/>
          </a:stretch>
        </p:blipFill>
        <p:spPr>
          <a:xfrm>
            <a:off x="6281150" y="4857750"/>
            <a:ext cx="434340" cy="434340"/>
          </a:xfrm>
          <a:prstGeom prst="rect">
            <a:avLst/>
          </a:prstGeom>
        </p:spPr>
      </p:pic>
      <p:sp>
        <p:nvSpPr>
          <p:cNvPr id="16" name="!!b_appeler"/>
          <p:cNvSpPr/>
          <p:nvPr/>
        </p:nvSpPr>
        <p:spPr>
          <a:xfrm>
            <a:off x="2827919" y="3094329"/>
            <a:ext cx="822960" cy="822960"/>
          </a:xfrm>
          <a:prstGeom prst="ellipse">
            <a:avLst/>
          </a:prstGeom>
          <a:solidFill>
            <a:srgbClr val="1FB5C9"/>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_appeler" descr="appeler.png"/>
          <p:cNvPicPr>
            <a:picLocks noChangeAspect="1"/>
          </p:cNvPicPr>
          <p:nvPr/>
        </p:nvPicPr>
        <p:blipFill>
          <a:blip r:embed="rId9"/>
          <a:stretch>
            <a:fillRect/>
          </a:stretch>
        </p:blipFill>
        <p:spPr>
          <a:xfrm>
            <a:off x="3033659" y="3300069"/>
            <a:ext cx="411480" cy="411480"/>
          </a:xfrm>
          <a:prstGeom prst="rect">
            <a:avLst/>
          </a:prstGeom>
        </p:spPr>
      </p:pic>
      <p:sp>
        <p:nvSpPr>
          <p:cNvPr id="18" name="!!b_ouvert"/>
          <p:cNvSpPr/>
          <p:nvPr/>
        </p:nvSpPr>
        <p:spPr>
          <a:xfrm>
            <a:off x="8724884" y="3036722"/>
            <a:ext cx="777240" cy="777240"/>
          </a:xfrm>
          <a:prstGeom prst="ellipse">
            <a:avLst/>
          </a:prstGeom>
          <a:solidFill>
            <a:srgbClr val="FFFFFF"/>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_ouvert" descr="ouvert.png"/>
          <p:cNvPicPr>
            <a:picLocks noChangeAspect="1"/>
          </p:cNvPicPr>
          <p:nvPr/>
        </p:nvPicPr>
        <p:blipFill>
          <a:blip r:embed="rId10"/>
          <a:stretch>
            <a:fillRect/>
          </a:stretch>
        </p:blipFill>
        <p:spPr>
          <a:xfrm>
            <a:off x="8919194" y="3231032"/>
            <a:ext cx="388620" cy="388620"/>
          </a:xfrm>
          <a:prstGeom prst="rect">
            <a:avLst/>
          </a:prstGeom>
        </p:spPr>
      </p:pic>
      <p:sp>
        <p:nvSpPr>
          <p:cNvPr id="20" name="!!titre"/>
          <p:cNvSpPr/>
          <p:nvPr/>
        </p:nvSpPr>
        <p:spPr>
          <a:xfrm>
            <a:off x="4724384" y="1691640"/>
            <a:ext cx="2743200" cy="2743200"/>
          </a:xfrm>
          <a:prstGeom prst="ellipse">
            <a:avLst/>
          </a:prstGeom>
          <a:solidFill>
            <a:srgbClr val="0B1B33"/>
          </a:solidFill>
          <a:ln>
            <a:noFill/>
          </a:ln>
          <a:effectLst>
            <a:outerShdw blurRad="190500" dist="76200" dir="5400000" algn="t"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45720" rIns="45720" rtlCol="0" anchor="ctr"/>
          <a:lstStyle/>
          <a:p>
            <a:pPr algn="ctr"/>
            <a:r>
              <a:rPr sz="2600" b="1">
                <a:solidFill>
                  <a:srgbClr val="FFFFFF"/>
                </a:solidFill>
                <a:latin typeface="+mj-lt"/>
              </a:rPr>
              <a:t>Bienvenue</a:t>
            </a:r>
          </a:p>
          <a:p>
            <a:pPr algn="ctr"/>
            <a:r>
              <a:rPr sz="1600">
                <a:solidFill>
                  <a:srgbClr val="A9D2F5"/>
                </a:solidFill>
              </a:rPr>
              <a:t>sur YaGaz</a:t>
            </a:r>
          </a:p>
        </p:txBody>
      </p:sp>
      <p:sp>
        <p:nvSpPr>
          <p:cNvPr id="21" name="Message 1"/>
          <p:cNvSpPr txBox="1"/>
          <p:nvPr/>
        </p:nvSpPr>
        <p:spPr>
          <a:xfrm>
            <a:off x="1069848" y="5669280"/>
            <a:ext cx="10058400" cy="457200"/>
          </a:xfrm>
          <a:prstGeom prst="rect">
            <a:avLst/>
          </a:prstGeom>
          <a:noFill/>
        </p:spPr>
        <p:txBody>
          <a:bodyPr wrap="square">
            <a:spAutoFit/>
          </a:bodyPr>
          <a:lstStyle/>
          <a:p>
            <a:pPr algn="ctr"/>
            <a:r>
              <a:rPr sz="2200" b="1">
                <a:solidFill>
                  <a:srgbClr val="0B1B33"/>
                </a:solidFill>
              </a:rPr>
              <a:t>Et si trouver une bouteille de gaz ne prenait qu’un clic ?</a:t>
            </a:r>
          </a:p>
        </p:txBody>
      </p:sp>
      <p:sp>
        <p:nvSpPr>
          <p:cNvPr id="22" name="Message 2"/>
          <p:cNvSpPr txBox="1"/>
          <p:nvPr/>
        </p:nvSpPr>
        <p:spPr>
          <a:xfrm>
            <a:off x="1069848" y="6126480"/>
            <a:ext cx="10058400" cy="400110"/>
          </a:xfrm>
          <a:prstGeom prst="rect">
            <a:avLst/>
          </a:prstGeom>
          <a:noFill/>
        </p:spPr>
        <p:txBody>
          <a:bodyPr wrap="square">
            <a:spAutoFit/>
          </a:bodyPr>
          <a:lstStyle/>
          <a:p>
            <a:pPr algn="ctr"/>
            <a:r>
              <a:rPr sz="2000" b="1" dirty="0" err="1">
                <a:solidFill>
                  <a:srgbClr val="2B7FC4"/>
                </a:solidFill>
              </a:rPr>
              <a:t>Découvrons</a:t>
            </a:r>
            <a:r>
              <a:rPr sz="2000" b="1" dirty="0">
                <a:solidFill>
                  <a:srgbClr val="2B7FC4"/>
                </a:solidFill>
              </a:rPr>
              <a:t> ensemble </a:t>
            </a:r>
            <a:r>
              <a:rPr lang="fr-FR" sz="2000" b="1" dirty="0">
                <a:solidFill>
                  <a:srgbClr val="2B7FC4"/>
                </a:solidFill>
              </a:rPr>
              <a:t>cette solution</a:t>
            </a:r>
            <a:r>
              <a:rPr sz="2000" b="1" dirty="0">
                <a:solidFill>
                  <a:srgbClr val="2B7FC4"/>
                </a:solidFill>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4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650"/>
                                        <p:tgtEl>
                                          <p:spTgt spid="21"/>
                                        </p:tgtEl>
                                      </p:cBhvr>
                                    </p:animEffect>
                                  </p:childTnLst>
                                </p:cTn>
                              </p:par>
                              <p:par>
                                <p:cTn id="8" presetID="10" presetClass="entr" presetSubtype="0" fill="hold" grpId="0" nodeType="withEffect">
                                  <p:stCondLst>
                                    <p:cond delay="170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6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1" name="Pastille LOCALISATION — fond"/>
          <p:cNvSpPr/>
          <p:nvPr/>
        </p:nvSpPr>
        <p:spPr>
          <a:xfrm>
            <a:off x="6991383" y="5985043"/>
            <a:ext cx="1600200" cy="347472"/>
          </a:xfrm>
          <a:prstGeom prst="roundRect">
            <a:avLst>
              <a:gd name="adj" fmla="val 50000"/>
            </a:avLst>
          </a:prstGeom>
          <a:solidFill>
            <a:srgbClr val="132F53"/>
          </a:solidFill>
          <a:ln w="12700">
            <a:solidFill>
              <a:srgbClr val="132F53"/>
            </a:solidFill>
            <a:prstDash val="solid"/>
          </a:ln>
        </p:spPr>
        <p:txBody>
          <a:bodyPr/>
          <a:lstStyle/>
          <a:p>
            <a:endParaRPr/>
          </a:p>
        </p:txBody>
      </p:sp>
      <p:sp>
        <p:nvSpPr>
          <p:cNvPr id="32" name="Pastille STOCK &amp; PRIX — fond"/>
          <p:cNvSpPr/>
          <p:nvPr/>
        </p:nvSpPr>
        <p:spPr>
          <a:xfrm>
            <a:off x="8728743" y="5985043"/>
            <a:ext cx="1600200" cy="347472"/>
          </a:xfrm>
          <a:prstGeom prst="roundRect">
            <a:avLst>
              <a:gd name="adj" fmla="val 50000"/>
            </a:avLst>
          </a:prstGeom>
          <a:solidFill>
            <a:srgbClr val="132F53"/>
          </a:solidFill>
          <a:ln w="12700">
            <a:solidFill>
              <a:srgbClr val="132F53"/>
            </a:solidFill>
            <a:prstDash val="solid"/>
          </a:ln>
        </p:spPr>
        <p:txBody>
          <a:bodyPr/>
          <a:lstStyle/>
          <a:p>
            <a:endParaRPr/>
          </a:p>
        </p:txBody>
      </p:sp>
      <p:sp>
        <p:nvSpPr>
          <p:cNvPr id="33" name="Pastille CONTACT — fond"/>
          <p:cNvSpPr/>
          <p:nvPr/>
        </p:nvSpPr>
        <p:spPr>
          <a:xfrm>
            <a:off x="10466103" y="5985043"/>
            <a:ext cx="1325880" cy="347472"/>
          </a:xfrm>
          <a:prstGeom prst="roundRect">
            <a:avLst>
              <a:gd name="adj" fmla="val 50000"/>
            </a:avLst>
          </a:prstGeom>
          <a:solidFill>
            <a:srgbClr val="132F53"/>
          </a:solidFill>
          <a:ln w="12700">
            <a:solidFill>
              <a:srgbClr val="132F53"/>
            </a:solidFill>
            <a:prstDash val="solid"/>
          </a:ln>
        </p:spPr>
        <p:txBody>
          <a:bodyPr/>
          <a:lstStyle/>
          <a:p>
            <a:endParaRPr/>
          </a:p>
        </p:txBody>
      </p:sp>
      <p:sp>
        <p:nvSpPr>
          <p:cNvPr id="3" name="Pastille année — fond"/>
          <p:cNvSpPr/>
          <p:nvPr/>
        </p:nvSpPr>
        <p:spPr>
          <a:xfrm>
            <a:off x="9083039" y="228645"/>
            <a:ext cx="2926080" cy="347472"/>
          </a:xfrm>
          <a:prstGeom prst="roundRect">
            <a:avLst>
              <a:gd name="adj" fmla="val 50000"/>
            </a:avLst>
          </a:prstGeom>
          <a:solidFill>
            <a:srgbClr val="EEF3FA"/>
          </a:solidFill>
          <a:ln w="12700">
            <a:solidFill>
              <a:srgbClr val="EEF3FA"/>
            </a:solidFill>
            <a:prstDash val="solid"/>
          </a:ln>
        </p:spPr>
        <p:txBody>
          <a:bodyPr/>
          <a:lstStyle/>
          <a:p>
            <a:endParaRPr/>
          </a:p>
        </p:txBody>
      </p:sp>
      <p:sp>
        <p:nvSpPr>
          <p:cNvPr id="4" name="Pastille année"/>
          <p:cNvSpPr txBox="1"/>
          <p:nvPr/>
        </p:nvSpPr>
        <p:spPr>
          <a:xfrm>
            <a:off x="9006840" y="238225"/>
            <a:ext cx="2926080" cy="347472"/>
          </a:xfrm>
          <a:prstGeom prst="rect">
            <a:avLst/>
          </a:prstGeom>
          <a:noFill/>
          <a:ln/>
        </p:spPr>
        <p:txBody>
          <a:bodyPr wrap="square" lIns="0" tIns="0" rIns="0" bIns="0" rtlCol="0" anchor="ctr"/>
          <a:lstStyle/>
          <a:p>
            <a:pPr marL="0" indent="0" algn="ctr">
              <a:buNone/>
            </a:pPr>
            <a:r>
              <a:rPr lang="en-US" sz="1100" b="1" kern="0" spc="150" dirty="0">
                <a:solidFill>
                  <a:srgbClr val="5B6794"/>
                </a:solidFill>
              </a:rPr>
              <a:t>ANNÉE ACADÉMIQUE 2026–2027</a:t>
            </a:r>
            <a:endParaRPr lang="en-US" sz="1100" dirty="0"/>
          </a:p>
        </p:txBody>
      </p:sp>
      <p:sp>
        <p:nvSpPr>
          <p:cNvPr id="5" name="Surtitre"/>
          <p:cNvSpPr txBox="1"/>
          <p:nvPr/>
        </p:nvSpPr>
        <p:spPr>
          <a:xfrm>
            <a:off x="259080" y="699221"/>
            <a:ext cx="7680960" cy="1147912"/>
          </a:xfrm>
          <a:prstGeom prst="rect">
            <a:avLst/>
          </a:prstGeom>
          <a:noFill/>
          <a:ln/>
        </p:spPr>
        <p:txBody>
          <a:bodyPr wrap="square" lIns="0" tIns="0" rIns="0" bIns="0" rtlCol="0" anchor="ctr"/>
          <a:lstStyle/>
          <a:p>
            <a:pPr marL="0" indent="0">
              <a:buNone/>
            </a:pPr>
            <a:r>
              <a:rPr lang="en-US" sz="1100" b="1" kern="0" spc="150" dirty="0">
                <a:solidFill>
                  <a:schemeClr val="accent1"/>
                </a:solidFill>
              </a:rPr>
              <a:t>APPLICATION MOBILE ANDROID  ·  PROJET ESATIC</a:t>
            </a:r>
            <a:endParaRPr lang="en-US" dirty="0"/>
          </a:p>
        </p:txBody>
      </p:sp>
      <p:pic>
        <p:nvPicPr>
          <p:cNvPr id="6" name="Logo YaGaz" descr="Logo YaGaz"/>
          <p:cNvPicPr>
            <a:picLocks noChangeAspect="1"/>
          </p:cNvPicPr>
          <p:nvPr/>
        </p:nvPicPr>
        <p:blipFill>
          <a:blip r:embed="rId3"/>
          <a:stretch>
            <a:fillRect/>
          </a:stretch>
        </p:blipFill>
        <p:spPr>
          <a:xfrm>
            <a:off x="640080" y="1901952"/>
            <a:ext cx="3291840" cy="1191017"/>
          </a:xfrm>
          <a:prstGeom prst="rect">
            <a:avLst/>
          </a:prstGeom>
        </p:spPr>
      </p:pic>
      <p:sp>
        <p:nvSpPr>
          <p:cNvPr id="7" name="Text 0"/>
          <p:cNvSpPr>
            <a:spLocks noGrp="1"/>
          </p:cNvSpPr>
          <p:nvPr>
            <p:ph type="title" idx="100" hasCustomPrompt="1"/>
          </p:nvPr>
        </p:nvSpPr>
        <p:spPr>
          <a:xfrm>
            <a:off x="640080" y="3246120"/>
            <a:ext cx="5852160" cy="1097280"/>
          </a:xfrm>
          <a:prstGeom prst="rect">
            <a:avLst/>
          </a:prstGeom>
          <a:noFill/>
          <a:ln/>
        </p:spPr>
        <p:txBody>
          <a:bodyPr wrap="square" lIns="0" tIns="0" rIns="0" bIns="0" rtlCol="0" anchor="t"/>
          <a:lstStyle/>
          <a:p>
            <a:pPr marL="0" indent="0" algn="l">
              <a:buNone/>
            </a:pPr>
            <a:r>
              <a:rPr lang="en-US" sz="3200" b="1" dirty="0">
                <a:solidFill>
                  <a:schemeClr val="tx2"/>
                </a:solidFill>
              </a:rPr>
              <a:t>Votre bouteille de gaz,</a:t>
            </a:r>
            <a:endParaRPr lang="en-US" sz="3200" dirty="0"/>
          </a:p>
          <a:p>
            <a:pPr marL="0" indent="0" algn="l">
              <a:buNone/>
            </a:pPr>
            <a:r>
              <a:rPr lang="en-US" sz="3200" b="1" dirty="0">
                <a:solidFill>
                  <a:schemeClr val="tx2"/>
                </a:solidFill>
              </a:rPr>
              <a:t>chap chap !</a:t>
            </a:r>
            <a:endParaRPr lang="en-US" sz="3200" dirty="0"/>
          </a:p>
        </p:txBody>
      </p:sp>
      <p:sp>
        <p:nvSpPr>
          <p:cNvPr id="16" name="Membres"/>
          <p:cNvSpPr txBox="1"/>
          <p:nvPr/>
        </p:nvSpPr>
        <p:spPr>
          <a:xfrm>
            <a:off x="157853" y="4678475"/>
            <a:ext cx="6284890" cy="1485384"/>
          </a:xfrm>
          <a:prstGeom prst="rect">
            <a:avLst/>
          </a:prstGeom>
          <a:noFill/>
          <a:ln/>
        </p:spPr>
        <p:txBody>
          <a:bodyPr wrap="square" lIns="0" tIns="0" rIns="0" bIns="0" rtlCol="0" anchor="ctr"/>
          <a:lstStyle/>
          <a:p>
            <a:pPr marL="0" indent="0" algn="ctr">
              <a:buNone/>
            </a:pPr>
            <a:r>
              <a:rPr lang="en-US" sz="1600" b="1" u="sng" kern="0" spc="200" dirty="0">
                <a:solidFill>
                  <a:schemeClr val="accent1"/>
                </a:solidFill>
              </a:rPr>
              <a:t>PRÉSENTÉ PAR</a:t>
            </a:r>
            <a:endParaRPr lang="en-US" sz="1600" u="sng" dirty="0"/>
          </a:p>
          <a:p>
            <a:endParaRPr lang="en-US" sz="1500" b="1" dirty="0">
              <a:solidFill>
                <a:schemeClr val="tx2"/>
              </a:solidFill>
            </a:endParaRPr>
          </a:p>
          <a:p>
            <a:pPr algn="ctr"/>
            <a:r>
              <a:rPr lang="en-US" sz="2000" b="1" dirty="0">
                <a:solidFill>
                  <a:schemeClr val="tx2"/>
                </a:solidFill>
              </a:rPr>
              <a:t>KONE Emmanuella  ·  KOGOULIN Nathan</a:t>
            </a:r>
          </a:p>
          <a:p>
            <a:pPr algn="ctr"/>
            <a:endParaRPr lang="en-US" sz="2000" b="1" dirty="0">
              <a:solidFill>
                <a:schemeClr val="tx2"/>
              </a:solidFill>
            </a:endParaRPr>
          </a:p>
          <a:p>
            <a:pPr algn="ctr"/>
            <a:r>
              <a:rPr lang="en-US" sz="2000" b="1" dirty="0">
                <a:solidFill>
                  <a:schemeClr val="tx2"/>
                </a:solidFill>
              </a:rPr>
              <a:t>KONARE Habib  ·  N’DA Marc</a:t>
            </a:r>
            <a:endParaRPr lang="en-US" sz="2000" dirty="0"/>
          </a:p>
        </p:txBody>
      </p:sp>
      <p:sp>
        <p:nvSpPr>
          <p:cNvPr id="17" name="Cercle décor"/>
          <p:cNvSpPr/>
          <p:nvPr/>
        </p:nvSpPr>
        <p:spPr>
          <a:xfrm>
            <a:off x="6720840" y="640080"/>
            <a:ext cx="5212080" cy="5212080"/>
          </a:xfrm>
          <a:prstGeom prst="ellipse">
            <a:avLst/>
          </a:prstGeom>
          <a:solidFill>
            <a:schemeClr val="accent6">
              <a:alpha val="38000"/>
            </a:schemeClr>
          </a:solidFill>
          <a:ln w="12700">
            <a:solidFill>
              <a:schemeClr val="accent6"/>
            </a:solidFill>
            <a:prstDash val="solid"/>
          </a:ln>
        </p:spPr>
        <p:txBody>
          <a:bodyPr/>
          <a:lstStyle/>
          <a:p>
            <a:endParaRPr/>
          </a:p>
        </p:txBody>
      </p:sp>
      <p:sp>
        <p:nvSpPr>
          <p:cNvPr id="18" name="Hero fiche — cadre"/>
          <p:cNvSpPr/>
          <p:nvPr/>
        </p:nvSpPr>
        <p:spPr>
          <a:xfrm>
            <a:off x="9326879" y="836971"/>
            <a:ext cx="2327944" cy="4936740"/>
          </a:xfrm>
          <a:prstGeom prst="roundRect">
            <a:avLst>
              <a:gd name="adj" fmla="val 7920"/>
            </a:avLst>
          </a:prstGeom>
          <a:solidFill>
            <a:srgbClr val="0B1220"/>
          </a:solidFill>
          <a:ln w="6350">
            <a:solidFill>
              <a:srgbClr val="0B1220"/>
            </a:solidFill>
            <a:prstDash val="solid"/>
          </a:ln>
          <a:effectLst>
            <a:outerShdw blurRad="254000" dist="88900" dir="5400000" algn="bl" rotWithShape="0">
              <a:srgbClr val="0B1B33">
                <a:alpha val="30000"/>
              </a:srgbClr>
            </a:outerShdw>
          </a:effectLst>
        </p:spPr>
        <p:txBody>
          <a:bodyPr/>
          <a:lstStyle/>
          <a:p>
            <a:endParaRPr/>
          </a:p>
        </p:txBody>
      </p:sp>
      <p:pic>
        <p:nvPicPr>
          <p:cNvPr id="19" name="Hero fiche 9" descr="Écran 9 de l’application YaGaz"/>
          <p:cNvPicPr>
            <a:picLocks noChangeAspect="1"/>
          </p:cNvPicPr>
          <p:nvPr/>
        </p:nvPicPr>
        <p:blipFill>
          <a:blip r:embed="rId4"/>
          <a:stretch>
            <a:fillRect/>
          </a:stretch>
        </p:blipFill>
        <p:spPr>
          <a:xfrm>
            <a:off x="9394527" y="923329"/>
            <a:ext cx="2192647" cy="4764024"/>
          </a:xfrm>
          <a:prstGeom prst="rect">
            <a:avLst/>
          </a:prstGeom>
        </p:spPr>
      </p:pic>
      <p:sp>
        <p:nvSpPr>
          <p:cNvPr id="20" name="Hero accueil — cadre"/>
          <p:cNvSpPr/>
          <p:nvPr/>
        </p:nvSpPr>
        <p:spPr>
          <a:xfrm>
            <a:off x="7052775" y="1088181"/>
            <a:ext cx="2240280" cy="4763979"/>
          </a:xfrm>
          <a:prstGeom prst="roundRect">
            <a:avLst>
              <a:gd name="adj" fmla="val 7920"/>
            </a:avLst>
          </a:prstGeom>
          <a:solidFill>
            <a:srgbClr val="0B1220"/>
          </a:solidFill>
          <a:ln w="6350">
            <a:solidFill>
              <a:srgbClr val="0B1220"/>
            </a:solidFill>
            <a:prstDash val="solid"/>
          </a:ln>
          <a:effectLst>
            <a:outerShdw blurRad="254000" dist="88900" dir="5400000" algn="bl" rotWithShape="0">
              <a:srgbClr val="0B1B33">
                <a:alpha val="30000"/>
              </a:srgbClr>
            </a:outerShdw>
          </a:effectLst>
        </p:spPr>
        <p:txBody>
          <a:bodyPr/>
          <a:lstStyle/>
          <a:p>
            <a:endParaRPr/>
          </a:p>
        </p:txBody>
      </p:sp>
      <p:pic>
        <p:nvPicPr>
          <p:cNvPr id="21" name="Hero accueil 8" descr="Écran 8 de l’application YaGaz"/>
          <p:cNvPicPr>
            <a:picLocks noChangeAspect="1"/>
          </p:cNvPicPr>
          <p:nvPr/>
        </p:nvPicPr>
        <p:blipFill>
          <a:blip r:embed="rId5"/>
          <a:stretch>
            <a:fillRect/>
          </a:stretch>
        </p:blipFill>
        <p:spPr>
          <a:xfrm>
            <a:off x="7125631" y="1133666"/>
            <a:ext cx="2133599" cy="4659279"/>
          </a:xfrm>
          <a:prstGeom prst="rect">
            <a:avLst/>
          </a:prstGeom>
        </p:spPr>
      </p:pic>
      <p:sp>
        <p:nvSpPr>
          <p:cNvPr id="22" name="Vague"/>
          <p:cNvSpPr/>
          <p:nvPr/>
        </p:nvSpPr>
        <p:spPr>
          <a:xfrm>
            <a:off x="-274320" y="-2834640"/>
            <a:ext cx="12710160" cy="2468880"/>
          </a:xfrm>
          <a:custGeom>
            <a:avLst/>
            <a:gdLst/>
            <a:ahLst/>
            <a:cxnLst/>
            <a:rect l="0" t="0" r="r" b="b"/>
            <a:pathLst>
              <a:path w="12710160" h="2468880">
                <a:moveTo>
                  <a:pt x="0" y="0"/>
                </a:moveTo>
                <a:lnTo>
                  <a:pt x="90786" y="437"/>
                </a:lnTo>
                <a:lnTo>
                  <a:pt x="181573" y="1748"/>
                </a:lnTo>
                <a:lnTo>
                  <a:pt x="272360" y="3930"/>
                </a:lnTo>
                <a:lnTo>
                  <a:pt x="363147" y="6980"/>
                </a:lnTo>
                <a:lnTo>
                  <a:pt x="453934" y="10889"/>
                </a:lnTo>
                <a:lnTo>
                  <a:pt x="544721" y="15652"/>
                </a:lnTo>
                <a:lnTo>
                  <a:pt x="635508" y="21258"/>
                </a:lnTo>
                <a:lnTo>
                  <a:pt x="726294" y="27695"/>
                </a:lnTo>
                <a:lnTo>
                  <a:pt x="817081" y="34952"/>
                </a:lnTo>
                <a:lnTo>
                  <a:pt x="907868" y="43013"/>
                </a:lnTo>
                <a:lnTo>
                  <a:pt x="998655" y="51862"/>
                </a:lnTo>
                <a:lnTo>
                  <a:pt x="1089442" y="61481"/>
                </a:lnTo>
                <a:lnTo>
                  <a:pt x="1180229" y="71851"/>
                </a:lnTo>
                <a:lnTo>
                  <a:pt x="1271016" y="82951"/>
                </a:lnTo>
                <a:lnTo>
                  <a:pt x="1361802" y="94759"/>
                </a:lnTo>
                <a:lnTo>
                  <a:pt x="1452589" y="107250"/>
                </a:lnTo>
                <a:lnTo>
                  <a:pt x="1543376" y="120401"/>
                </a:lnTo>
                <a:lnTo>
                  <a:pt x="1634163" y="134183"/>
                </a:lnTo>
                <a:lnTo>
                  <a:pt x="1724950" y="148570"/>
                </a:lnTo>
                <a:lnTo>
                  <a:pt x="1815737" y="163533"/>
                </a:lnTo>
                <a:lnTo>
                  <a:pt x="1906524" y="179041"/>
                </a:lnTo>
                <a:lnTo>
                  <a:pt x="1997310" y="195063"/>
                </a:lnTo>
                <a:lnTo>
                  <a:pt x="2088097" y="211567"/>
                </a:lnTo>
                <a:lnTo>
                  <a:pt x="2178884" y="228519"/>
                </a:lnTo>
                <a:lnTo>
                  <a:pt x="2269671" y="245886"/>
                </a:lnTo>
                <a:lnTo>
                  <a:pt x="2360458" y="263633"/>
                </a:lnTo>
                <a:lnTo>
                  <a:pt x="2451245" y="281723"/>
                </a:lnTo>
                <a:lnTo>
                  <a:pt x="2542032" y="300121"/>
                </a:lnTo>
                <a:lnTo>
                  <a:pt x="2632818" y="318789"/>
                </a:lnTo>
                <a:lnTo>
                  <a:pt x="2723605" y="337690"/>
                </a:lnTo>
                <a:lnTo>
                  <a:pt x="2814392" y="356785"/>
                </a:lnTo>
                <a:lnTo>
                  <a:pt x="2905179" y="376037"/>
                </a:lnTo>
                <a:lnTo>
                  <a:pt x="2995966" y="395406"/>
                </a:lnTo>
                <a:lnTo>
                  <a:pt x="3086753" y="414853"/>
                </a:lnTo>
                <a:lnTo>
                  <a:pt x="3177540" y="434339"/>
                </a:lnTo>
                <a:lnTo>
                  <a:pt x="3268326" y="453826"/>
                </a:lnTo>
                <a:lnTo>
                  <a:pt x="3359113" y="473273"/>
                </a:lnTo>
                <a:lnTo>
                  <a:pt x="3449900" y="492642"/>
                </a:lnTo>
                <a:lnTo>
                  <a:pt x="3540687" y="511894"/>
                </a:lnTo>
                <a:lnTo>
                  <a:pt x="3631474" y="530989"/>
                </a:lnTo>
                <a:lnTo>
                  <a:pt x="3722261" y="549890"/>
                </a:lnTo>
                <a:lnTo>
                  <a:pt x="3813048" y="568558"/>
                </a:lnTo>
                <a:lnTo>
                  <a:pt x="3903834" y="586956"/>
                </a:lnTo>
                <a:lnTo>
                  <a:pt x="3994621" y="605046"/>
                </a:lnTo>
                <a:lnTo>
                  <a:pt x="4085408" y="622793"/>
                </a:lnTo>
                <a:lnTo>
                  <a:pt x="4176195" y="640160"/>
                </a:lnTo>
                <a:lnTo>
                  <a:pt x="4266982" y="657112"/>
                </a:lnTo>
                <a:lnTo>
                  <a:pt x="4357769" y="673616"/>
                </a:lnTo>
                <a:lnTo>
                  <a:pt x="4448556" y="689638"/>
                </a:lnTo>
                <a:lnTo>
                  <a:pt x="4539342" y="705146"/>
                </a:lnTo>
                <a:lnTo>
                  <a:pt x="4630129" y="720109"/>
                </a:lnTo>
                <a:lnTo>
                  <a:pt x="4720916" y="734496"/>
                </a:lnTo>
                <a:lnTo>
                  <a:pt x="4811703" y="748278"/>
                </a:lnTo>
                <a:lnTo>
                  <a:pt x="4902490" y="761429"/>
                </a:lnTo>
                <a:lnTo>
                  <a:pt x="4993277" y="773920"/>
                </a:lnTo>
                <a:lnTo>
                  <a:pt x="5084064" y="785728"/>
                </a:lnTo>
                <a:lnTo>
                  <a:pt x="5174850" y="796828"/>
                </a:lnTo>
                <a:lnTo>
                  <a:pt x="5265637" y="807198"/>
                </a:lnTo>
                <a:lnTo>
                  <a:pt x="5356424" y="816817"/>
                </a:lnTo>
                <a:lnTo>
                  <a:pt x="5447211" y="825666"/>
                </a:lnTo>
                <a:lnTo>
                  <a:pt x="5537998" y="833727"/>
                </a:lnTo>
                <a:lnTo>
                  <a:pt x="5628785" y="840984"/>
                </a:lnTo>
                <a:lnTo>
                  <a:pt x="5719572" y="847421"/>
                </a:lnTo>
                <a:lnTo>
                  <a:pt x="5810358" y="853027"/>
                </a:lnTo>
                <a:lnTo>
                  <a:pt x="5901145" y="857790"/>
                </a:lnTo>
                <a:lnTo>
                  <a:pt x="5991932" y="861699"/>
                </a:lnTo>
                <a:lnTo>
                  <a:pt x="6082719" y="864749"/>
                </a:lnTo>
                <a:lnTo>
                  <a:pt x="6173506" y="866931"/>
                </a:lnTo>
                <a:lnTo>
                  <a:pt x="6264293" y="868242"/>
                </a:lnTo>
                <a:lnTo>
                  <a:pt x="6355080" y="868680"/>
                </a:lnTo>
                <a:lnTo>
                  <a:pt x="6445866" y="868242"/>
                </a:lnTo>
                <a:lnTo>
                  <a:pt x="6536653" y="866931"/>
                </a:lnTo>
                <a:lnTo>
                  <a:pt x="6627440" y="864749"/>
                </a:lnTo>
                <a:lnTo>
                  <a:pt x="6718227" y="861699"/>
                </a:lnTo>
                <a:lnTo>
                  <a:pt x="6809014" y="857790"/>
                </a:lnTo>
                <a:lnTo>
                  <a:pt x="6899801" y="853027"/>
                </a:lnTo>
                <a:lnTo>
                  <a:pt x="6990588" y="847421"/>
                </a:lnTo>
                <a:lnTo>
                  <a:pt x="7081374" y="840984"/>
                </a:lnTo>
                <a:lnTo>
                  <a:pt x="7172161" y="833727"/>
                </a:lnTo>
                <a:lnTo>
                  <a:pt x="7262948" y="825666"/>
                </a:lnTo>
                <a:lnTo>
                  <a:pt x="7353735" y="816817"/>
                </a:lnTo>
                <a:lnTo>
                  <a:pt x="7444522" y="807198"/>
                </a:lnTo>
                <a:lnTo>
                  <a:pt x="7535309" y="796828"/>
                </a:lnTo>
                <a:lnTo>
                  <a:pt x="7626096" y="785728"/>
                </a:lnTo>
                <a:lnTo>
                  <a:pt x="7716882" y="773920"/>
                </a:lnTo>
                <a:lnTo>
                  <a:pt x="7807669" y="761429"/>
                </a:lnTo>
                <a:lnTo>
                  <a:pt x="7898456" y="748278"/>
                </a:lnTo>
                <a:lnTo>
                  <a:pt x="7989243" y="734496"/>
                </a:lnTo>
                <a:lnTo>
                  <a:pt x="8080030" y="720109"/>
                </a:lnTo>
                <a:lnTo>
                  <a:pt x="8170817" y="705146"/>
                </a:lnTo>
                <a:lnTo>
                  <a:pt x="8261604" y="689638"/>
                </a:lnTo>
                <a:lnTo>
                  <a:pt x="8352390" y="673616"/>
                </a:lnTo>
                <a:lnTo>
                  <a:pt x="8443177" y="657112"/>
                </a:lnTo>
                <a:lnTo>
                  <a:pt x="8533964" y="640160"/>
                </a:lnTo>
                <a:lnTo>
                  <a:pt x="8624751" y="622793"/>
                </a:lnTo>
                <a:lnTo>
                  <a:pt x="8715538" y="605046"/>
                </a:lnTo>
                <a:lnTo>
                  <a:pt x="8806325" y="586956"/>
                </a:lnTo>
                <a:lnTo>
                  <a:pt x="8897112" y="568558"/>
                </a:lnTo>
                <a:lnTo>
                  <a:pt x="8987898" y="549890"/>
                </a:lnTo>
                <a:lnTo>
                  <a:pt x="9078685" y="530989"/>
                </a:lnTo>
                <a:lnTo>
                  <a:pt x="9169472" y="511894"/>
                </a:lnTo>
                <a:lnTo>
                  <a:pt x="9260259" y="492642"/>
                </a:lnTo>
                <a:lnTo>
                  <a:pt x="9351046" y="473273"/>
                </a:lnTo>
                <a:lnTo>
                  <a:pt x="9441833" y="453826"/>
                </a:lnTo>
                <a:lnTo>
                  <a:pt x="9532620" y="434340"/>
                </a:lnTo>
                <a:lnTo>
                  <a:pt x="9623406" y="414853"/>
                </a:lnTo>
                <a:lnTo>
                  <a:pt x="9714193" y="395406"/>
                </a:lnTo>
                <a:lnTo>
                  <a:pt x="9804980" y="376037"/>
                </a:lnTo>
                <a:lnTo>
                  <a:pt x="9895767" y="356785"/>
                </a:lnTo>
                <a:lnTo>
                  <a:pt x="9986554" y="337690"/>
                </a:lnTo>
                <a:lnTo>
                  <a:pt x="10077341" y="318789"/>
                </a:lnTo>
                <a:lnTo>
                  <a:pt x="10168128" y="300121"/>
                </a:lnTo>
                <a:lnTo>
                  <a:pt x="10258914" y="281723"/>
                </a:lnTo>
                <a:lnTo>
                  <a:pt x="10349701" y="263633"/>
                </a:lnTo>
                <a:lnTo>
                  <a:pt x="10440488" y="245886"/>
                </a:lnTo>
                <a:lnTo>
                  <a:pt x="10531275" y="228519"/>
                </a:lnTo>
                <a:lnTo>
                  <a:pt x="10622062" y="211567"/>
                </a:lnTo>
                <a:lnTo>
                  <a:pt x="10712849" y="195063"/>
                </a:lnTo>
                <a:lnTo>
                  <a:pt x="10803636" y="179041"/>
                </a:lnTo>
                <a:lnTo>
                  <a:pt x="10894422" y="163533"/>
                </a:lnTo>
                <a:lnTo>
                  <a:pt x="10985209" y="148570"/>
                </a:lnTo>
                <a:lnTo>
                  <a:pt x="11075996" y="134183"/>
                </a:lnTo>
                <a:lnTo>
                  <a:pt x="11166783" y="120401"/>
                </a:lnTo>
                <a:lnTo>
                  <a:pt x="11257570" y="107250"/>
                </a:lnTo>
                <a:lnTo>
                  <a:pt x="11348357" y="94759"/>
                </a:lnTo>
                <a:lnTo>
                  <a:pt x="11439144" y="82951"/>
                </a:lnTo>
                <a:lnTo>
                  <a:pt x="11529930" y="71851"/>
                </a:lnTo>
                <a:lnTo>
                  <a:pt x="11620717" y="61481"/>
                </a:lnTo>
                <a:lnTo>
                  <a:pt x="11711504" y="51862"/>
                </a:lnTo>
                <a:lnTo>
                  <a:pt x="11802291" y="43013"/>
                </a:lnTo>
                <a:lnTo>
                  <a:pt x="11893078" y="34952"/>
                </a:lnTo>
                <a:lnTo>
                  <a:pt x="11983865" y="27695"/>
                </a:lnTo>
                <a:lnTo>
                  <a:pt x="12074652" y="21258"/>
                </a:lnTo>
                <a:lnTo>
                  <a:pt x="12165438" y="15652"/>
                </a:lnTo>
                <a:lnTo>
                  <a:pt x="12256225" y="10889"/>
                </a:lnTo>
                <a:lnTo>
                  <a:pt x="12347012" y="6980"/>
                </a:lnTo>
                <a:lnTo>
                  <a:pt x="12437799" y="3930"/>
                </a:lnTo>
                <a:lnTo>
                  <a:pt x="12528586" y="1748"/>
                </a:lnTo>
                <a:lnTo>
                  <a:pt x="12619373" y="437"/>
                </a:lnTo>
                <a:lnTo>
                  <a:pt x="12710160" y="0"/>
                </a:lnTo>
                <a:lnTo>
                  <a:pt x="12710160" y="1600200"/>
                </a:lnTo>
                <a:lnTo>
                  <a:pt x="12619373" y="1600637"/>
                </a:lnTo>
                <a:lnTo>
                  <a:pt x="12528586" y="1601948"/>
                </a:lnTo>
                <a:lnTo>
                  <a:pt x="12437799" y="1604130"/>
                </a:lnTo>
                <a:lnTo>
                  <a:pt x="12347012" y="1607180"/>
                </a:lnTo>
                <a:lnTo>
                  <a:pt x="12256225" y="1611089"/>
                </a:lnTo>
                <a:lnTo>
                  <a:pt x="12165438" y="1615852"/>
                </a:lnTo>
                <a:lnTo>
                  <a:pt x="12074652" y="1621458"/>
                </a:lnTo>
                <a:lnTo>
                  <a:pt x="11983865" y="1627895"/>
                </a:lnTo>
                <a:lnTo>
                  <a:pt x="11893078" y="1635152"/>
                </a:lnTo>
                <a:lnTo>
                  <a:pt x="11802291" y="1643213"/>
                </a:lnTo>
                <a:lnTo>
                  <a:pt x="11711504" y="1652062"/>
                </a:lnTo>
                <a:lnTo>
                  <a:pt x="11620717" y="1661681"/>
                </a:lnTo>
                <a:lnTo>
                  <a:pt x="11529930" y="1672051"/>
                </a:lnTo>
                <a:lnTo>
                  <a:pt x="11439144" y="1683151"/>
                </a:lnTo>
                <a:lnTo>
                  <a:pt x="11348357" y="1694959"/>
                </a:lnTo>
                <a:lnTo>
                  <a:pt x="11257570" y="1707450"/>
                </a:lnTo>
                <a:lnTo>
                  <a:pt x="11166783" y="1720601"/>
                </a:lnTo>
                <a:lnTo>
                  <a:pt x="11075996" y="1734383"/>
                </a:lnTo>
                <a:lnTo>
                  <a:pt x="10985209" y="1748770"/>
                </a:lnTo>
                <a:lnTo>
                  <a:pt x="10894422" y="1763733"/>
                </a:lnTo>
                <a:lnTo>
                  <a:pt x="10803636" y="1779241"/>
                </a:lnTo>
                <a:lnTo>
                  <a:pt x="10712849" y="1795263"/>
                </a:lnTo>
                <a:lnTo>
                  <a:pt x="10622062" y="1811767"/>
                </a:lnTo>
                <a:lnTo>
                  <a:pt x="10531275" y="1828719"/>
                </a:lnTo>
                <a:lnTo>
                  <a:pt x="10440488" y="1846086"/>
                </a:lnTo>
                <a:lnTo>
                  <a:pt x="10349701" y="1863833"/>
                </a:lnTo>
                <a:lnTo>
                  <a:pt x="10258914" y="1881923"/>
                </a:lnTo>
                <a:lnTo>
                  <a:pt x="10168128" y="1900321"/>
                </a:lnTo>
                <a:lnTo>
                  <a:pt x="10077341" y="1918989"/>
                </a:lnTo>
                <a:lnTo>
                  <a:pt x="9986554" y="1937890"/>
                </a:lnTo>
                <a:lnTo>
                  <a:pt x="9895767" y="1956985"/>
                </a:lnTo>
                <a:lnTo>
                  <a:pt x="9804980" y="1976237"/>
                </a:lnTo>
                <a:lnTo>
                  <a:pt x="9714193" y="1995606"/>
                </a:lnTo>
                <a:lnTo>
                  <a:pt x="9623406" y="2015053"/>
                </a:lnTo>
                <a:lnTo>
                  <a:pt x="9532620" y="2034540"/>
                </a:lnTo>
                <a:lnTo>
                  <a:pt x="9441833" y="2054026"/>
                </a:lnTo>
                <a:lnTo>
                  <a:pt x="9351046" y="2073473"/>
                </a:lnTo>
                <a:lnTo>
                  <a:pt x="9260259" y="2092842"/>
                </a:lnTo>
                <a:lnTo>
                  <a:pt x="9169472" y="2112094"/>
                </a:lnTo>
                <a:lnTo>
                  <a:pt x="9078685" y="2131189"/>
                </a:lnTo>
                <a:lnTo>
                  <a:pt x="8987898" y="2150090"/>
                </a:lnTo>
                <a:lnTo>
                  <a:pt x="8897112" y="2168758"/>
                </a:lnTo>
                <a:lnTo>
                  <a:pt x="8806325" y="2187156"/>
                </a:lnTo>
                <a:lnTo>
                  <a:pt x="8715538" y="2205246"/>
                </a:lnTo>
                <a:lnTo>
                  <a:pt x="8624751" y="2222993"/>
                </a:lnTo>
                <a:lnTo>
                  <a:pt x="8533964" y="2240360"/>
                </a:lnTo>
                <a:lnTo>
                  <a:pt x="8443177" y="2257312"/>
                </a:lnTo>
                <a:lnTo>
                  <a:pt x="8352390" y="2273816"/>
                </a:lnTo>
                <a:lnTo>
                  <a:pt x="8261604" y="2289838"/>
                </a:lnTo>
                <a:lnTo>
                  <a:pt x="8170817" y="2305346"/>
                </a:lnTo>
                <a:lnTo>
                  <a:pt x="8080030" y="2320309"/>
                </a:lnTo>
                <a:lnTo>
                  <a:pt x="7989243" y="2334696"/>
                </a:lnTo>
                <a:lnTo>
                  <a:pt x="7898456" y="2348478"/>
                </a:lnTo>
                <a:lnTo>
                  <a:pt x="7807669" y="2361629"/>
                </a:lnTo>
                <a:lnTo>
                  <a:pt x="7716882" y="2374120"/>
                </a:lnTo>
                <a:lnTo>
                  <a:pt x="7626096" y="2385928"/>
                </a:lnTo>
                <a:lnTo>
                  <a:pt x="7535309" y="2397028"/>
                </a:lnTo>
                <a:lnTo>
                  <a:pt x="7444522" y="2407398"/>
                </a:lnTo>
                <a:lnTo>
                  <a:pt x="7353735" y="2417017"/>
                </a:lnTo>
                <a:lnTo>
                  <a:pt x="7262948" y="2425866"/>
                </a:lnTo>
                <a:lnTo>
                  <a:pt x="7172161" y="2433927"/>
                </a:lnTo>
                <a:lnTo>
                  <a:pt x="7081374" y="2441184"/>
                </a:lnTo>
                <a:lnTo>
                  <a:pt x="6990588" y="2447621"/>
                </a:lnTo>
                <a:lnTo>
                  <a:pt x="6899801" y="2453227"/>
                </a:lnTo>
                <a:lnTo>
                  <a:pt x="6809014" y="2457990"/>
                </a:lnTo>
                <a:lnTo>
                  <a:pt x="6718227" y="2461899"/>
                </a:lnTo>
                <a:lnTo>
                  <a:pt x="6627440" y="2464949"/>
                </a:lnTo>
                <a:lnTo>
                  <a:pt x="6536653" y="2467131"/>
                </a:lnTo>
                <a:lnTo>
                  <a:pt x="6445866" y="2468442"/>
                </a:lnTo>
                <a:lnTo>
                  <a:pt x="6355080" y="2468880"/>
                </a:lnTo>
                <a:lnTo>
                  <a:pt x="6264293" y="2468442"/>
                </a:lnTo>
                <a:lnTo>
                  <a:pt x="6173506" y="2467131"/>
                </a:lnTo>
                <a:lnTo>
                  <a:pt x="6082719" y="2464949"/>
                </a:lnTo>
                <a:lnTo>
                  <a:pt x="5991932" y="2461899"/>
                </a:lnTo>
                <a:lnTo>
                  <a:pt x="5901145" y="2457990"/>
                </a:lnTo>
                <a:lnTo>
                  <a:pt x="5810358" y="2453227"/>
                </a:lnTo>
                <a:lnTo>
                  <a:pt x="5719572" y="2447621"/>
                </a:lnTo>
                <a:lnTo>
                  <a:pt x="5628785" y="2441184"/>
                </a:lnTo>
                <a:lnTo>
                  <a:pt x="5537998" y="2433927"/>
                </a:lnTo>
                <a:lnTo>
                  <a:pt x="5447211" y="2425866"/>
                </a:lnTo>
                <a:lnTo>
                  <a:pt x="5356424" y="2417017"/>
                </a:lnTo>
                <a:lnTo>
                  <a:pt x="5265637" y="2407398"/>
                </a:lnTo>
                <a:lnTo>
                  <a:pt x="5174850" y="2397028"/>
                </a:lnTo>
                <a:lnTo>
                  <a:pt x="5084064" y="2385928"/>
                </a:lnTo>
                <a:lnTo>
                  <a:pt x="4993277" y="2374120"/>
                </a:lnTo>
                <a:lnTo>
                  <a:pt x="4902490" y="2361629"/>
                </a:lnTo>
                <a:lnTo>
                  <a:pt x="4811703" y="2348478"/>
                </a:lnTo>
                <a:lnTo>
                  <a:pt x="4720916" y="2334696"/>
                </a:lnTo>
                <a:lnTo>
                  <a:pt x="4630129" y="2320309"/>
                </a:lnTo>
                <a:lnTo>
                  <a:pt x="4539342" y="2305346"/>
                </a:lnTo>
                <a:lnTo>
                  <a:pt x="4448556" y="2289838"/>
                </a:lnTo>
                <a:lnTo>
                  <a:pt x="4357769" y="2273816"/>
                </a:lnTo>
                <a:lnTo>
                  <a:pt x="4266982" y="2257312"/>
                </a:lnTo>
                <a:lnTo>
                  <a:pt x="4176195" y="2240360"/>
                </a:lnTo>
                <a:lnTo>
                  <a:pt x="4085408" y="2222993"/>
                </a:lnTo>
                <a:lnTo>
                  <a:pt x="3994621" y="2205246"/>
                </a:lnTo>
                <a:lnTo>
                  <a:pt x="3903834" y="2187156"/>
                </a:lnTo>
                <a:lnTo>
                  <a:pt x="3813048" y="2168758"/>
                </a:lnTo>
                <a:lnTo>
                  <a:pt x="3722261" y="2150090"/>
                </a:lnTo>
                <a:lnTo>
                  <a:pt x="3631474" y="2131189"/>
                </a:lnTo>
                <a:lnTo>
                  <a:pt x="3540687" y="2112094"/>
                </a:lnTo>
                <a:lnTo>
                  <a:pt x="3449900" y="2092842"/>
                </a:lnTo>
                <a:lnTo>
                  <a:pt x="3359113" y="2073473"/>
                </a:lnTo>
                <a:lnTo>
                  <a:pt x="3268326" y="2054026"/>
                </a:lnTo>
                <a:lnTo>
                  <a:pt x="3177540" y="2034539"/>
                </a:lnTo>
                <a:lnTo>
                  <a:pt x="3086753" y="2015053"/>
                </a:lnTo>
                <a:lnTo>
                  <a:pt x="2995966" y="1995606"/>
                </a:lnTo>
                <a:lnTo>
                  <a:pt x="2905179" y="1976237"/>
                </a:lnTo>
                <a:lnTo>
                  <a:pt x="2814392" y="1956985"/>
                </a:lnTo>
                <a:lnTo>
                  <a:pt x="2723605" y="1937890"/>
                </a:lnTo>
                <a:lnTo>
                  <a:pt x="2632818" y="1918989"/>
                </a:lnTo>
                <a:lnTo>
                  <a:pt x="2542032" y="1900321"/>
                </a:lnTo>
                <a:lnTo>
                  <a:pt x="2451245" y="1881923"/>
                </a:lnTo>
                <a:lnTo>
                  <a:pt x="2360458" y="1863833"/>
                </a:lnTo>
                <a:lnTo>
                  <a:pt x="2269671" y="1846086"/>
                </a:lnTo>
                <a:lnTo>
                  <a:pt x="2178884" y="1828719"/>
                </a:lnTo>
                <a:lnTo>
                  <a:pt x="2088097" y="1811767"/>
                </a:lnTo>
                <a:lnTo>
                  <a:pt x="1997310" y="1795263"/>
                </a:lnTo>
                <a:lnTo>
                  <a:pt x="1906524" y="1779241"/>
                </a:lnTo>
                <a:lnTo>
                  <a:pt x="1815737" y="1763733"/>
                </a:lnTo>
                <a:lnTo>
                  <a:pt x="1724950" y="1748770"/>
                </a:lnTo>
                <a:lnTo>
                  <a:pt x="1634163" y="1734383"/>
                </a:lnTo>
                <a:lnTo>
                  <a:pt x="1543376" y="1720601"/>
                </a:lnTo>
                <a:lnTo>
                  <a:pt x="1452589" y="1707450"/>
                </a:lnTo>
                <a:lnTo>
                  <a:pt x="1361802" y="1694959"/>
                </a:lnTo>
                <a:lnTo>
                  <a:pt x="1271016" y="1683151"/>
                </a:lnTo>
                <a:lnTo>
                  <a:pt x="1180229" y="1672051"/>
                </a:lnTo>
                <a:lnTo>
                  <a:pt x="1089442" y="1661681"/>
                </a:lnTo>
                <a:lnTo>
                  <a:pt x="998655" y="1652062"/>
                </a:lnTo>
                <a:lnTo>
                  <a:pt x="907868" y="1643213"/>
                </a:lnTo>
                <a:lnTo>
                  <a:pt x="817081" y="1635152"/>
                </a:lnTo>
                <a:lnTo>
                  <a:pt x="726294" y="1627895"/>
                </a:lnTo>
                <a:lnTo>
                  <a:pt x="635508" y="1621458"/>
                </a:lnTo>
                <a:lnTo>
                  <a:pt x="544721" y="1615852"/>
                </a:lnTo>
                <a:lnTo>
                  <a:pt x="453934" y="1611089"/>
                </a:lnTo>
                <a:lnTo>
                  <a:pt x="363147" y="1607180"/>
                </a:lnTo>
                <a:lnTo>
                  <a:pt x="272360" y="1604130"/>
                </a:lnTo>
                <a:lnTo>
                  <a:pt x="181573" y="1601948"/>
                </a:lnTo>
                <a:lnTo>
                  <a:pt x="90786" y="1600637"/>
                </a:lnTo>
                <a:lnTo>
                  <a:pt x="0" y="1600200"/>
                </a:lnTo>
                <a:close/>
              </a:path>
            </a:pathLst>
          </a:custGeom>
          <a:solidFill>
            <a:srgbClr val="FDFEFF"/>
          </a:solidFill>
          <a:ln>
            <a:noFill/>
          </a:ln>
          <a:effectLst>
            <a:outerShdw blurRad="101600" dist="63500" dir="18900000" algn="ctr" rotWithShape="0">
              <a:srgbClr val="0B1B33">
                <a:alpha val="38000"/>
              </a:srgbClr>
            </a:outerShdw>
          </a:effectLst>
        </p:spPr>
        <p:txBody>
          <a:bodyPr/>
          <a:lstStyle/>
          <a:p>
            <a:endParaRPr lang="fr-FR"/>
          </a:p>
        </p:txBody>
      </p:sp>
      <p:pic>
        <p:nvPicPr>
          <p:cNvPr id="24" name="Image 23">
            <a:extLst>
              <a:ext uri="{FF2B5EF4-FFF2-40B4-BE49-F238E27FC236}">
                <a16:creationId xmlns:a16="http://schemas.microsoft.com/office/drawing/2014/main" id="{9433FCD6-299C-3347-1D9F-4551111A6B78}"/>
              </a:ext>
            </a:extLst>
          </p:cNvPr>
          <p:cNvPicPr>
            <a:picLocks noChangeAspect="1"/>
          </p:cNvPicPr>
          <p:nvPr/>
        </p:nvPicPr>
        <p:blipFill>
          <a:blip r:embed="rId6"/>
          <a:stretch>
            <a:fillRect/>
          </a:stretch>
        </p:blipFill>
        <p:spPr>
          <a:xfrm>
            <a:off x="182881" y="105451"/>
            <a:ext cx="2039619" cy="681440"/>
          </a:xfrm>
          <a:prstGeom prst="rect">
            <a:avLst/>
          </a:prstGeom>
        </p:spPr>
      </p:pic>
      <p:sp>
        <p:nvSpPr>
          <p:cNvPr id="28" name="Pastille LOCALISATION"/>
          <p:cNvSpPr txBox="1"/>
          <p:nvPr/>
        </p:nvSpPr>
        <p:spPr>
          <a:xfrm>
            <a:off x="6991383" y="5989006"/>
            <a:ext cx="160020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rPr>
              <a:t>LOCALISATION</a:t>
            </a:r>
            <a:endParaRPr lang="en-US" sz="1100" dirty="0"/>
          </a:p>
        </p:txBody>
      </p:sp>
      <p:sp>
        <p:nvSpPr>
          <p:cNvPr id="29" name="Pastille STOCK &amp;amp; PRIX"/>
          <p:cNvSpPr txBox="1"/>
          <p:nvPr/>
        </p:nvSpPr>
        <p:spPr>
          <a:xfrm>
            <a:off x="8692810" y="5989006"/>
            <a:ext cx="160020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rPr>
              <a:t>STOCK &amp; PRIX</a:t>
            </a:r>
            <a:endParaRPr lang="en-US" sz="1100" dirty="0"/>
          </a:p>
        </p:txBody>
      </p:sp>
      <p:sp>
        <p:nvSpPr>
          <p:cNvPr id="30" name="Pastille CONTACT"/>
          <p:cNvSpPr txBox="1"/>
          <p:nvPr/>
        </p:nvSpPr>
        <p:spPr>
          <a:xfrm>
            <a:off x="10490850" y="5989006"/>
            <a:ext cx="13258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rPr>
              <a:t>CONTACT</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30000" decel="70000" fill="hold" nodeType="afterEffect">
                                  <p:stCondLst>
                                    <p:cond delay="250"/>
                                  </p:stCondLst>
                                  <p:childTnLst>
                                    <p:animMotion origin="layout" path="M 0 0 L 0 1.45 E" pathEditMode="relative" rAng="0" ptsTypes="AA">
                                      <p:cBhvr>
                                        <p:cTn id="6" dur="2600" fill="hold"/>
                                        <p:tgtEl>
                                          <p:spTgt spid="22"/>
                                        </p:tgtEl>
                                        <p:attrNameLst>
                                          <p:attrName>ppt_x</p:attrName>
                                          <p:attrName>ppt_y</p:attrName>
                                        </p:attrNameLst>
                                      </p:cBhvr>
                                      <p:rCtr x="0" y="72500"/>
                                    </p:animMotion>
                                  </p:childTnLst>
                                </p:cTn>
                              </p:par>
                              <p:par>
                                <p:cTn id="7" presetID="10" presetClass="entr" presetSubtype="0" fill="hold" nodeType="withEffect">
                                  <p:stCondLst>
                                    <p:cond delay="526"/>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650"/>
                                        <p:tgtEl>
                                          <p:spTgt spid="3"/>
                                        </p:tgtEl>
                                      </p:cBhvr>
                                    </p:animEffect>
                                  </p:childTnLst>
                                </p:cTn>
                              </p:par>
                              <p:par>
                                <p:cTn id="10" presetID="10" presetClass="entr" presetSubtype="0" fill="hold" nodeType="withEffect">
                                  <p:stCondLst>
                                    <p:cond delay="526"/>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50"/>
                                        <p:tgtEl>
                                          <p:spTgt spid="4"/>
                                        </p:tgtEl>
                                      </p:cBhvr>
                                    </p:animEffect>
                                  </p:childTnLst>
                                </p:cTn>
                              </p:par>
                              <p:par>
                                <p:cTn id="13" presetID="10" presetClass="entr" presetSubtype="0" fill="hold" nodeType="withEffect">
                                  <p:stCondLst>
                                    <p:cond delay="1102"/>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50"/>
                                        <p:tgtEl>
                                          <p:spTgt spid="6"/>
                                        </p:tgtEl>
                                      </p:cBhvr>
                                    </p:animEffect>
                                  </p:childTnLst>
                                </p:cTn>
                              </p:par>
                              <p:par>
                                <p:cTn id="16" presetID="10" presetClass="entr" presetSubtype="0" fill="hold" nodeType="withEffect">
                                  <p:stCondLst>
                                    <p:cond delay="1428"/>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50"/>
                                        <p:tgtEl>
                                          <p:spTgt spid="7"/>
                                        </p:tgtEl>
                                      </p:cBhvr>
                                    </p:animEffect>
                                  </p:childTnLst>
                                </p:cTn>
                              </p:par>
                              <p:par>
                                <p:cTn id="19" presetID="10" presetClass="entr" presetSubtype="0" fill="hold" nodeType="withEffect">
                                  <p:stCondLst>
                                    <p:cond delay="1847"/>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650"/>
                                        <p:tgtEl>
                                          <p:spTgt spid="18"/>
                                        </p:tgtEl>
                                      </p:cBhvr>
                                    </p:animEffect>
                                  </p:childTnLst>
                                </p:cTn>
                              </p:par>
                              <p:par>
                                <p:cTn id="22" presetID="10" presetClass="entr" presetSubtype="0" fill="hold" nodeType="withEffect">
                                  <p:stCondLst>
                                    <p:cond delay="1847"/>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50"/>
                                        <p:tgtEl>
                                          <p:spTgt spid="19"/>
                                        </p:tgtEl>
                                      </p:cBhvr>
                                    </p:animEffect>
                                  </p:childTnLst>
                                </p:cTn>
                              </p:par>
                              <p:par>
                                <p:cTn id="25" presetID="10" presetClass="entr" presetSubtype="0" fill="hold" nodeType="withEffect">
                                  <p:stCondLst>
                                    <p:cond delay="1978"/>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650"/>
                                        <p:tgtEl>
                                          <p:spTgt spid="20"/>
                                        </p:tgtEl>
                                      </p:cBhvr>
                                    </p:animEffect>
                                  </p:childTnLst>
                                </p:cTn>
                              </p:par>
                              <p:par>
                                <p:cTn id="28" presetID="10" presetClass="entr" presetSubtype="0" fill="hold" nodeType="withEffect">
                                  <p:stCondLst>
                                    <p:cond delay="1978"/>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650"/>
                                        <p:tgtEl>
                                          <p:spTgt spid="21"/>
                                        </p:tgtEl>
                                      </p:cBhvr>
                                    </p:animEffect>
                                  </p:childTnLst>
                                </p:cTn>
                              </p:par>
                              <p:par>
                                <p:cTn id="31" presetID="10" presetClass="entr" presetSubtype="0" fill="hold" nodeType="withEffect">
                                  <p:stCondLst>
                                    <p:cond delay="1964"/>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650"/>
                                        <p:tgtEl>
                                          <p:spTgt spid="16"/>
                                        </p:tgtEl>
                                      </p:cBhvr>
                                    </p:animEffect>
                                  </p:childTnLst>
                                </p:cTn>
                              </p:par>
                              <p:par>
                                <p:cTn id="34" presetID="10" presetClass="entr" presetSubtype="0" fill="hold" nodeType="withEffect">
                                  <p:stCondLst>
                                    <p:cond delay="1764"/>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650"/>
                                        <p:tgtEl>
                                          <p:spTgt spid="28"/>
                                        </p:tgtEl>
                                      </p:cBhvr>
                                    </p:animEffect>
                                  </p:childTnLst>
                                </p:cTn>
                              </p:par>
                              <p:par>
                                <p:cTn id="37" presetID="10" presetClass="entr" presetSubtype="0" fill="hold" nodeType="withEffect">
                                  <p:stCondLst>
                                    <p:cond delay="1764"/>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650"/>
                                        <p:tgtEl>
                                          <p:spTgt spid="29"/>
                                        </p:tgtEl>
                                      </p:cBhvr>
                                    </p:animEffect>
                                  </p:childTnLst>
                                </p:cTn>
                              </p:par>
                              <p:par>
                                <p:cTn id="40" presetID="10" presetClass="entr" presetSubtype="0" fill="hold" nodeType="withEffect">
                                  <p:stCondLst>
                                    <p:cond delay="1764"/>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650"/>
                                        <p:tgtEl>
                                          <p:spTgt spid="30"/>
                                        </p:tgtEl>
                                      </p:cBhvr>
                                    </p:animEffect>
                                  </p:childTnLst>
                                </p:cTn>
                              </p:par>
                              <p:par>
                                <p:cTn id="43" presetID="10" presetClass="entr" presetSubtype="0" fill="hold" nodeType="withEffect">
                                  <p:stCondLst>
                                    <p:cond delay="1764"/>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650"/>
                                        <p:tgtEl>
                                          <p:spTgt spid="31"/>
                                        </p:tgtEl>
                                      </p:cBhvr>
                                    </p:animEffect>
                                  </p:childTnLst>
                                </p:cTn>
                              </p:par>
                              <p:par>
                                <p:cTn id="46" presetID="10" presetClass="entr" presetSubtype="0" fill="hold" nodeType="withEffect">
                                  <p:stCondLst>
                                    <p:cond delay="1764"/>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650"/>
                                        <p:tgtEl>
                                          <p:spTgt spid="32"/>
                                        </p:tgtEl>
                                      </p:cBhvr>
                                    </p:animEffect>
                                  </p:childTnLst>
                                </p:cTn>
                              </p:par>
                              <p:par>
                                <p:cTn id="49" presetID="10" presetClass="entr" presetSubtype="0" fill="hold" nodeType="withEffect">
                                  <p:stCondLst>
                                    <p:cond delay="1764"/>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6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lIns="0" tIns="0" rIns="0" bIns="0"/>
          <a:lstStyle/>
          <a:p>
            <a:r>
              <a:rPr dirty="0"/>
              <a:t>Plan de la </a:t>
            </a:r>
            <a:r>
              <a:rPr dirty="0" err="1"/>
              <a:t>présentation</a:t>
            </a:r>
            <a:endParaRPr dirty="0"/>
          </a:p>
        </p:txBody>
      </p:sp>
      <p:sp>
        <p:nvSpPr>
          <p:cNvPr id="3" name="Surtitre"/>
          <p:cNvSpPr txBox="1"/>
          <p:nvPr/>
        </p:nvSpPr>
        <p:spPr>
          <a:xfrm>
            <a:off x="640080" y="384048"/>
            <a:ext cx="7315200" cy="184666"/>
          </a:xfrm>
          <a:prstGeom prst="rect">
            <a:avLst/>
          </a:prstGeom>
          <a:noFill/>
        </p:spPr>
        <p:txBody>
          <a:bodyPr wrap="square" lIns="0" tIns="0" rIns="0" bIns="0">
            <a:spAutoFit/>
          </a:bodyPr>
          <a:lstStyle/>
          <a:p>
            <a:r>
              <a:rPr sz="1200" b="1" spc="300" dirty="0">
                <a:solidFill>
                  <a:srgbClr val="2770A4"/>
                </a:solidFill>
              </a:rPr>
              <a:t>PLAN</a:t>
            </a:r>
          </a:p>
        </p:txBody>
      </p:sp>
      <p:sp>
        <p:nvSpPr>
          <p:cNvPr id="4" name="Sous-titre"/>
          <p:cNvSpPr txBox="1"/>
          <p:nvPr/>
        </p:nvSpPr>
        <p:spPr>
          <a:xfrm>
            <a:off x="640080" y="1463040"/>
            <a:ext cx="10424160" cy="365760"/>
          </a:xfrm>
          <a:prstGeom prst="rect">
            <a:avLst/>
          </a:prstGeom>
          <a:noFill/>
        </p:spPr>
        <p:txBody>
          <a:bodyPr wrap="square" lIns="0" tIns="0" rIns="0" bIns="0">
            <a:spAutoFit/>
          </a:bodyPr>
          <a:lstStyle/>
          <a:p>
            <a:r>
              <a:rPr sz="1600" b="0">
                <a:solidFill>
                  <a:srgbClr val="5B6794"/>
                </a:solidFill>
              </a:rPr>
              <a:t>Trois parties pour suivre la démarche du projet, du problème à la démonstration.</a:t>
            </a:r>
          </a:p>
        </p:txBody>
      </p:sp>
      <p:sp>
        <p:nvSpPr>
          <p:cNvPr id="5" name="Carte partie 1"/>
          <p:cNvSpPr/>
          <p:nvPr/>
        </p:nvSpPr>
        <p:spPr>
          <a:xfrm>
            <a:off x="640080" y="2103120"/>
            <a:ext cx="3474720" cy="4114800"/>
          </a:xfrm>
          <a:prstGeom prst="roundRect">
            <a:avLst>
              <a:gd name="adj" fmla="val 5263"/>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astille partie 1"/>
          <p:cNvSpPr/>
          <p:nvPr/>
        </p:nvSpPr>
        <p:spPr>
          <a:xfrm>
            <a:off x="960119" y="2395728"/>
            <a:ext cx="640080" cy="640080"/>
          </a:xfrm>
          <a:prstGeom prst="ellipse">
            <a:avLst/>
          </a:prstGeom>
          <a:solidFill>
            <a:srgbClr val="277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Numéro partie 1"/>
          <p:cNvSpPr txBox="1"/>
          <p:nvPr/>
        </p:nvSpPr>
        <p:spPr>
          <a:xfrm>
            <a:off x="960119" y="2395728"/>
            <a:ext cx="640080" cy="640080"/>
          </a:xfrm>
          <a:prstGeom prst="rect">
            <a:avLst/>
          </a:prstGeom>
          <a:noFill/>
        </p:spPr>
        <p:txBody>
          <a:bodyPr wrap="square" lIns="0" tIns="0" rIns="0" bIns="0" anchor="ctr">
            <a:spAutoFit/>
          </a:bodyPr>
          <a:lstStyle/>
          <a:p>
            <a:pPr algn="ctr"/>
            <a:r>
              <a:rPr sz="2400" b="1">
                <a:solidFill>
                  <a:srgbClr val="FFFFFF"/>
                </a:solidFill>
              </a:rPr>
              <a:t>1</a:t>
            </a:r>
          </a:p>
        </p:txBody>
      </p:sp>
      <p:sp>
        <p:nvSpPr>
          <p:cNvPr id="8" name="Étiquette partie 1"/>
          <p:cNvSpPr txBox="1"/>
          <p:nvPr/>
        </p:nvSpPr>
        <p:spPr>
          <a:xfrm>
            <a:off x="1737360" y="2395728"/>
            <a:ext cx="2194560" cy="640080"/>
          </a:xfrm>
          <a:prstGeom prst="rect">
            <a:avLst/>
          </a:prstGeom>
          <a:noFill/>
        </p:spPr>
        <p:txBody>
          <a:bodyPr wrap="square" lIns="0" tIns="0" rIns="0" bIns="0" anchor="ctr">
            <a:spAutoFit/>
          </a:bodyPr>
          <a:lstStyle/>
          <a:p>
            <a:r>
              <a:rPr sz="1200" b="1" spc="250">
                <a:solidFill>
                  <a:srgbClr val="2770A4"/>
                </a:solidFill>
              </a:rPr>
              <a:t>PARTIE 1</a:t>
            </a:r>
          </a:p>
        </p:txBody>
      </p:sp>
      <p:sp>
        <p:nvSpPr>
          <p:cNvPr id="9" name="Titre partie 1"/>
          <p:cNvSpPr txBox="1"/>
          <p:nvPr/>
        </p:nvSpPr>
        <p:spPr>
          <a:xfrm>
            <a:off x="960119" y="3200400"/>
            <a:ext cx="2926080" cy="411480"/>
          </a:xfrm>
          <a:prstGeom prst="rect">
            <a:avLst/>
          </a:prstGeom>
          <a:noFill/>
        </p:spPr>
        <p:txBody>
          <a:bodyPr wrap="square" lIns="0" tIns="0" rIns="0" bIns="0">
            <a:spAutoFit/>
          </a:bodyPr>
          <a:lstStyle/>
          <a:p>
            <a:r>
              <a:rPr sz="2200" b="1">
                <a:solidFill>
                  <a:srgbClr val="132F53"/>
                </a:solidFill>
              </a:rPr>
              <a:t>Introduction</a:t>
            </a:r>
          </a:p>
        </p:txBody>
      </p:sp>
      <p:sp>
        <p:nvSpPr>
          <p:cNvPr id="10" name="Description partie 1"/>
          <p:cNvSpPr txBox="1"/>
          <p:nvPr/>
        </p:nvSpPr>
        <p:spPr>
          <a:xfrm>
            <a:off x="960119" y="3657600"/>
            <a:ext cx="2834640" cy="502920"/>
          </a:xfrm>
          <a:prstGeom prst="rect">
            <a:avLst/>
          </a:prstGeom>
          <a:noFill/>
        </p:spPr>
        <p:txBody>
          <a:bodyPr wrap="square" lIns="0" tIns="0" rIns="0" bIns="0">
            <a:spAutoFit/>
          </a:bodyPr>
          <a:lstStyle/>
          <a:p>
            <a:r>
              <a:rPr sz="1300" b="0">
                <a:solidFill>
                  <a:srgbClr val="5B6794"/>
                </a:solidFill>
              </a:rPr>
              <a:t>Le contexte et le problème à résoudre.</a:t>
            </a:r>
          </a:p>
        </p:txBody>
      </p:sp>
      <p:sp>
        <p:nvSpPr>
          <p:cNvPr id="11" name="Puce 1.1"/>
          <p:cNvSpPr/>
          <p:nvPr/>
        </p:nvSpPr>
        <p:spPr>
          <a:xfrm>
            <a:off x="978407" y="4480559"/>
            <a:ext cx="109728" cy="109728"/>
          </a:xfrm>
          <a:prstGeom prst="ellipse">
            <a:avLst/>
          </a:prstGeom>
          <a:solidFill>
            <a:srgbClr val="277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oint 1.1"/>
          <p:cNvSpPr txBox="1"/>
          <p:nvPr/>
        </p:nvSpPr>
        <p:spPr>
          <a:xfrm>
            <a:off x="1207007" y="4389120"/>
            <a:ext cx="2834640" cy="310896"/>
          </a:xfrm>
          <a:prstGeom prst="rect">
            <a:avLst/>
          </a:prstGeom>
          <a:noFill/>
        </p:spPr>
        <p:txBody>
          <a:bodyPr wrap="square" lIns="0" tIns="0" rIns="0" bIns="0">
            <a:spAutoFit/>
          </a:bodyPr>
          <a:lstStyle/>
          <a:p>
            <a:r>
              <a:rPr sz="1400" b="0">
                <a:solidFill>
                  <a:srgbClr val="0E1B33"/>
                </a:solidFill>
              </a:rPr>
              <a:t>Le constat</a:t>
            </a:r>
          </a:p>
        </p:txBody>
      </p:sp>
      <p:sp>
        <p:nvSpPr>
          <p:cNvPr id="13" name="Carte partie 2"/>
          <p:cNvSpPr/>
          <p:nvPr/>
        </p:nvSpPr>
        <p:spPr>
          <a:xfrm>
            <a:off x="4343400" y="2103120"/>
            <a:ext cx="3474720" cy="4114800"/>
          </a:xfrm>
          <a:prstGeom prst="roundRect">
            <a:avLst>
              <a:gd name="adj" fmla="val 5263"/>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astille partie 2"/>
          <p:cNvSpPr/>
          <p:nvPr/>
        </p:nvSpPr>
        <p:spPr>
          <a:xfrm>
            <a:off x="4663440" y="2395728"/>
            <a:ext cx="640080" cy="640080"/>
          </a:xfrm>
          <a:prstGeom prst="ellipse">
            <a:avLst/>
          </a:prstGeom>
          <a:solidFill>
            <a:srgbClr val="0B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Numéro partie 2"/>
          <p:cNvSpPr txBox="1"/>
          <p:nvPr/>
        </p:nvSpPr>
        <p:spPr>
          <a:xfrm>
            <a:off x="4663440" y="2395728"/>
            <a:ext cx="640080" cy="640080"/>
          </a:xfrm>
          <a:prstGeom prst="rect">
            <a:avLst/>
          </a:prstGeom>
          <a:noFill/>
        </p:spPr>
        <p:txBody>
          <a:bodyPr wrap="square" lIns="0" tIns="0" rIns="0" bIns="0" anchor="ctr">
            <a:spAutoFit/>
          </a:bodyPr>
          <a:lstStyle/>
          <a:p>
            <a:pPr algn="ctr"/>
            <a:r>
              <a:rPr sz="2400" b="1">
                <a:solidFill>
                  <a:srgbClr val="FFFFFF"/>
                </a:solidFill>
              </a:rPr>
              <a:t>2</a:t>
            </a:r>
          </a:p>
        </p:txBody>
      </p:sp>
      <p:sp>
        <p:nvSpPr>
          <p:cNvPr id="16" name="Étiquette partie 2"/>
          <p:cNvSpPr txBox="1"/>
          <p:nvPr/>
        </p:nvSpPr>
        <p:spPr>
          <a:xfrm>
            <a:off x="5440680" y="2395728"/>
            <a:ext cx="2194560" cy="640080"/>
          </a:xfrm>
          <a:prstGeom prst="rect">
            <a:avLst/>
          </a:prstGeom>
          <a:noFill/>
        </p:spPr>
        <p:txBody>
          <a:bodyPr wrap="square" lIns="0" tIns="0" rIns="0" bIns="0" anchor="ctr">
            <a:spAutoFit/>
          </a:bodyPr>
          <a:lstStyle/>
          <a:p>
            <a:r>
              <a:rPr sz="1200" b="1" spc="250">
                <a:solidFill>
                  <a:srgbClr val="0B8A5E"/>
                </a:solidFill>
              </a:rPr>
              <a:t>PARTIE 2</a:t>
            </a:r>
          </a:p>
        </p:txBody>
      </p:sp>
      <p:sp>
        <p:nvSpPr>
          <p:cNvPr id="17" name="Titre partie 2"/>
          <p:cNvSpPr txBox="1"/>
          <p:nvPr/>
        </p:nvSpPr>
        <p:spPr>
          <a:xfrm>
            <a:off x="4663440" y="3200400"/>
            <a:ext cx="2926080" cy="411480"/>
          </a:xfrm>
          <a:prstGeom prst="rect">
            <a:avLst/>
          </a:prstGeom>
          <a:noFill/>
        </p:spPr>
        <p:txBody>
          <a:bodyPr wrap="square" lIns="0" tIns="0" rIns="0" bIns="0">
            <a:spAutoFit/>
          </a:bodyPr>
          <a:lstStyle/>
          <a:p>
            <a:r>
              <a:rPr sz="2200" b="1">
                <a:solidFill>
                  <a:srgbClr val="132F53"/>
                </a:solidFill>
              </a:rPr>
              <a:t>Développement</a:t>
            </a:r>
          </a:p>
        </p:txBody>
      </p:sp>
      <p:sp>
        <p:nvSpPr>
          <p:cNvPr id="18" name="Description partie 2"/>
          <p:cNvSpPr txBox="1"/>
          <p:nvPr/>
        </p:nvSpPr>
        <p:spPr>
          <a:xfrm>
            <a:off x="4663440" y="3657600"/>
            <a:ext cx="2834640" cy="502920"/>
          </a:xfrm>
          <a:prstGeom prst="rect">
            <a:avLst/>
          </a:prstGeom>
          <a:noFill/>
        </p:spPr>
        <p:txBody>
          <a:bodyPr wrap="square" lIns="0" tIns="0" rIns="0" bIns="0">
            <a:spAutoFit/>
          </a:bodyPr>
          <a:lstStyle/>
          <a:p>
            <a:r>
              <a:rPr sz="1300" b="0">
                <a:solidFill>
                  <a:srgbClr val="5B6794"/>
                </a:solidFill>
              </a:rPr>
              <a:t>L’idée, l’application et sa conception.</a:t>
            </a:r>
          </a:p>
        </p:txBody>
      </p:sp>
      <p:sp>
        <p:nvSpPr>
          <p:cNvPr id="19" name="Puce 2.1"/>
          <p:cNvSpPr/>
          <p:nvPr/>
        </p:nvSpPr>
        <p:spPr>
          <a:xfrm>
            <a:off x="4681728" y="4480559"/>
            <a:ext cx="109728" cy="109728"/>
          </a:xfrm>
          <a:prstGeom prst="ellipse">
            <a:avLst/>
          </a:prstGeom>
          <a:solidFill>
            <a:srgbClr val="0B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oint 2.1"/>
          <p:cNvSpPr txBox="1"/>
          <p:nvPr/>
        </p:nvSpPr>
        <p:spPr>
          <a:xfrm>
            <a:off x="4910328" y="4389120"/>
            <a:ext cx="2834640" cy="310896"/>
          </a:xfrm>
          <a:prstGeom prst="rect">
            <a:avLst/>
          </a:prstGeom>
          <a:noFill/>
        </p:spPr>
        <p:txBody>
          <a:bodyPr wrap="square" lIns="0" tIns="0" rIns="0" bIns="0">
            <a:spAutoFit/>
          </a:bodyPr>
          <a:lstStyle/>
          <a:p>
            <a:r>
              <a:rPr sz="1400" b="0">
                <a:solidFill>
                  <a:srgbClr val="0E1B33"/>
                </a:solidFill>
              </a:rPr>
              <a:t>La solution YaGaz</a:t>
            </a:r>
          </a:p>
        </p:txBody>
      </p:sp>
      <p:sp>
        <p:nvSpPr>
          <p:cNvPr id="21" name="Puce 2.2"/>
          <p:cNvSpPr/>
          <p:nvPr/>
        </p:nvSpPr>
        <p:spPr>
          <a:xfrm>
            <a:off x="4681728" y="4892040"/>
            <a:ext cx="109728" cy="109728"/>
          </a:xfrm>
          <a:prstGeom prst="ellipse">
            <a:avLst/>
          </a:prstGeom>
          <a:solidFill>
            <a:srgbClr val="0B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oint 2.2"/>
          <p:cNvSpPr txBox="1"/>
          <p:nvPr/>
        </p:nvSpPr>
        <p:spPr>
          <a:xfrm>
            <a:off x="4910328" y="4800600"/>
            <a:ext cx="2834640" cy="310896"/>
          </a:xfrm>
          <a:prstGeom prst="rect">
            <a:avLst/>
          </a:prstGeom>
          <a:noFill/>
        </p:spPr>
        <p:txBody>
          <a:bodyPr wrap="square" lIns="0" tIns="0" rIns="0" bIns="0">
            <a:spAutoFit/>
          </a:bodyPr>
          <a:lstStyle/>
          <a:p>
            <a:r>
              <a:rPr sz="1400" b="0">
                <a:solidFill>
                  <a:srgbClr val="0E1B33"/>
                </a:solidFill>
              </a:rPr>
              <a:t>Écrans clés</a:t>
            </a:r>
          </a:p>
        </p:txBody>
      </p:sp>
      <p:sp>
        <p:nvSpPr>
          <p:cNvPr id="23" name="Puce 2.3"/>
          <p:cNvSpPr/>
          <p:nvPr/>
        </p:nvSpPr>
        <p:spPr>
          <a:xfrm>
            <a:off x="4681728" y="5303520"/>
            <a:ext cx="109728" cy="109728"/>
          </a:xfrm>
          <a:prstGeom prst="ellipse">
            <a:avLst/>
          </a:prstGeom>
          <a:solidFill>
            <a:srgbClr val="0B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oint 2.3"/>
          <p:cNvSpPr txBox="1"/>
          <p:nvPr/>
        </p:nvSpPr>
        <p:spPr>
          <a:xfrm>
            <a:off x="4910328" y="5212080"/>
            <a:ext cx="2834640" cy="310896"/>
          </a:xfrm>
          <a:prstGeom prst="rect">
            <a:avLst/>
          </a:prstGeom>
          <a:noFill/>
        </p:spPr>
        <p:txBody>
          <a:bodyPr wrap="square" lIns="0" tIns="0" rIns="0" bIns="0">
            <a:spAutoFit/>
          </a:bodyPr>
          <a:lstStyle/>
          <a:p>
            <a:r>
              <a:rPr sz="1400" b="0">
                <a:solidFill>
                  <a:srgbClr val="0E1B33"/>
                </a:solidFill>
              </a:rPr>
              <a:t>Fonctionnalités</a:t>
            </a:r>
          </a:p>
        </p:txBody>
      </p:sp>
      <p:sp>
        <p:nvSpPr>
          <p:cNvPr id="25" name="Puce 2.4"/>
          <p:cNvSpPr/>
          <p:nvPr/>
        </p:nvSpPr>
        <p:spPr>
          <a:xfrm>
            <a:off x="4681728" y="5715000"/>
            <a:ext cx="109728" cy="109728"/>
          </a:xfrm>
          <a:prstGeom prst="ellipse">
            <a:avLst/>
          </a:prstGeom>
          <a:solidFill>
            <a:srgbClr val="0B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oint 2.4"/>
          <p:cNvSpPr txBox="1"/>
          <p:nvPr/>
        </p:nvSpPr>
        <p:spPr>
          <a:xfrm>
            <a:off x="4910328" y="5623560"/>
            <a:ext cx="2834640" cy="310896"/>
          </a:xfrm>
          <a:prstGeom prst="rect">
            <a:avLst/>
          </a:prstGeom>
          <a:noFill/>
        </p:spPr>
        <p:txBody>
          <a:bodyPr wrap="square" lIns="0" tIns="0" rIns="0" bIns="0">
            <a:spAutoFit/>
          </a:bodyPr>
          <a:lstStyle/>
          <a:p>
            <a:r>
              <a:rPr sz="1400" b="0">
                <a:solidFill>
                  <a:srgbClr val="0E1B33"/>
                </a:solidFill>
              </a:rPr>
              <a:t>Architecture technique</a:t>
            </a:r>
          </a:p>
        </p:txBody>
      </p:sp>
      <p:sp>
        <p:nvSpPr>
          <p:cNvPr id="27" name="Carte partie 3"/>
          <p:cNvSpPr/>
          <p:nvPr/>
        </p:nvSpPr>
        <p:spPr>
          <a:xfrm>
            <a:off x="8046719" y="2103120"/>
            <a:ext cx="3474720" cy="4114800"/>
          </a:xfrm>
          <a:prstGeom prst="roundRect">
            <a:avLst>
              <a:gd name="adj" fmla="val 5263"/>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astille partie 3"/>
          <p:cNvSpPr/>
          <p:nvPr/>
        </p:nvSpPr>
        <p:spPr>
          <a:xfrm>
            <a:off x="8366759" y="2395728"/>
            <a:ext cx="640080" cy="640080"/>
          </a:xfrm>
          <a:prstGeom prst="ellipse">
            <a:avLst/>
          </a:prstGeom>
          <a:solidFill>
            <a:srgbClr val="D45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uméro partie 3"/>
          <p:cNvSpPr txBox="1"/>
          <p:nvPr/>
        </p:nvSpPr>
        <p:spPr>
          <a:xfrm>
            <a:off x="8366759" y="2395728"/>
            <a:ext cx="640080" cy="640080"/>
          </a:xfrm>
          <a:prstGeom prst="rect">
            <a:avLst/>
          </a:prstGeom>
          <a:noFill/>
        </p:spPr>
        <p:txBody>
          <a:bodyPr wrap="square" lIns="0" tIns="0" rIns="0" bIns="0" anchor="ctr">
            <a:spAutoFit/>
          </a:bodyPr>
          <a:lstStyle/>
          <a:p>
            <a:pPr algn="ctr"/>
            <a:r>
              <a:rPr sz="2400" b="1">
                <a:solidFill>
                  <a:srgbClr val="FFFFFF"/>
                </a:solidFill>
              </a:rPr>
              <a:t>3</a:t>
            </a:r>
          </a:p>
        </p:txBody>
      </p:sp>
      <p:sp>
        <p:nvSpPr>
          <p:cNvPr id="30" name="Étiquette partie 3"/>
          <p:cNvSpPr txBox="1"/>
          <p:nvPr/>
        </p:nvSpPr>
        <p:spPr>
          <a:xfrm>
            <a:off x="9143999" y="2395728"/>
            <a:ext cx="2194560" cy="640080"/>
          </a:xfrm>
          <a:prstGeom prst="rect">
            <a:avLst/>
          </a:prstGeom>
          <a:noFill/>
        </p:spPr>
        <p:txBody>
          <a:bodyPr wrap="square" lIns="0" tIns="0" rIns="0" bIns="0" anchor="ctr">
            <a:spAutoFit/>
          </a:bodyPr>
          <a:lstStyle/>
          <a:p>
            <a:r>
              <a:rPr sz="1200" b="1" spc="250">
                <a:solidFill>
                  <a:srgbClr val="D4540F"/>
                </a:solidFill>
              </a:rPr>
              <a:t>PARTIE 3</a:t>
            </a:r>
          </a:p>
        </p:txBody>
      </p:sp>
      <p:sp>
        <p:nvSpPr>
          <p:cNvPr id="31" name="Titre partie 3"/>
          <p:cNvSpPr txBox="1"/>
          <p:nvPr/>
        </p:nvSpPr>
        <p:spPr>
          <a:xfrm>
            <a:off x="8366759" y="3200400"/>
            <a:ext cx="2926080" cy="411480"/>
          </a:xfrm>
          <a:prstGeom prst="rect">
            <a:avLst/>
          </a:prstGeom>
          <a:noFill/>
        </p:spPr>
        <p:txBody>
          <a:bodyPr wrap="square" lIns="0" tIns="0" rIns="0" bIns="0">
            <a:spAutoFit/>
          </a:bodyPr>
          <a:lstStyle/>
          <a:p>
            <a:r>
              <a:rPr sz="2200" b="1">
                <a:solidFill>
                  <a:srgbClr val="132F53"/>
                </a:solidFill>
              </a:rPr>
              <a:t>Conclusion</a:t>
            </a:r>
          </a:p>
        </p:txBody>
      </p:sp>
      <p:sp>
        <p:nvSpPr>
          <p:cNvPr id="32" name="Description partie 3"/>
          <p:cNvSpPr txBox="1"/>
          <p:nvPr/>
        </p:nvSpPr>
        <p:spPr>
          <a:xfrm>
            <a:off x="8366759" y="3657600"/>
            <a:ext cx="2834640" cy="502920"/>
          </a:xfrm>
          <a:prstGeom prst="rect">
            <a:avLst/>
          </a:prstGeom>
          <a:noFill/>
        </p:spPr>
        <p:txBody>
          <a:bodyPr wrap="square" lIns="0" tIns="0" rIns="0" bIns="0">
            <a:spAutoFit/>
          </a:bodyPr>
          <a:lstStyle/>
          <a:p>
            <a:r>
              <a:rPr sz="1300" b="0">
                <a:solidFill>
                  <a:srgbClr val="5B6794"/>
                </a:solidFill>
              </a:rPr>
              <a:t>Les suites du projet et l’application en action.</a:t>
            </a:r>
          </a:p>
        </p:txBody>
      </p:sp>
      <p:sp>
        <p:nvSpPr>
          <p:cNvPr id="33" name="Puce 3.1"/>
          <p:cNvSpPr/>
          <p:nvPr/>
        </p:nvSpPr>
        <p:spPr>
          <a:xfrm>
            <a:off x="8385047" y="4480559"/>
            <a:ext cx="109728" cy="109728"/>
          </a:xfrm>
          <a:prstGeom prst="ellipse">
            <a:avLst/>
          </a:prstGeom>
          <a:solidFill>
            <a:srgbClr val="D45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Point 3.1"/>
          <p:cNvSpPr txBox="1"/>
          <p:nvPr/>
        </p:nvSpPr>
        <p:spPr>
          <a:xfrm>
            <a:off x="8613647" y="4389120"/>
            <a:ext cx="2834640" cy="310896"/>
          </a:xfrm>
          <a:prstGeom prst="rect">
            <a:avLst/>
          </a:prstGeom>
          <a:noFill/>
        </p:spPr>
        <p:txBody>
          <a:bodyPr wrap="square" lIns="0" tIns="0" rIns="0" bIns="0">
            <a:spAutoFit/>
          </a:bodyPr>
          <a:lstStyle/>
          <a:p>
            <a:r>
              <a:rPr sz="1400" b="0">
                <a:solidFill>
                  <a:srgbClr val="0E1B33"/>
                </a:solidFill>
              </a:rPr>
              <a:t>Feuille de route</a:t>
            </a:r>
          </a:p>
        </p:txBody>
      </p:sp>
      <p:sp>
        <p:nvSpPr>
          <p:cNvPr id="35" name="Puce 3.2"/>
          <p:cNvSpPr/>
          <p:nvPr/>
        </p:nvSpPr>
        <p:spPr>
          <a:xfrm>
            <a:off x="8385047" y="4892040"/>
            <a:ext cx="109728" cy="109728"/>
          </a:xfrm>
          <a:prstGeom prst="ellipse">
            <a:avLst/>
          </a:prstGeom>
          <a:solidFill>
            <a:srgbClr val="D45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oint 3.2"/>
          <p:cNvSpPr txBox="1"/>
          <p:nvPr/>
        </p:nvSpPr>
        <p:spPr>
          <a:xfrm>
            <a:off x="8613647" y="4800600"/>
            <a:ext cx="2834640" cy="310896"/>
          </a:xfrm>
          <a:prstGeom prst="rect">
            <a:avLst/>
          </a:prstGeom>
          <a:noFill/>
        </p:spPr>
        <p:txBody>
          <a:bodyPr wrap="square" lIns="0" tIns="0" rIns="0" bIns="0">
            <a:spAutoFit/>
          </a:bodyPr>
          <a:lstStyle/>
          <a:p>
            <a:r>
              <a:rPr sz="1400" b="0">
                <a:solidFill>
                  <a:srgbClr val="0E1B33"/>
                </a:solidFill>
              </a:rPr>
              <a:t>Démonstration</a:t>
            </a:r>
          </a:p>
        </p:txBody>
      </p:sp>
      <p:sp>
        <p:nvSpPr>
          <p:cNvPr id="37" name="Puce 3.3"/>
          <p:cNvSpPr/>
          <p:nvPr/>
        </p:nvSpPr>
        <p:spPr>
          <a:xfrm>
            <a:off x="8385047" y="5303520"/>
            <a:ext cx="109728" cy="109728"/>
          </a:xfrm>
          <a:prstGeom prst="ellipse">
            <a:avLst/>
          </a:prstGeom>
          <a:solidFill>
            <a:srgbClr val="D45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oint 3.3"/>
          <p:cNvSpPr txBox="1"/>
          <p:nvPr/>
        </p:nvSpPr>
        <p:spPr>
          <a:xfrm>
            <a:off x="8613647" y="5212080"/>
            <a:ext cx="2834640" cy="310896"/>
          </a:xfrm>
          <a:prstGeom prst="rect">
            <a:avLst/>
          </a:prstGeom>
          <a:noFill/>
        </p:spPr>
        <p:txBody>
          <a:bodyPr wrap="square" lIns="0" tIns="0" rIns="0" bIns="0">
            <a:spAutoFit/>
          </a:bodyPr>
          <a:lstStyle/>
          <a:p>
            <a:r>
              <a:rPr sz="1400" b="0">
                <a:solidFill>
                  <a:srgbClr val="0E1B33"/>
                </a:solidFill>
              </a:rPr>
              <a:t>Merci et questions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p:tgtEl>
                                          <p:spTgt spid="5"/>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50"/>
                                        <p:tgtEl>
                                          <p:spTgt spid="6"/>
                                        </p:tgtEl>
                                      </p:cBhvr>
                                    </p:animEffect>
                                    <p:anim calcmode="lin" valueType="num">
                                      <p:cBhvr additive="base">
                                        <p:cTn id="12" dur="650" fill="hold"/>
                                        <p:tgtEl>
                                          <p:spTgt spid="6"/>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p:tgtEl>
                                          <p:spTgt spid="7"/>
                                        </p:tgtEl>
                                      </p:cBhvr>
                                    </p:animEffect>
                                    <p:anim calcmode="lin" valueType="num">
                                      <p:cBhvr additive="base">
                                        <p:cTn id="16" dur="650" fill="hold"/>
                                        <p:tgtEl>
                                          <p:spTgt spid="7"/>
                                        </p:tgtEl>
                                        <p:attrNameLst>
                                          <p:attrName>ppt_y</p:attrName>
                                        </p:attrNameLst>
                                      </p:cBhvr>
                                      <p:tavLst>
                                        <p:tav tm="0">
                                          <p:val>
                                            <p:strVal val="#ppt_y+.05"/>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fill="hold"/>
                                        <p:tgtEl>
                                          <p:spTgt spid="8"/>
                                        </p:tgtEl>
                                        <p:attrNameLst>
                                          <p:attrName>ppt_y</p:attrName>
                                        </p:attrNameLst>
                                      </p:cBhvr>
                                      <p:tavLst>
                                        <p:tav tm="0">
                                          <p:val>
                                            <p:strVal val="#ppt_y+.05"/>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p:tgtEl>
                                          <p:spTgt spid="9"/>
                                        </p:tgtEl>
                                      </p:cBhvr>
                                    </p:animEffect>
                                    <p:anim calcmode="lin" valueType="num">
                                      <p:cBhvr additive="base">
                                        <p:cTn id="24" dur="650" fill="hold"/>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50"/>
                                        <p:tgtEl>
                                          <p:spTgt spid="10"/>
                                        </p:tgtEl>
                                      </p:cBhvr>
                                    </p:animEffect>
                                    <p:anim calcmode="lin" valueType="num">
                                      <p:cBhvr additive="base">
                                        <p:cTn id="28" dur="650" fill="hold"/>
                                        <p:tgtEl>
                                          <p:spTgt spid="10"/>
                                        </p:tgtEl>
                                        <p:attrNameLst>
                                          <p:attrName>ppt_y</p:attrName>
                                        </p:attrNameLst>
                                      </p:cBhvr>
                                      <p:tavLst>
                                        <p:tav tm="0">
                                          <p:val>
                                            <p:strVal val="#ppt_y+.05"/>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50"/>
                                        <p:tgtEl>
                                          <p:spTgt spid="11"/>
                                        </p:tgtEl>
                                      </p:cBhvr>
                                    </p:animEffect>
                                    <p:anim calcmode="lin" valueType="num">
                                      <p:cBhvr additive="base">
                                        <p:cTn id="32" dur="650" fill="hold"/>
                                        <p:tgtEl>
                                          <p:spTgt spid="11"/>
                                        </p:tgtEl>
                                        <p:attrNameLst>
                                          <p:attrName>ppt_y</p:attrName>
                                        </p:attrNameLst>
                                      </p:cBhvr>
                                      <p:tavLst>
                                        <p:tav tm="0">
                                          <p:val>
                                            <p:strVal val="#ppt_y+.05"/>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50"/>
                                        <p:tgtEl>
                                          <p:spTgt spid="12"/>
                                        </p:tgtEl>
                                      </p:cBhvr>
                                    </p:animEffect>
                                    <p:anim calcmode="lin" valueType="num">
                                      <p:cBhvr additive="base">
                                        <p:cTn id="36" dur="650" fill="hold"/>
                                        <p:tgtEl>
                                          <p:spTgt spid="12"/>
                                        </p:tgtEl>
                                        <p:attrNameLst>
                                          <p:attrName>ppt_y</p:attrName>
                                        </p:attrNameLst>
                                      </p:cBhvr>
                                      <p:tavLst>
                                        <p:tav tm="0">
                                          <p:val>
                                            <p:strVal val="#ppt_y+.05"/>
                                          </p:val>
                                        </p:tav>
                                        <p:tav tm="100000">
                                          <p:val>
                                            <p:strVal val="#ppt_y"/>
                                          </p:val>
                                        </p:tav>
                                      </p:tavLst>
                                    </p:anim>
                                  </p:childTnLst>
                                </p:cTn>
                              </p:par>
                              <p:par>
                                <p:cTn id="37" presetID="42" presetClass="entr" presetSubtype="0" fill="hold" nodeType="withEffect">
                                  <p:stCondLst>
                                    <p:cond delay="17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p:tgtEl>
                                          <p:spTgt spid="13"/>
                                        </p:tgtEl>
                                      </p:cBhvr>
                                    </p:animEffect>
                                    <p:anim calcmode="lin" valueType="num">
                                      <p:cBhvr additive="base">
                                        <p:cTn id="40" dur="650" fill="hold"/>
                                        <p:tgtEl>
                                          <p:spTgt spid="13"/>
                                        </p:tgtEl>
                                        <p:attrNameLst>
                                          <p:attrName>ppt_y</p:attrName>
                                        </p:attrNameLst>
                                      </p:cBhvr>
                                      <p:tavLst>
                                        <p:tav tm="0">
                                          <p:val>
                                            <p:strVal val="#ppt_y+.05"/>
                                          </p:val>
                                        </p:tav>
                                        <p:tav tm="100000">
                                          <p:val>
                                            <p:strVal val="#ppt_y"/>
                                          </p:val>
                                        </p:tav>
                                      </p:tavLst>
                                    </p:anim>
                                  </p:childTnLst>
                                </p:cTn>
                              </p:par>
                              <p:par>
                                <p:cTn id="41" presetID="42" presetClass="entr" presetSubtype="0" fill="hold" nodeType="withEffect">
                                  <p:stCondLst>
                                    <p:cond delay="17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50"/>
                                        <p:tgtEl>
                                          <p:spTgt spid="14"/>
                                        </p:tgtEl>
                                      </p:cBhvr>
                                    </p:animEffect>
                                    <p:anim calcmode="lin" valueType="num">
                                      <p:cBhvr additive="base">
                                        <p:cTn id="44" dur="650" fill="hold"/>
                                        <p:tgtEl>
                                          <p:spTgt spid="14"/>
                                        </p:tgtEl>
                                        <p:attrNameLst>
                                          <p:attrName>ppt_y</p:attrName>
                                        </p:attrNameLst>
                                      </p:cBhvr>
                                      <p:tavLst>
                                        <p:tav tm="0">
                                          <p:val>
                                            <p:strVal val="#ppt_y+.05"/>
                                          </p:val>
                                        </p:tav>
                                        <p:tav tm="100000">
                                          <p:val>
                                            <p:strVal val="#ppt_y"/>
                                          </p:val>
                                        </p:tav>
                                      </p:tavLst>
                                    </p:anim>
                                  </p:childTnLst>
                                </p:cTn>
                              </p:par>
                              <p:par>
                                <p:cTn id="45" presetID="42" presetClass="entr" presetSubtype="0" fill="hold" nodeType="withEffect">
                                  <p:stCondLst>
                                    <p:cond delay="17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50"/>
                                        <p:tgtEl>
                                          <p:spTgt spid="15"/>
                                        </p:tgtEl>
                                      </p:cBhvr>
                                    </p:animEffect>
                                    <p:anim calcmode="lin" valueType="num">
                                      <p:cBhvr additive="base">
                                        <p:cTn id="48" dur="650" fill="hold"/>
                                        <p:tgtEl>
                                          <p:spTgt spid="15"/>
                                        </p:tgtEl>
                                        <p:attrNameLst>
                                          <p:attrName>ppt_y</p:attrName>
                                        </p:attrNameLst>
                                      </p:cBhvr>
                                      <p:tavLst>
                                        <p:tav tm="0">
                                          <p:val>
                                            <p:strVal val="#ppt_y+.05"/>
                                          </p:val>
                                        </p:tav>
                                        <p:tav tm="100000">
                                          <p:val>
                                            <p:strVal val="#ppt_y"/>
                                          </p:val>
                                        </p:tav>
                                      </p:tavLst>
                                    </p:anim>
                                  </p:childTnLst>
                                </p:cTn>
                              </p:par>
                              <p:par>
                                <p:cTn id="49" presetID="42" presetClass="entr" presetSubtype="0" fill="hold" nodeType="withEffect">
                                  <p:stCondLst>
                                    <p:cond delay="17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50"/>
                                        <p:tgtEl>
                                          <p:spTgt spid="16"/>
                                        </p:tgtEl>
                                      </p:cBhvr>
                                    </p:animEffect>
                                    <p:anim calcmode="lin" valueType="num">
                                      <p:cBhvr additive="base">
                                        <p:cTn id="52" dur="650" fill="hold"/>
                                        <p:tgtEl>
                                          <p:spTgt spid="16"/>
                                        </p:tgtEl>
                                        <p:attrNameLst>
                                          <p:attrName>ppt_y</p:attrName>
                                        </p:attrNameLst>
                                      </p:cBhvr>
                                      <p:tavLst>
                                        <p:tav tm="0">
                                          <p:val>
                                            <p:strVal val="#ppt_y+.05"/>
                                          </p:val>
                                        </p:tav>
                                        <p:tav tm="100000">
                                          <p:val>
                                            <p:strVal val="#ppt_y"/>
                                          </p:val>
                                        </p:tav>
                                      </p:tavLst>
                                    </p:anim>
                                  </p:childTnLst>
                                </p:cTn>
                              </p:par>
                              <p:par>
                                <p:cTn id="53" presetID="42" presetClass="entr" presetSubtype="0" fill="hold" nodeType="withEffect">
                                  <p:stCondLst>
                                    <p:cond delay="17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50"/>
                                        <p:tgtEl>
                                          <p:spTgt spid="17"/>
                                        </p:tgtEl>
                                      </p:cBhvr>
                                    </p:animEffect>
                                    <p:anim calcmode="lin" valueType="num">
                                      <p:cBhvr additive="base">
                                        <p:cTn id="56" dur="650" fill="hold"/>
                                        <p:tgtEl>
                                          <p:spTgt spid="17"/>
                                        </p:tgtEl>
                                        <p:attrNameLst>
                                          <p:attrName>ppt_y</p:attrName>
                                        </p:attrNameLst>
                                      </p:cBhvr>
                                      <p:tavLst>
                                        <p:tav tm="0">
                                          <p:val>
                                            <p:strVal val="#ppt_y+.05"/>
                                          </p:val>
                                        </p:tav>
                                        <p:tav tm="100000">
                                          <p:val>
                                            <p:strVal val="#ppt_y"/>
                                          </p:val>
                                        </p:tav>
                                      </p:tavLst>
                                    </p:anim>
                                  </p:childTnLst>
                                </p:cTn>
                              </p:par>
                              <p:par>
                                <p:cTn id="57" presetID="42" presetClass="entr" presetSubtype="0" fill="hold" nodeType="withEffect">
                                  <p:stCondLst>
                                    <p:cond delay="17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50"/>
                                        <p:tgtEl>
                                          <p:spTgt spid="18"/>
                                        </p:tgtEl>
                                      </p:cBhvr>
                                    </p:animEffect>
                                    <p:anim calcmode="lin" valueType="num">
                                      <p:cBhvr additive="base">
                                        <p:cTn id="60" dur="650" fill="hold"/>
                                        <p:tgtEl>
                                          <p:spTgt spid="18"/>
                                        </p:tgtEl>
                                        <p:attrNameLst>
                                          <p:attrName>ppt_y</p:attrName>
                                        </p:attrNameLst>
                                      </p:cBhvr>
                                      <p:tavLst>
                                        <p:tav tm="0">
                                          <p:val>
                                            <p:strVal val="#ppt_y+.05"/>
                                          </p:val>
                                        </p:tav>
                                        <p:tav tm="100000">
                                          <p:val>
                                            <p:strVal val="#ppt_y"/>
                                          </p:val>
                                        </p:tav>
                                      </p:tavLst>
                                    </p:anim>
                                  </p:childTnLst>
                                </p:cTn>
                              </p:par>
                              <p:par>
                                <p:cTn id="61" presetID="42" presetClass="entr" presetSubtype="0" fill="hold" nodeType="withEffect">
                                  <p:stCondLst>
                                    <p:cond delay="17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50"/>
                                        <p:tgtEl>
                                          <p:spTgt spid="19"/>
                                        </p:tgtEl>
                                      </p:cBhvr>
                                    </p:animEffect>
                                    <p:anim calcmode="lin" valueType="num">
                                      <p:cBhvr additive="base">
                                        <p:cTn id="64" dur="650" fill="hold"/>
                                        <p:tgtEl>
                                          <p:spTgt spid="19"/>
                                        </p:tgtEl>
                                        <p:attrNameLst>
                                          <p:attrName>ppt_y</p:attrName>
                                        </p:attrNameLst>
                                      </p:cBhvr>
                                      <p:tavLst>
                                        <p:tav tm="0">
                                          <p:val>
                                            <p:strVal val="#ppt_y+.05"/>
                                          </p:val>
                                        </p:tav>
                                        <p:tav tm="100000">
                                          <p:val>
                                            <p:strVal val="#ppt_y"/>
                                          </p:val>
                                        </p:tav>
                                      </p:tavLst>
                                    </p:anim>
                                  </p:childTnLst>
                                </p:cTn>
                              </p:par>
                              <p:par>
                                <p:cTn id="65" presetID="42" presetClass="entr" presetSubtype="0" fill="hold" nodeType="withEffect">
                                  <p:stCondLst>
                                    <p:cond delay="17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50"/>
                                        <p:tgtEl>
                                          <p:spTgt spid="20"/>
                                        </p:tgtEl>
                                      </p:cBhvr>
                                    </p:animEffect>
                                    <p:anim calcmode="lin" valueType="num">
                                      <p:cBhvr additive="base">
                                        <p:cTn id="68" dur="650" fill="hold"/>
                                        <p:tgtEl>
                                          <p:spTgt spid="20"/>
                                        </p:tgtEl>
                                        <p:attrNameLst>
                                          <p:attrName>ppt_y</p:attrName>
                                        </p:attrNameLst>
                                      </p:cBhvr>
                                      <p:tavLst>
                                        <p:tav tm="0">
                                          <p:val>
                                            <p:strVal val="#ppt_y+.05"/>
                                          </p:val>
                                        </p:tav>
                                        <p:tav tm="100000">
                                          <p:val>
                                            <p:strVal val="#ppt_y"/>
                                          </p:val>
                                        </p:tav>
                                      </p:tavLst>
                                    </p:anim>
                                  </p:childTnLst>
                                </p:cTn>
                              </p:par>
                              <p:par>
                                <p:cTn id="69" presetID="42" presetClass="entr" presetSubtype="0" fill="hold" nodeType="withEffect">
                                  <p:stCondLst>
                                    <p:cond delay="17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650"/>
                                        <p:tgtEl>
                                          <p:spTgt spid="21"/>
                                        </p:tgtEl>
                                      </p:cBhvr>
                                    </p:animEffect>
                                    <p:anim calcmode="lin" valueType="num">
                                      <p:cBhvr additive="base">
                                        <p:cTn id="72" dur="650" fill="hold"/>
                                        <p:tgtEl>
                                          <p:spTgt spid="21"/>
                                        </p:tgtEl>
                                        <p:attrNameLst>
                                          <p:attrName>ppt_y</p:attrName>
                                        </p:attrNameLst>
                                      </p:cBhvr>
                                      <p:tavLst>
                                        <p:tav tm="0">
                                          <p:val>
                                            <p:strVal val="#ppt_y+.05"/>
                                          </p:val>
                                        </p:tav>
                                        <p:tav tm="100000">
                                          <p:val>
                                            <p:strVal val="#ppt_y"/>
                                          </p:val>
                                        </p:tav>
                                      </p:tavLst>
                                    </p:anim>
                                  </p:childTnLst>
                                </p:cTn>
                              </p:par>
                              <p:par>
                                <p:cTn id="73" presetID="42" presetClass="entr" presetSubtype="0" fill="hold" nodeType="withEffect">
                                  <p:stCondLst>
                                    <p:cond delay="17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650"/>
                                        <p:tgtEl>
                                          <p:spTgt spid="22"/>
                                        </p:tgtEl>
                                      </p:cBhvr>
                                    </p:animEffect>
                                    <p:anim calcmode="lin" valueType="num">
                                      <p:cBhvr additive="base">
                                        <p:cTn id="76" dur="650" fill="hold"/>
                                        <p:tgtEl>
                                          <p:spTgt spid="22"/>
                                        </p:tgtEl>
                                        <p:attrNameLst>
                                          <p:attrName>ppt_y</p:attrName>
                                        </p:attrNameLst>
                                      </p:cBhvr>
                                      <p:tavLst>
                                        <p:tav tm="0">
                                          <p:val>
                                            <p:strVal val="#ppt_y+.05"/>
                                          </p:val>
                                        </p:tav>
                                        <p:tav tm="100000">
                                          <p:val>
                                            <p:strVal val="#ppt_y"/>
                                          </p:val>
                                        </p:tav>
                                      </p:tavLst>
                                    </p:anim>
                                  </p:childTnLst>
                                </p:cTn>
                              </p:par>
                              <p:par>
                                <p:cTn id="77" presetID="42" presetClass="entr" presetSubtype="0" fill="hold" nodeType="withEffect">
                                  <p:stCondLst>
                                    <p:cond delay="17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650"/>
                                        <p:tgtEl>
                                          <p:spTgt spid="23"/>
                                        </p:tgtEl>
                                      </p:cBhvr>
                                    </p:animEffect>
                                    <p:anim calcmode="lin" valueType="num">
                                      <p:cBhvr additive="base">
                                        <p:cTn id="80" dur="650" fill="hold"/>
                                        <p:tgtEl>
                                          <p:spTgt spid="23"/>
                                        </p:tgtEl>
                                        <p:attrNameLst>
                                          <p:attrName>ppt_y</p:attrName>
                                        </p:attrNameLst>
                                      </p:cBhvr>
                                      <p:tavLst>
                                        <p:tav tm="0">
                                          <p:val>
                                            <p:strVal val="#ppt_y+.05"/>
                                          </p:val>
                                        </p:tav>
                                        <p:tav tm="100000">
                                          <p:val>
                                            <p:strVal val="#ppt_y"/>
                                          </p:val>
                                        </p:tav>
                                      </p:tavLst>
                                    </p:anim>
                                  </p:childTnLst>
                                </p:cTn>
                              </p:par>
                              <p:par>
                                <p:cTn id="81" presetID="42" presetClass="entr" presetSubtype="0" fill="hold" nodeType="withEffect">
                                  <p:stCondLst>
                                    <p:cond delay="17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650"/>
                                        <p:tgtEl>
                                          <p:spTgt spid="24"/>
                                        </p:tgtEl>
                                      </p:cBhvr>
                                    </p:animEffect>
                                    <p:anim calcmode="lin" valueType="num">
                                      <p:cBhvr additive="base">
                                        <p:cTn id="84" dur="650" fill="hold"/>
                                        <p:tgtEl>
                                          <p:spTgt spid="24"/>
                                        </p:tgtEl>
                                        <p:attrNameLst>
                                          <p:attrName>ppt_y</p:attrName>
                                        </p:attrNameLst>
                                      </p:cBhvr>
                                      <p:tavLst>
                                        <p:tav tm="0">
                                          <p:val>
                                            <p:strVal val="#ppt_y+.05"/>
                                          </p:val>
                                        </p:tav>
                                        <p:tav tm="100000">
                                          <p:val>
                                            <p:strVal val="#ppt_y"/>
                                          </p:val>
                                        </p:tav>
                                      </p:tavLst>
                                    </p:anim>
                                  </p:childTnLst>
                                </p:cTn>
                              </p:par>
                              <p:par>
                                <p:cTn id="85" presetID="42" presetClass="entr" presetSubtype="0" fill="hold" nodeType="withEffect">
                                  <p:stCondLst>
                                    <p:cond delay="17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650"/>
                                        <p:tgtEl>
                                          <p:spTgt spid="25"/>
                                        </p:tgtEl>
                                      </p:cBhvr>
                                    </p:animEffect>
                                    <p:anim calcmode="lin" valueType="num">
                                      <p:cBhvr additive="base">
                                        <p:cTn id="88" dur="650" fill="hold"/>
                                        <p:tgtEl>
                                          <p:spTgt spid="25"/>
                                        </p:tgtEl>
                                        <p:attrNameLst>
                                          <p:attrName>ppt_y</p:attrName>
                                        </p:attrNameLst>
                                      </p:cBhvr>
                                      <p:tavLst>
                                        <p:tav tm="0">
                                          <p:val>
                                            <p:strVal val="#ppt_y+.05"/>
                                          </p:val>
                                        </p:tav>
                                        <p:tav tm="100000">
                                          <p:val>
                                            <p:strVal val="#ppt_y"/>
                                          </p:val>
                                        </p:tav>
                                      </p:tavLst>
                                    </p:anim>
                                  </p:childTnLst>
                                </p:cTn>
                              </p:par>
                              <p:par>
                                <p:cTn id="89" presetID="42" presetClass="entr" presetSubtype="0" fill="hold" nodeType="withEffect">
                                  <p:stCondLst>
                                    <p:cond delay="17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650"/>
                                        <p:tgtEl>
                                          <p:spTgt spid="26"/>
                                        </p:tgtEl>
                                      </p:cBhvr>
                                    </p:animEffect>
                                    <p:anim calcmode="lin" valueType="num">
                                      <p:cBhvr additive="base">
                                        <p:cTn id="92" dur="650" fill="hold"/>
                                        <p:tgtEl>
                                          <p:spTgt spid="26"/>
                                        </p:tgtEl>
                                        <p:attrNameLst>
                                          <p:attrName>ppt_y</p:attrName>
                                        </p:attrNameLst>
                                      </p:cBhvr>
                                      <p:tavLst>
                                        <p:tav tm="0">
                                          <p:val>
                                            <p:strVal val="#ppt_y+.05"/>
                                          </p:val>
                                        </p:tav>
                                        <p:tav tm="100000">
                                          <p:val>
                                            <p:strVal val="#ppt_y"/>
                                          </p:val>
                                        </p:tav>
                                      </p:tavLst>
                                    </p:anim>
                                  </p:childTnLst>
                                </p:cTn>
                              </p:par>
                              <p:par>
                                <p:cTn id="93" presetID="42" presetClass="entr" presetSubtype="0" fill="hold" nodeType="withEffect">
                                  <p:stCondLst>
                                    <p:cond delay="34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650"/>
                                        <p:tgtEl>
                                          <p:spTgt spid="27"/>
                                        </p:tgtEl>
                                      </p:cBhvr>
                                    </p:animEffect>
                                    <p:anim calcmode="lin" valueType="num">
                                      <p:cBhvr additive="base">
                                        <p:cTn id="96" dur="650" fill="hold"/>
                                        <p:tgtEl>
                                          <p:spTgt spid="27"/>
                                        </p:tgtEl>
                                        <p:attrNameLst>
                                          <p:attrName>ppt_y</p:attrName>
                                        </p:attrNameLst>
                                      </p:cBhvr>
                                      <p:tavLst>
                                        <p:tav tm="0">
                                          <p:val>
                                            <p:strVal val="#ppt_y+.05"/>
                                          </p:val>
                                        </p:tav>
                                        <p:tav tm="100000">
                                          <p:val>
                                            <p:strVal val="#ppt_y"/>
                                          </p:val>
                                        </p:tav>
                                      </p:tavLst>
                                    </p:anim>
                                  </p:childTnLst>
                                </p:cTn>
                              </p:par>
                              <p:par>
                                <p:cTn id="97" presetID="42" presetClass="entr" presetSubtype="0" fill="hold" nodeType="withEffect">
                                  <p:stCondLst>
                                    <p:cond delay="34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650"/>
                                        <p:tgtEl>
                                          <p:spTgt spid="28"/>
                                        </p:tgtEl>
                                      </p:cBhvr>
                                    </p:animEffect>
                                    <p:anim calcmode="lin" valueType="num">
                                      <p:cBhvr additive="base">
                                        <p:cTn id="100" dur="650" fill="hold"/>
                                        <p:tgtEl>
                                          <p:spTgt spid="28"/>
                                        </p:tgtEl>
                                        <p:attrNameLst>
                                          <p:attrName>ppt_y</p:attrName>
                                        </p:attrNameLst>
                                      </p:cBhvr>
                                      <p:tavLst>
                                        <p:tav tm="0">
                                          <p:val>
                                            <p:strVal val="#ppt_y+.05"/>
                                          </p:val>
                                        </p:tav>
                                        <p:tav tm="100000">
                                          <p:val>
                                            <p:strVal val="#ppt_y"/>
                                          </p:val>
                                        </p:tav>
                                      </p:tavLst>
                                    </p:anim>
                                  </p:childTnLst>
                                </p:cTn>
                              </p:par>
                              <p:par>
                                <p:cTn id="101" presetID="42" presetClass="entr" presetSubtype="0" fill="hold" nodeType="withEffect">
                                  <p:stCondLst>
                                    <p:cond delay="34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650"/>
                                        <p:tgtEl>
                                          <p:spTgt spid="29"/>
                                        </p:tgtEl>
                                      </p:cBhvr>
                                    </p:animEffect>
                                    <p:anim calcmode="lin" valueType="num">
                                      <p:cBhvr additive="base">
                                        <p:cTn id="104" dur="650" fill="hold"/>
                                        <p:tgtEl>
                                          <p:spTgt spid="29"/>
                                        </p:tgtEl>
                                        <p:attrNameLst>
                                          <p:attrName>ppt_y</p:attrName>
                                        </p:attrNameLst>
                                      </p:cBhvr>
                                      <p:tavLst>
                                        <p:tav tm="0">
                                          <p:val>
                                            <p:strVal val="#ppt_y+.05"/>
                                          </p:val>
                                        </p:tav>
                                        <p:tav tm="100000">
                                          <p:val>
                                            <p:strVal val="#ppt_y"/>
                                          </p:val>
                                        </p:tav>
                                      </p:tavLst>
                                    </p:anim>
                                  </p:childTnLst>
                                </p:cTn>
                              </p:par>
                              <p:par>
                                <p:cTn id="105" presetID="42" presetClass="entr" presetSubtype="0" fill="hold" nodeType="withEffect">
                                  <p:stCondLst>
                                    <p:cond delay="34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650"/>
                                        <p:tgtEl>
                                          <p:spTgt spid="30"/>
                                        </p:tgtEl>
                                      </p:cBhvr>
                                    </p:animEffect>
                                    <p:anim calcmode="lin" valueType="num">
                                      <p:cBhvr additive="base">
                                        <p:cTn id="108" dur="650" fill="hold"/>
                                        <p:tgtEl>
                                          <p:spTgt spid="30"/>
                                        </p:tgtEl>
                                        <p:attrNameLst>
                                          <p:attrName>ppt_y</p:attrName>
                                        </p:attrNameLst>
                                      </p:cBhvr>
                                      <p:tavLst>
                                        <p:tav tm="0">
                                          <p:val>
                                            <p:strVal val="#ppt_y+.05"/>
                                          </p:val>
                                        </p:tav>
                                        <p:tav tm="100000">
                                          <p:val>
                                            <p:strVal val="#ppt_y"/>
                                          </p:val>
                                        </p:tav>
                                      </p:tavLst>
                                    </p:anim>
                                  </p:childTnLst>
                                </p:cTn>
                              </p:par>
                              <p:par>
                                <p:cTn id="109" presetID="42" presetClass="entr" presetSubtype="0" fill="hold" nodeType="withEffect">
                                  <p:stCondLst>
                                    <p:cond delay="34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650"/>
                                        <p:tgtEl>
                                          <p:spTgt spid="31"/>
                                        </p:tgtEl>
                                      </p:cBhvr>
                                    </p:animEffect>
                                    <p:anim calcmode="lin" valueType="num">
                                      <p:cBhvr additive="base">
                                        <p:cTn id="112" dur="650" fill="hold"/>
                                        <p:tgtEl>
                                          <p:spTgt spid="31"/>
                                        </p:tgtEl>
                                        <p:attrNameLst>
                                          <p:attrName>ppt_y</p:attrName>
                                        </p:attrNameLst>
                                      </p:cBhvr>
                                      <p:tavLst>
                                        <p:tav tm="0">
                                          <p:val>
                                            <p:strVal val="#ppt_y+.05"/>
                                          </p:val>
                                        </p:tav>
                                        <p:tav tm="100000">
                                          <p:val>
                                            <p:strVal val="#ppt_y"/>
                                          </p:val>
                                        </p:tav>
                                      </p:tavLst>
                                    </p:anim>
                                  </p:childTnLst>
                                </p:cTn>
                              </p:par>
                              <p:par>
                                <p:cTn id="113" presetID="42" presetClass="entr" presetSubtype="0" fill="hold" nodeType="withEffect">
                                  <p:stCondLst>
                                    <p:cond delay="34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650"/>
                                        <p:tgtEl>
                                          <p:spTgt spid="32"/>
                                        </p:tgtEl>
                                      </p:cBhvr>
                                    </p:animEffect>
                                    <p:anim calcmode="lin" valueType="num">
                                      <p:cBhvr additive="base">
                                        <p:cTn id="116" dur="650" fill="hold"/>
                                        <p:tgtEl>
                                          <p:spTgt spid="32"/>
                                        </p:tgtEl>
                                        <p:attrNameLst>
                                          <p:attrName>ppt_y</p:attrName>
                                        </p:attrNameLst>
                                      </p:cBhvr>
                                      <p:tavLst>
                                        <p:tav tm="0">
                                          <p:val>
                                            <p:strVal val="#ppt_y+.05"/>
                                          </p:val>
                                        </p:tav>
                                        <p:tav tm="100000">
                                          <p:val>
                                            <p:strVal val="#ppt_y"/>
                                          </p:val>
                                        </p:tav>
                                      </p:tavLst>
                                    </p:anim>
                                  </p:childTnLst>
                                </p:cTn>
                              </p:par>
                              <p:par>
                                <p:cTn id="117" presetID="42" presetClass="entr" presetSubtype="0" fill="hold" nodeType="withEffect">
                                  <p:stCondLst>
                                    <p:cond delay="34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650"/>
                                        <p:tgtEl>
                                          <p:spTgt spid="33"/>
                                        </p:tgtEl>
                                      </p:cBhvr>
                                    </p:animEffect>
                                    <p:anim calcmode="lin" valueType="num">
                                      <p:cBhvr additive="base">
                                        <p:cTn id="120" dur="650" fill="hold"/>
                                        <p:tgtEl>
                                          <p:spTgt spid="33"/>
                                        </p:tgtEl>
                                        <p:attrNameLst>
                                          <p:attrName>ppt_y</p:attrName>
                                        </p:attrNameLst>
                                      </p:cBhvr>
                                      <p:tavLst>
                                        <p:tav tm="0">
                                          <p:val>
                                            <p:strVal val="#ppt_y+.05"/>
                                          </p:val>
                                        </p:tav>
                                        <p:tav tm="100000">
                                          <p:val>
                                            <p:strVal val="#ppt_y"/>
                                          </p:val>
                                        </p:tav>
                                      </p:tavLst>
                                    </p:anim>
                                  </p:childTnLst>
                                </p:cTn>
                              </p:par>
                              <p:par>
                                <p:cTn id="121" presetID="42" presetClass="entr" presetSubtype="0" fill="hold" nodeType="withEffect">
                                  <p:stCondLst>
                                    <p:cond delay="34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650"/>
                                        <p:tgtEl>
                                          <p:spTgt spid="34"/>
                                        </p:tgtEl>
                                      </p:cBhvr>
                                    </p:animEffect>
                                    <p:anim calcmode="lin" valueType="num">
                                      <p:cBhvr additive="base">
                                        <p:cTn id="124" dur="650" fill="hold"/>
                                        <p:tgtEl>
                                          <p:spTgt spid="34"/>
                                        </p:tgtEl>
                                        <p:attrNameLst>
                                          <p:attrName>ppt_y</p:attrName>
                                        </p:attrNameLst>
                                      </p:cBhvr>
                                      <p:tavLst>
                                        <p:tav tm="0">
                                          <p:val>
                                            <p:strVal val="#ppt_y+.05"/>
                                          </p:val>
                                        </p:tav>
                                        <p:tav tm="100000">
                                          <p:val>
                                            <p:strVal val="#ppt_y"/>
                                          </p:val>
                                        </p:tav>
                                      </p:tavLst>
                                    </p:anim>
                                  </p:childTnLst>
                                </p:cTn>
                              </p:par>
                              <p:par>
                                <p:cTn id="125" presetID="42" presetClass="entr" presetSubtype="0" fill="hold" nodeType="withEffect">
                                  <p:stCondLst>
                                    <p:cond delay="34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650"/>
                                        <p:tgtEl>
                                          <p:spTgt spid="35"/>
                                        </p:tgtEl>
                                      </p:cBhvr>
                                    </p:animEffect>
                                    <p:anim calcmode="lin" valueType="num">
                                      <p:cBhvr additive="base">
                                        <p:cTn id="128" dur="650" fill="hold"/>
                                        <p:tgtEl>
                                          <p:spTgt spid="35"/>
                                        </p:tgtEl>
                                        <p:attrNameLst>
                                          <p:attrName>ppt_y</p:attrName>
                                        </p:attrNameLst>
                                      </p:cBhvr>
                                      <p:tavLst>
                                        <p:tav tm="0">
                                          <p:val>
                                            <p:strVal val="#ppt_y+.05"/>
                                          </p:val>
                                        </p:tav>
                                        <p:tav tm="100000">
                                          <p:val>
                                            <p:strVal val="#ppt_y"/>
                                          </p:val>
                                        </p:tav>
                                      </p:tavLst>
                                    </p:anim>
                                  </p:childTnLst>
                                </p:cTn>
                              </p:par>
                              <p:par>
                                <p:cTn id="129" presetID="42" presetClass="entr" presetSubtype="0" fill="hold" nodeType="withEffect">
                                  <p:stCondLst>
                                    <p:cond delay="340"/>
                                  </p:stCondLst>
                                  <p:childTnLst>
                                    <p:set>
                                      <p:cBhvr>
                                        <p:cTn id="130" dur="1" fill="hold">
                                          <p:stCondLst>
                                            <p:cond delay="0"/>
                                          </p:stCondLst>
                                        </p:cTn>
                                        <p:tgtEl>
                                          <p:spTgt spid="36"/>
                                        </p:tgtEl>
                                        <p:attrNameLst>
                                          <p:attrName>style.visibility</p:attrName>
                                        </p:attrNameLst>
                                      </p:cBhvr>
                                      <p:to>
                                        <p:strVal val="visible"/>
                                      </p:to>
                                    </p:set>
                                    <p:animEffect transition="in" filter="fade">
                                      <p:cBhvr>
                                        <p:cTn id="131" dur="650"/>
                                        <p:tgtEl>
                                          <p:spTgt spid="36"/>
                                        </p:tgtEl>
                                      </p:cBhvr>
                                    </p:animEffect>
                                    <p:anim calcmode="lin" valueType="num">
                                      <p:cBhvr additive="base">
                                        <p:cTn id="132" dur="650" fill="hold"/>
                                        <p:tgtEl>
                                          <p:spTgt spid="36"/>
                                        </p:tgtEl>
                                        <p:attrNameLst>
                                          <p:attrName>ppt_y</p:attrName>
                                        </p:attrNameLst>
                                      </p:cBhvr>
                                      <p:tavLst>
                                        <p:tav tm="0">
                                          <p:val>
                                            <p:strVal val="#ppt_y+.05"/>
                                          </p:val>
                                        </p:tav>
                                        <p:tav tm="100000">
                                          <p:val>
                                            <p:strVal val="#ppt_y"/>
                                          </p:val>
                                        </p:tav>
                                      </p:tavLst>
                                    </p:anim>
                                  </p:childTnLst>
                                </p:cTn>
                              </p:par>
                              <p:par>
                                <p:cTn id="133" presetID="42" presetClass="entr" presetSubtype="0" fill="hold" nodeType="withEffect">
                                  <p:stCondLst>
                                    <p:cond delay="340"/>
                                  </p:stCondLst>
                                  <p:childTnLst>
                                    <p:set>
                                      <p:cBhvr>
                                        <p:cTn id="134" dur="1" fill="hold">
                                          <p:stCondLst>
                                            <p:cond delay="0"/>
                                          </p:stCondLst>
                                        </p:cTn>
                                        <p:tgtEl>
                                          <p:spTgt spid="37"/>
                                        </p:tgtEl>
                                        <p:attrNameLst>
                                          <p:attrName>style.visibility</p:attrName>
                                        </p:attrNameLst>
                                      </p:cBhvr>
                                      <p:to>
                                        <p:strVal val="visible"/>
                                      </p:to>
                                    </p:set>
                                    <p:animEffect transition="in" filter="fade">
                                      <p:cBhvr>
                                        <p:cTn id="135" dur="650"/>
                                        <p:tgtEl>
                                          <p:spTgt spid="37"/>
                                        </p:tgtEl>
                                      </p:cBhvr>
                                    </p:animEffect>
                                    <p:anim calcmode="lin" valueType="num">
                                      <p:cBhvr additive="base">
                                        <p:cTn id="136" dur="650" fill="hold"/>
                                        <p:tgtEl>
                                          <p:spTgt spid="37"/>
                                        </p:tgtEl>
                                        <p:attrNameLst>
                                          <p:attrName>ppt_y</p:attrName>
                                        </p:attrNameLst>
                                      </p:cBhvr>
                                      <p:tavLst>
                                        <p:tav tm="0">
                                          <p:val>
                                            <p:strVal val="#ppt_y+.05"/>
                                          </p:val>
                                        </p:tav>
                                        <p:tav tm="100000">
                                          <p:val>
                                            <p:strVal val="#ppt_y"/>
                                          </p:val>
                                        </p:tav>
                                      </p:tavLst>
                                    </p:anim>
                                  </p:childTnLst>
                                </p:cTn>
                              </p:par>
                              <p:par>
                                <p:cTn id="137" presetID="42" presetClass="entr" presetSubtype="0" fill="hold" nodeType="withEffect">
                                  <p:stCondLst>
                                    <p:cond delay="340"/>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650"/>
                                        <p:tgtEl>
                                          <p:spTgt spid="38"/>
                                        </p:tgtEl>
                                      </p:cBhvr>
                                    </p:animEffect>
                                    <p:anim calcmode="lin" valueType="num">
                                      <p:cBhvr additive="base">
                                        <p:cTn id="140" dur="650" fill="hold"/>
                                        <p:tgtEl>
                                          <p:spTgt spid="38"/>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urtitre"/>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400" b="1" kern="0" spc="300" dirty="0">
                <a:solidFill>
                  <a:srgbClr val="2770A4"/>
                </a:solidFill>
              </a:rPr>
              <a:t> LE CONSTAT</a:t>
            </a:r>
            <a:endParaRPr lang="en-US" sz="1400" dirty="0"/>
          </a:p>
        </p:txBody>
      </p:sp>
      <p:sp>
        <p:nvSpPr>
          <p:cNvPr id="3" name="Text 1"/>
          <p:cNvSpPr>
            <a:spLocks noGrp="1"/>
          </p:cNvSpPr>
          <p:nvPr>
            <p:ph type="title" idx="101" hasCustomPrompt="1"/>
          </p:nvPr>
        </p:nvSpPr>
        <p:spPr>
          <a:xfrm>
            <a:off x="640080" y="713232"/>
            <a:ext cx="10881360" cy="777240"/>
          </a:xfrm>
          <a:prstGeom prst="rect">
            <a:avLst/>
          </a:prstGeom>
          <a:noFill/>
          <a:ln/>
        </p:spPr>
        <p:txBody>
          <a:bodyPr wrap="square" lIns="0" tIns="0" rIns="0" bIns="0" rtlCol="0" anchor="t"/>
          <a:lstStyle/>
          <a:p>
            <a:pPr marL="0" indent="0" algn="l">
              <a:buNone/>
            </a:pPr>
            <a:r>
              <a:rPr lang="en-US" sz="3400" b="1" dirty="0">
                <a:solidFill>
                  <a:schemeClr val="tx2"/>
                </a:solidFill>
              </a:rPr>
              <a:t>Le problème : trouver un dépôt disponible</a:t>
            </a:r>
            <a:endParaRPr lang="en-US" sz="3400" dirty="0"/>
          </a:p>
        </p:txBody>
      </p:sp>
      <p:sp>
        <p:nvSpPr>
          <p:cNvPr id="4" name="Sous-titre"/>
          <p:cNvSpPr txBox="1"/>
          <p:nvPr/>
        </p:nvSpPr>
        <p:spPr>
          <a:xfrm>
            <a:off x="640080" y="1463040"/>
            <a:ext cx="10424160" cy="365760"/>
          </a:xfrm>
          <a:prstGeom prst="rect">
            <a:avLst/>
          </a:prstGeom>
          <a:noFill/>
          <a:ln/>
        </p:spPr>
        <p:txBody>
          <a:bodyPr wrap="square" lIns="0" tIns="0" rIns="0" bIns="0" rtlCol="0" anchor="ctr"/>
          <a:lstStyle/>
          <a:p>
            <a:pPr marL="0" indent="0">
              <a:buNone/>
            </a:pPr>
            <a:r>
              <a:rPr lang="en-US" sz="1600" dirty="0">
                <a:solidFill>
                  <a:schemeClr val="accent5"/>
                </a:solidFill>
              </a:rPr>
              <a:t>Les horaires et les stocks ne sont pas toujours connus avant le déplacement.</a:t>
            </a:r>
            <a:endParaRPr lang="en-US" sz="1600" dirty="0"/>
          </a:p>
        </p:txBody>
      </p:sp>
      <p:sp>
        <p:nvSpPr>
          <p:cNvPr id="5" name="Panneau question"/>
          <p:cNvSpPr/>
          <p:nvPr/>
        </p:nvSpPr>
        <p:spPr>
          <a:xfrm>
            <a:off x="640080" y="2194560"/>
            <a:ext cx="3931920" cy="3931920"/>
          </a:xfrm>
          <a:prstGeom prst="roundRect">
            <a:avLst>
              <a:gd name="adj" fmla="val 5814"/>
            </a:avLst>
          </a:prstGeom>
          <a:solidFill>
            <a:schemeClr val="tx2"/>
          </a:solidFill>
          <a:ln w="12700">
            <a:solidFill>
              <a:schemeClr val="tx2"/>
            </a:solidFill>
            <a:prstDash val="solid"/>
          </a:ln>
          <a:effectLst>
            <a:outerShdw blurRad="203200" dist="63500" dir="5400000" algn="bl" rotWithShape="0">
              <a:srgbClr val="0B1B33">
                <a:alpha val="16000"/>
              </a:srgbClr>
            </a:outerShdw>
          </a:effectLst>
        </p:spPr>
        <p:txBody>
          <a:bodyPr/>
          <a:lstStyle/>
          <a:p>
            <a:endParaRPr/>
          </a:p>
        </p:txBody>
      </p:sp>
      <p:sp>
        <p:nvSpPr>
          <p:cNvPr id="6" name="Point d&amp;apos;interrogation"/>
          <p:cNvSpPr txBox="1"/>
          <p:nvPr/>
        </p:nvSpPr>
        <p:spPr>
          <a:xfrm>
            <a:off x="640080" y="2240280"/>
            <a:ext cx="3931920" cy="1371600"/>
          </a:xfrm>
          <a:prstGeom prst="rect">
            <a:avLst/>
          </a:prstGeom>
          <a:noFill/>
          <a:ln/>
        </p:spPr>
        <p:txBody>
          <a:bodyPr wrap="square" lIns="0" tIns="0" rIns="0" bIns="0" rtlCol="0" anchor="ctr"/>
          <a:lstStyle/>
          <a:p>
            <a:pPr marL="0" indent="0" algn="ctr">
              <a:buNone/>
            </a:pPr>
            <a:r>
              <a:rPr lang="en-US" sz="9600" b="1" dirty="0">
                <a:solidFill>
                  <a:schemeClr val="accent6"/>
                </a:solidFill>
              </a:rPr>
              <a:t>?</a:t>
            </a:r>
            <a:endParaRPr lang="en-US" sz="9600" dirty="0"/>
          </a:p>
        </p:txBody>
      </p:sp>
      <p:sp>
        <p:nvSpPr>
          <p:cNvPr id="7" name="Question centrale"/>
          <p:cNvSpPr txBox="1"/>
          <p:nvPr/>
        </p:nvSpPr>
        <p:spPr>
          <a:xfrm>
            <a:off x="1005840" y="3657600"/>
            <a:ext cx="3200400" cy="2194560"/>
          </a:xfrm>
          <a:prstGeom prst="rect">
            <a:avLst/>
          </a:prstGeom>
          <a:noFill/>
          <a:ln/>
        </p:spPr>
        <p:txBody>
          <a:bodyPr wrap="square" lIns="0" tIns="0" rIns="0" bIns="0" rtlCol="0" anchor="t"/>
          <a:lstStyle/>
          <a:p>
            <a:pPr marL="0" indent="0">
              <a:buNone/>
            </a:pPr>
            <a:r>
              <a:rPr lang="en-US" sz="2600" b="1" dirty="0">
                <a:solidFill>
                  <a:schemeClr val="bg1"/>
                </a:solidFill>
              </a:rPr>
              <a:t>Où trouver une bouteille de gaz, et est-elle vraiment disponible ?</a:t>
            </a:r>
            <a:endParaRPr lang="en-US" sz="2600" dirty="0"/>
          </a:p>
        </p:txBody>
      </p:sp>
      <p:sp>
        <p:nvSpPr>
          <p:cNvPr id="8" name="Carte Longues recherches"/>
          <p:cNvSpPr/>
          <p:nvPr/>
        </p:nvSpPr>
        <p:spPr>
          <a:xfrm>
            <a:off x="4937760" y="2194560"/>
            <a:ext cx="6611112" cy="1188720"/>
          </a:xfrm>
          <a:prstGeom prst="roundRect">
            <a:avLst>
              <a:gd name="adj" fmla="val 13846"/>
            </a:avLst>
          </a:prstGeom>
          <a:solidFill>
            <a:schemeClr val="bg1"/>
          </a:solidFill>
          <a:ln w="12700">
            <a:solidFill>
              <a:schemeClr val="bg1"/>
            </a:solidFill>
            <a:prstDash val="solid"/>
          </a:ln>
          <a:effectLst>
            <a:outerShdw blurRad="152400" dist="38100" dir="5400000" algn="bl" rotWithShape="0">
              <a:srgbClr val="0B1B33">
                <a:alpha val="10000"/>
              </a:srgbClr>
            </a:outerShdw>
          </a:effectLst>
        </p:spPr>
        <p:txBody>
          <a:bodyPr/>
          <a:lstStyle/>
          <a:p>
            <a:endParaRPr/>
          </a:p>
        </p:txBody>
      </p:sp>
      <p:sp>
        <p:nvSpPr>
          <p:cNvPr id="9" name="Longues recherches — pastille"/>
          <p:cNvSpPr/>
          <p:nvPr/>
        </p:nvSpPr>
        <p:spPr>
          <a:xfrm>
            <a:off x="5212080" y="2450592"/>
            <a:ext cx="676656" cy="676656"/>
          </a:xfrm>
          <a:prstGeom prst="ellipse">
            <a:avLst/>
          </a:prstGeom>
          <a:solidFill>
            <a:schemeClr val="accent1"/>
          </a:solidFill>
          <a:ln w="12700">
            <a:solidFill>
              <a:schemeClr val="accent1"/>
            </a:solidFill>
            <a:prstDash val="solid"/>
          </a:ln>
        </p:spPr>
        <p:txBody>
          <a:bodyPr/>
          <a:lstStyle/>
          <a:p>
            <a:endParaRPr/>
          </a:p>
        </p:txBody>
      </p:sp>
      <p:pic>
        <p:nvPicPr>
          <p:cNvPr id="10" name="Longues recherches — icône" descr="Longues recherches"/>
          <p:cNvPicPr>
            <a:picLocks noChangeAspect="1"/>
          </p:cNvPicPr>
          <p:nvPr/>
        </p:nvPicPr>
        <p:blipFill>
          <a:blip r:embed="rId3"/>
          <a:stretch>
            <a:fillRect/>
          </a:stretch>
        </p:blipFill>
        <p:spPr>
          <a:xfrm>
            <a:off x="5381244" y="2619756"/>
            <a:ext cx="338328" cy="338328"/>
          </a:xfrm>
          <a:prstGeom prst="rect">
            <a:avLst/>
          </a:prstGeom>
        </p:spPr>
      </p:pic>
      <p:sp>
        <p:nvSpPr>
          <p:cNvPr id="11" name="Titre Longues recherches"/>
          <p:cNvSpPr txBox="1"/>
          <p:nvPr/>
        </p:nvSpPr>
        <p:spPr>
          <a:xfrm>
            <a:off x="6126480" y="2377440"/>
            <a:ext cx="5212080" cy="365760"/>
          </a:xfrm>
          <a:prstGeom prst="rect">
            <a:avLst/>
          </a:prstGeom>
          <a:noFill/>
          <a:ln/>
        </p:spPr>
        <p:txBody>
          <a:bodyPr wrap="square" lIns="0" tIns="0" rIns="0" bIns="0" rtlCol="0" anchor="ctr"/>
          <a:lstStyle/>
          <a:p>
            <a:pPr marL="0" indent="0">
              <a:buNone/>
            </a:pPr>
            <a:r>
              <a:rPr lang="en-US" sz="2000" b="1" dirty="0">
                <a:solidFill>
                  <a:schemeClr val="tx2"/>
                </a:solidFill>
              </a:rPr>
              <a:t>Longues recherches</a:t>
            </a:r>
            <a:endParaRPr lang="en-US" sz="2000" dirty="0"/>
          </a:p>
        </p:txBody>
      </p:sp>
      <p:sp>
        <p:nvSpPr>
          <p:cNvPr id="12" name="Texte Longues recherches"/>
          <p:cNvSpPr txBox="1"/>
          <p:nvPr/>
        </p:nvSpPr>
        <p:spPr>
          <a:xfrm>
            <a:off x="6126480" y="2761488"/>
            <a:ext cx="5212080" cy="457200"/>
          </a:xfrm>
          <a:prstGeom prst="rect">
            <a:avLst/>
          </a:prstGeom>
          <a:noFill/>
          <a:ln/>
        </p:spPr>
        <p:txBody>
          <a:bodyPr wrap="square" lIns="0" tIns="0" rIns="0" bIns="0" rtlCol="0" anchor="t"/>
          <a:lstStyle/>
          <a:p>
            <a:pPr marL="0" indent="0">
              <a:buNone/>
            </a:pPr>
            <a:r>
              <a:rPr lang="en-US" sz="1500" dirty="0">
                <a:solidFill>
                  <a:schemeClr val="accent5"/>
                </a:solidFill>
              </a:rPr>
              <a:t>Il faut parfois visiter plusieurs dépôts pour trouver le format recherché.</a:t>
            </a:r>
            <a:endParaRPr lang="en-US" sz="1500" dirty="0"/>
          </a:p>
        </p:txBody>
      </p:sp>
      <p:sp>
        <p:nvSpPr>
          <p:cNvPr id="13" name="Carte Ouvert ou fermé ?"/>
          <p:cNvSpPr/>
          <p:nvPr/>
        </p:nvSpPr>
        <p:spPr>
          <a:xfrm>
            <a:off x="4937760" y="3566160"/>
            <a:ext cx="6611112" cy="1188720"/>
          </a:xfrm>
          <a:prstGeom prst="roundRect">
            <a:avLst>
              <a:gd name="adj" fmla="val 13846"/>
            </a:avLst>
          </a:prstGeom>
          <a:solidFill>
            <a:schemeClr val="bg1"/>
          </a:solidFill>
          <a:ln w="12700">
            <a:solidFill>
              <a:schemeClr val="bg1"/>
            </a:solidFill>
            <a:prstDash val="solid"/>
          </a:ln>
          <a:effectLst>
            <a:outerShdw blurRad="152400" dist="38100" dir="5400000" algn="bl" rotWithShape="0">
              <a:srgbClr val="0B1B33">
                <a:alpha val="10000"/>
              </a:srgbClr>
            </a:outerShdw>
          </a:effectLst>
        </p:spPr>
        <p:txBody>
          <a:bodyPr/>
          <a:lstStyle/>
          <a:p>
            <a:endParaRPr/>
          </a:p>
        </p:txBody>
      </p:sp>
      <p:sp>
        <p:nvSpPr>
          <p:cNvPr id="14" name="Ouvert ou fermé ? — pastille"/>
          <p:cNvSpPr/>
          <p:nvPr/>
        </p:nvSpPr>
        <p:spPr>
          <a:xfrm>
            <a:off x="5212080" y="3822192"/>
            <a:ext cx="676656" cy="676656"/>
          </a:xfrm>
          <a:prstGeom prst="ellipse">
            <a:avLst/>
          </a:prstGeom>
          <a:solidFill>
            <a:schemeClr val="accent3"/>
          </a:solidFill>
          <a:ln w="12700">
            <a:solidFill>
              <a:schemeClr val="accent3"/>
            </a:solidFill>
            <a:prstDash val="solid"/>
          </a:ln>
        </p:spPr>
        <p:txBody>
          <a:bodyPr/>
          <a:lstStyle/>
          <a:p>
            <a:endParaRPr/>
          </a:p>
        </p:txBody>
      </p:sp>
      <p:pic>
        <p:nvPicPr>
          <p:cNvPr id="15" name="Ouvert ou fermé ? — icône" descr="Ouvert ou fermé ?"/>
          <p:cNvPicPr>
            <a:picLocks noChangeAspect="1"/>
          </p:cNvPicPr>
          <p:nvPr/>
        </p:nvPicPr>
        <p:blipFill>
          <a:blip r:embed="rId4"/>
          <a:stretch>
            <a:fillRect/>
          </a:stretch>
        </p:blipFill>
        <p:spPr>
          <a:xfrm>
            <a:off x="5381244" y="3991356"/>
            <a:ext cx="338328" cy="338328"/>
          </a:xfrm>
          <a:prstGeom prst="rect">
            <a:avLst/>
          </a:prstGeom>
        </p:spPr>
      </p:pic>
      <p:sp>
        <p:nvSpPr>
          <p:cNvPr id="16" name="Titre Ouvert ou fermé ?"/>
          <p:cNvSpPr txBox="1"/>
          <p:nvPr/>
        </p:nvSpPr>
        <p:spPr>
          <a:xfrm>
            <a:off x="6126480" y="3749040"/>
            <a:ext cx="5212080" cy="365760"/>
          </a:xfrm>
          <a:prstGeom prst="rect">
            <a:avLst/>
          </a:prstGeom>
          <a:noFill/>
          <a:ln/>
        </p:spPr>
        <p:txBody>
          <a:bodyPr wrap="square" lIns="0" tIns="0" rIns="0" bIns="0" rtlCol="0" anchor="ctr"/>
          <a:lstStyle/>
          <a:p>
            <a:pPr marL="0" indent="0">
              <a:buNone/>
            </a:pPr>
            <a:r>
              <a:rPr lang="en-US" sz="2000" b="1" dirty="0">
                <a:solidFill>
                  <a:schemeClr val="tx2"/>
                </a:solidFill>
              </a:rPr>
              <a:t>Ouvert ou fermé ?</a:t>
            </a:r>
            <a:endParaRPr lang="en-US" sz="2000" dirty="0"/>
          </a:p>
        </p:txBody>
      </p:sp>
      <p:sp>
        <p:nvSpPr>
          <p:cNvPr id="17" name="Texte Ouvert ou fermé ?"/>
          <p:cNvSpPr txBox="1"/>
          <p:nvPr/>
        </p:nvSpPr>
        <p:spPr>
          <a:xfrm>
            <a:off x="6126480" y="4133088"/>
            <a:ext cx="5212080" cy="457200"/>
          </a:xfrm>
          <a:prstGeom prst="rect">
            <a:avLst/>
          </a:prstGeom>
          <a:noFill/>
          <a:ln/>
        </p:spPr>
        <p:txBody>
          <a:bodyPr wrap="square" lIns="0" tIns="0" rIns="0" bIns="0" rtlCol="0" anchor="t"/>
          <a:lstStyle/>
          <a:p>
            <a:pPr marL="0" indent="0">
              <a:buNone/>
            </a:pPr>
            <a:r>
              <a:rPr lang="en-US" sz="1500" dirty="0">
                <a:solidFill>
                  <a:schemeClr val="accent5"/>
                </a:solidFill>
              </a:rPr>
              <a:t>Le client ne sait pas toujours si le dépôt est ouvert.</a:t>
            </a:r>
            <a:endParaRPr lang="en-US" sz="1500" dirty="0"/>
          </a:p>
        </p:txBody>
      </p:sp>
      <p:sp>
        <p:nvSpPr>
          <p:cNvPr id="18" name="Carte Stock inconnu"/>
          <p:cNvSpPr/>
          <p:nvPr/>
        </p:nvSpPr>
        <p:spPr>
          <a:xfrm>
            <a:off x="4937760" y="4937760"/>
            <a:ext cx="6611112" cy="1188720"/>
          </a:xfrm>
          <a:prstGeom prst="roundRect">
            <a:avLst>
              <a:gd name="adj" fmla="val 13846"/>
            </a:avLst>
          </a:prstGeom>
          <a:solidFill>
            <a:schemeClr val="bg1"/>
          </a:solidFill>
          <a:ln w="12700">
            <a:solidFill>
              <a:schemeClr val="bg1"/>
            </a:solidFill>
            <a:prstDash val="solid"/>
          </a:ln>
          <a:effectLst>
            <a:outerShdw blurRad="152400" dist="38100" dir="5400000" algn="bl" rotWithShape="0">
              <a:srgbClr val="0B1B33">
                <a:alpha val="10000"/>
              </a:srgbClr>
            </a:outerShdw>
          </a:effectLst>
        </p:spPr>
        <p:txBody>
          <a:bodyPr/>
          <a:lstStyle/>
          <a:p>
            <a:endParaRPr/>
          </a:p>
        </p:txBody>
      </p:sp>
      <p:sp>
        <p:nvSpPr>
          <p:cNvPr id="19" name="Stock inconnu — pastille"/>
          <p:cNvSpPr/>
          <p:nvPr/>
        </p:nvSpPr>
        <p:spPr>
          <a:xfrm>
            <a:off x="5212080" y="5193792"/>
            <a:ext cx="676656" cy="676656"/>
          </a:xfrm>
          <a:prstGeom prst="ellipse">
            <a:avLst/>
          </a:prstGeom>
          <a:solidFill>
            <a:schemeClr val="accent2"/>
          </a:solidFill>
          <a:ln w="12700">
            <a:solidFill>
              <a:schemeClr val="accent2"/>
            </a:solidFill>
            <a:prstDash val="solid"/>
          </a:ln>
        </p:spPr>
        <p:txBody>
          <a:bodyPr/>
          <a:lstStyle/>
          <a:p>
            <a:endParaRPr/>
          </a:p>
        </p:txBody>
      </p:sp>
      <p:pic>
        <p:nvPicPr>
          <p:cNvPr id="20" name="Stock inconnu — icône" descr="Stock inconnu"/>
          <p:cNvPicPr>
            <a:picLocks noChangeAspect="1"/>
          </p:cNvPicPr>
          <p:nvPr/>
        </p:nvPicPr>
        <p:blipFill>
          <a:blip r:embed="rId5"/>
          <a:stretch>
            <a:fillRect/>
          </a:stretch>
        </p:blipFill>
        <p:spPr>
          <a:xfrm>
            <a:off x="5381244" y="5362956"/>
            <a:ext cx="338328" cy="338328"/>
          </a:xfrm>
          <a:prstGeom prst="rect">
            <a:avLst/>
          </a:prstGeom>
        </p:spPr>
      </p:pic>
      <p:sp>
        <p:nvSpPr>
          <p:cNvPr id="21" name="Titre Stock inconnu"/>
          <p:cNvSpPr txBox="1"/>
          <p:nvPr/>
        </p:nvSpPr>
        <p:spPr>
          <a:xfrm>
            <a:off x="6126480" y="5120640"/>
            <a:ext cx="5212080" cy="365760"/>
          </a:xfrm>
          <a:prstGeom prst="rect">
            <a:avLst/>
          </a:prstGeom>
          <a:noFill/>
          <a:ln/>
        </p:spPr>
        <p:txBody>
          <a:bodyPr wrap="square" lIns="0" tIns="0" rIns="0" bIns="0" rtlCol="0" anchor="ctr"/>
          <a:lstStyle/>
          <a:p>
            <a:pPr marL="0" indent="0">
              <a:buNone/>
            </a:pPr>
            <a:r>
              <a:rPr lang="en-US" sz="2000" b="1" dirty="0">
                <a:solidFill>
                  <a:schemeClr val="tx2"/>
                </a:solidFill>
              </a:rPr>
              <a:t>Stock inconnu</a:t>
            </a:r>
            <a:endParaRPr lang="en-US" sz="2000" dirty="0"/>
          </a:p>
        </p:txBody>
      </p:sp>
      <p:sp>
        <p:nvSpPr>
          <p:cNvPr id="22" name="Texte Stock inconnu"/>
          <p:cNvSpPr txBox="1"/>
          <p:nvPr/>
        </p:nvSpPr>
        <p:spPr>
          <a:xfrm>
            <a:off x="6126480" y="5504688"/>
            <a:ext cx="5212080" cy="457200"/>
          </a:xfrm>
          <a:prstGeom prst="rect">
            <a:avLst/>
          </a:prstGeom>
          <a:noFill/>
          <a:ln/>
        </p:spPr>
        <p:txBody>
          <a:bodyPr wrap="square" lIns="0" tIns="0" rIns="0" bIns="0" rtlCol="0" anchor="t"/>
          <a:lstStyle/>
          <a:p>
            <a:pPr marL="0" indent="0">
              <a:buNone/>
            </a:pPr>
            <a:r>
              <a:rPr lang="en-US" sz="1500" dirty="0">
                <a:solidFill>
                  <a:schemeClr val="accent5"/>
                </a:solidFill>
              </a:rPr>
              <a:t>La disponibilité des formats B6, B12 ou B28 n’est pas toujours connue.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50"/>
                                        <p:tgtEl>
                                          <p:spTgt spid="8"/>
                                        </p:tgtEl>
                                      </p:cBhvr>
                                    </p:animEffect>
                                    <p:anim calcmode="lin" valueType="num">
                                      <p:cBhvr additive="base">
                                        <p:cTn id="8" dur="650" fill="hold"/>
                                        <p:tgtEl>
                                          <p:spTgt spid="8"/>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650"/>
                                        <p:tgtEl>
                                          <p:spTgt spid="9"/>
                                        </p:tgtEl>
                                      </p:cBhvr>
                                    </p:animEffect>
                                    <p:anim calcmode="lin" valueType="num">
                                      <p:cBhvr additive="base">
                                        <p:cTn id="12" dur="650" fill="hold"/>
                                        <p:tgtEl>
                                          <p:spTgt spid="9"/>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50"/>
                                        <p:tgtEl>
                                          <p:spTgt spid="10"/>
                                        </p:tgtEl>
                                      </p:cBhvr>
                                    </p:animEffect>
                                    <p:anim calcmode="lin" valueType="num">
                                      <p:cBhvr additive="base">
                                        <p:cTn id="16" dur="650" fill="hold"/>
                                        <p:tgtEl>
                                          <p:spTgt spid="10"/>
                                        </p:tgtEl>
                                        <p:attrNameLst>
                                          <p:attrName>ppt_y</p:attrName>
                                        </p:attrNameLst>
                                      </p:cBhvr>
                                      <p:tavLst>
                                        <p:tav tm="0">
                                          <p:val>
                                            <p:strVal val="#ppt_y+.05"/>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50"/>
                                        <p:tgtEl>
                                          <p:spTgt spid="11"/>
                                        </p:tgtEl>
                                      </p:cBhvr>
                                    </p:animEffect>
                                    <p:anim calcmode="lin" valueType="num">
                                      <p:cBhvr additive="base">
                                        <p:cTn id="20" dur="650" fill="hold"/>
                                        <p:tgtEl>
                                          <p:spTgt spid="11"/>
                                        </p:tgtEl>
                                        <p:attrNameLst>
                                          <p:attrName>ppt_y</p:attrName>
                                        </p:attrNameLst>
                                      </p:cBhvr>
                                      <p:tavLst>
                                        <p:tav tm="0">
                                          <p:val>
                                            <p:strVal val="#ppt_y+.05"/>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650"/>
                                        <p:tgtEl>
                                          <p:spTgt spid="12"/>
                                        </p:tgtEl>
                                      </p:cBhvr>
                                    </p:animEffect>
                                    <p:anim calcmode="lin" valueType="num">
                                      <p:cBhvr additive="base">
                                        <p:cTn id="24" dur="650" fill="hold"/>
                                        <p:tgtEl>
                                          <p:spTgt spid="12"/>
                                        </p:tgtEl>
                                        <p:attrNameLst>
                                          <p:attrName>ppt_y</p:attrName>
                                        </p:attrNameLst>
                                      </p:cBhvr>
                                      <p:tavLst>
                                        <p:tav tm="0">
                                          <p:val>
                                            <p:strVal val="#ppt_y+.05"/>
                                          </p:val>
                                        </p:tav>
                                        <p:tav tm="100000">
                                          <p:val>
                                            <p:strVal val="#ppt_y"/>
                                          </p:val>
                                        </p:tav>
                                      </p:tavLst>
                                    </p:anim>
                                  </p:childTnLst>
                                </p:cTn>
                              </p:par>
                              <p:par>
                                <p:cTn id="25" presetID="42" presetClass="entr" presetSubtype="0" fill="hold" nodeType="withEffect">
                                  <p:stCondLst>
                                    <p:cond delay="17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650"/>
                                        <p:tgtEl>
                                          <p:spTgt spid="5"/>
                                        </p:tgtEl>
                                      </p:cBhvr>
                                    </p:animEffect>
                                    <p:anim calcmode="lin" valueType="num">
                                      <p:cBhvr additive="base">
                                        <p:cTn id="28" dur="650" fill="hold"/>
                                        <p:tgtEl>
                                          <p:spTgt spid="5"/>
                                        </p:tgtEl>
                                        <p:attrNameLst>
                                          <p:attrName>ppt_y</p:attrName>
                                        </p:attrNameLst>
                                      </p:cBhvr>
                                      <p:tavLst>
                                        <p:tav tm="0">
                                          <p:val>
                                            <p:strVal val="#ppt_y+.05"/>
                                          </p:val>
                                        </p:tav>
                                        <p:tav tm="100000">
                                          <p:val>
                                            <p:strVal val="#ppt_y"/>
                                          </p:val>
                                        </p:tav>
                                      </p:tavLst>
                                    </p:anim>
                                  </p:childTnLst>
                                </p:cTn>
                              </p:par>
                              <p:par>
                                <p:cTn id="29" presetID="42" presetClass="entr" presetSubtype="0" fill="hold" nodeType="withEffect">
                                  <p:stCondLst>
                                    <p:cond delay="17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650"/>
                                        <p:tgtEl>
                                          <p:spTgt spid="6"/>
                                        </p:tgtEl>
                                      </p:cBhvr>
                                    </p:animEffect>
                                    <p:anim calcmode="lin" valueType="num">
                                      <p:cBhvr additive="base">
                                        <p:cTn id="32" dur="650" fill="hold"/>
                                        <p:tgtEl>
                                          <p:spTgt spid="6"/>
                                        </p:tgtEl>
                                        <p:attrNameLst>
                                          <p:attrName>ppt_y</p:attrName>
                                        </p:attrNameLst>
                                      </p:cBhvr>
                                      <p:tavLst>
                                        <p:tav tm="0">
                                          <p:val>
                                            <p:strVal val="#ppt_y+.05"/>
                                          </p:val>
                                        </p:tav>
                                        <p:tav tm="100000">
                                          <p:val>
                                            <p:strVal val="#ppt_y"/>
                                          </p:val>
                                        </p:tav>
                                      </p:tavLst>
                                    </p:anim>
                                  </p:childTnLst>
                                </p:cTn>
                              </p:par>
                              <p:par>
                                <p:cTn id="33" presetID="42" presetClass="entr" presetSubtype="0" fill="hold" nodeType="withEffect">
                                  <p:stCondLst>
                                    <p:cond delay="17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650"/>
                                        <p:tgtEl>
                                          <p:spTgt spid="7"/>
                                        </p:tgtEl>
                                      </p:cBhvr>
                                    </p:animEffect>
                                    <p:anim calcmode="lin" valueType="num">
                                      <p:cBhvr additive="base">
                                        <p:cTn id="36" dur="650" fill="hold"/>
                                        <p:tgtEl>
                                          <p:spTgt spid="7"/>
                                        </p:tgtEl>
                                        <p:attrNameLst>
                                          <p:attrName>ppt_y</p:attrName>
                                        </p:attrNameLst>
                                      </p:cBhvr>
                                      <p:tavLst>
                                        <p:tav tm="0">
                                          <p:val>
                                            <p:strVal val="#ppt_y+.05"/>
                                          </p:val>
                                        </p:tav>
                                        <p:tav tm="100000">
                                          <p:val>
                                            <p:strVal val="#ppt_y"/>
                                          </p:val>
                                        </p:tav>
                                      </p:tavLst>
                                    </p:anim>
                                  </p:childTnLst>
                                </p:cTn>
                              </p:par>
                              <p:par>
                                <p:cTn id="37" presetID="42" presetClass="entr" presetSubtype="0" fill="hold" nodeType="withEffect">
                                  <p:stCondLst>
                                    <p:cond delay="34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p:tgtEl>
                                          <p:spTgt spid="13"/>
                                        </p:tgtEl>
                                      </p:cBhvr>
                                    </p:animEffect>
                                    <p:anim calcmode="lin" valueType="num">
                                      <p:cBhvr additive="base">
                                        <p:cTn id="40" dur="650" fill="hold"/>
                                        <p:tgtEl>
                                          <p:spTgt spid="13"/>
                                        </p:tgtEl>
                                        <p:attrNameLst>
                                          <p:attrName>ppt_y</p:attrName>
                                        </p:attrNameLst>
                                      </p:cBhvr>
                                      <p:tavLst>
                                        <p:tav tm="0">
                                          <p:val>
                                            <p:strVal val="#ppt_y+.05"/>
                                          </p:val>
                                        </p:tav>
                                        <p:tav tm="100000">
                                          <p:val>
                                            <p:strVal val="#ppt_y"/>
                                          </p:val>
                                        </p:tav>
                                      </p:tavLst>
                                    </p:anim>
                                  </p:childTnLst>
                                </p:cTn>
                              </p:par>
                              <p:par>
                                <p:cTn id="41" presetID="42" presetClass="entr" presetSubtype="0" fill="hold" nodeType="withEffect">
                                  <p:stCondLst>
                                    <p:cond delay="34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50"/>
                                        <p:tgtEl>
                                          <p:spTgt spid="14"/>
                                        </p:tgtEl>
                                      </p:cBhvr>
                                    </p:animEffect>
                                    <p:anim calcmode="lin" valueType="num">
                                      <p:cBhvr additive="base">
                                        <p:cTn id="44" dur="650" fill="hold"/>
                                        <p:tgtEl>
                                          <p:spTgt spid="14"/>
                                        </p:tgtEl>
                                        <p:attrNameLst>
                                          <p:attrName>ppt_y</p:attrName>
                                        </p:attrNameLst>
                                      </p:cBhvr>
                                      <p:tavLst>
                                        <p:tav tm="0">
                                          <p:val>
                                            <p:strVal val="#ppt_y+.05"/>
                                          </p:val>
                                        </p:tav>
                                        <p:tav tm="100000">
                                          <p:val>
                                            <p:strVal val="#ppt_y"/>
                                          </p:val>
                                        </p:tav>
                                      </p:tavLst>
                                    </p:anim>
                                  </p:childTnLst>
                                </p:cTn>
                              </p:par>
                              <p:par>
                                <p:cTn id="45" presetID="42" presetClass="entr" presetSubtype="0" fill="hold" nodeType="withEffect">
                                  <p:stCondLst>
                                    <p:cond delay="34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50"/>
                                        <p:tgtEl>
                                          <p:spTgt spid="15"/>
                                        </p:tgtEl>
                                      </p:cBhvr>
                                    </p:animEffect>
                                    <p:anim calcmode="lin" valueType="num">
                                      <p:cBhvr additive="base">
                                        <p:cTn id="48" dur="650" fill="hold"/>
                                        <p:tgtEl>
                                          <p:spTgt spid="15"/>
                                        </p:tgtEl>
                                        <p:attrNameLst>
                                          <p:attrName>ppt_y</p:attrName>
                                        </p:attrNameLst>
                                      </p:cBhvr>
                                      <p:tavLst>
                                        <p:tav tm="0">
                                          <p:val>
                                            <p:strVal val="#ppt_y+.05"/>
                                          </p:val>
                                        </p:tav>
                                        <p:tav tm="100000">
                                          <p:val>
                                            <p:strVal val="#ppt_y"/>
                                          </p:val>
                                        </p:tav>
                                      </p:tavLst>
                                    </p:anim>
                                  </p:childTnLst>
                                </p:cTn>
                              </p:par>
                              <p:par>
                                <p:cTn id="49" presetID="42" presetClass="entr" presetSubtype="0" fill="hold" nodeType="withEffect">
                                  <p:stCondLst>
                                    <p:cond delay="34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50"/>
                                        <p:tgtEl>
                                          <p:spTgt spid="16"/>
                                        </p:tgtEl>
                                      </p:cBhvr>
                                    </p:animEffect>
                                    <p:anim calcmode="lin" valueType="num">
                                      <p:cBhvr additive="base">
                                        <p:cTn id="52" dur="650" fill="hold"/>
                                        <p:tgtEl>
                                          <p:spTgt spid="16"/>
                                        </p:tgtEl>
                                        <p:attrNameLst>
                                          <p:attrName>ppt_y</p:attrName>
                                        </p:attrNameLst>
                                      </p:cBhvr>
                                      <p:tavLst>
                                        <p:tav tm="0">
                                          <p:val>
                                            <p:strVal val="#ppt_y+.05"/>
                                          </p:val>
                                        </p:tav>
                                        <p:tav tm="100000">
                                          <p:val>
                                            <p:strVal val="#ppt_y"/>
                                          </p:val>
                                        </p:tav>
                                      </p:tavLst>
                                    </p:anim>
                                  </p:childTnLst>
                                </p:cTn>
                              </p:par>
                              <p:par>
                                <p:cTn id="53" presetID="42" presetClass="entr" presetSubtype="0" fill="hold" nodeType="withEffect">
                                  <p:stCondLst>
                                    <p:cond delay="34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50"/>
                                        <p:tgtEl>
                                          <p:spTgt spid="17"/>
                                        </p:tgtEl>
                                      </p:cBhvr>
                                    </p:animEffect>
                                    <p:anim calcmode="lin" valueType="num">
                                      <p:cBhvr additive="base">
                                        <p:cTn id="56" dur="650" fill="hold"/>
                                        <p:tgtEl>
                                          <p:spTgt spid="17"/>
                                        </p:tgtEl>
                                        <p:attrNameLst>
                                          <p:attrName>ppt_y</p:attrName>
                                        </p:attrNameLst>
                                      </p:cBhvr>
                                      <p:tavLst>
                                        <p:tav tm="0">
                                          <p:val>
                                            <p:strVal val="#ppt_y+.05"/>
                                          </p:val>
                                        </p:tav>
                                        <p:tav tm="100000">
                                          <p:val>
                                            <p:strVal val="#ppt_y"/>
                                          </p:val>
                                        </p:tav>
                                      </p:tavLst>
                                    </p:anim>
                                  </p:childTnLst>
                                </p:cTn>
                              </p:par>
                              <p:par>
                                <p:cTn id="57" presetID="42" presetClass="entr" presetSubtype="0" fill="hold" nodeType="withEffect">
                                  <p:stCondLst>
                                    <p:cond delay="51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50"/>
                                        <p:tgtEl>
                                          <p:spTgt spid="18"/>
                                        </p:tgtEl>
                                      </p:cBhvr>
                                    </p:animEffect>
                                    <p:anim calcmode="lin" valueType="num">
                                      <p:cBhvr additive="base">
                                        <p:cTn id="60" dur="650" fill="hold"/>
                                        <p:tgtEl>
                                          <p:spTgt spid="18"/>
                                        </p:tgtEl>
                                        <p:attrNameLst>
                                          <p:attrName>ppt_y</p:attrName>
                                        </p:attrNameLst>
                                      </p:cBhvr>
                                      <p:tavLst>
                                        <p:tav tm="0">
                                          <p:val>
                                            <p:strVal val="#ppt_y+.05"/>
                                          </p:val>
                                        </p:tav>
                                        <p:tav tm="100000">
                                          <p:val>
                                            <p:strVal val="#ppt_y"/>
                                          </p:val>
                                        </p:tav>
                                      </p:tavLst>
                                    </p:anim>
                                  </p:childTnLst>
                                </p:cTn>
                              </p:par>
                              <p:par>
                                <p:cTn id="61" presetID="42" presetClass="entr" presetSubtype="0" fill="hold" nodeType="withEffect">
                                  <p:stCondLst>
                                    <p:cond delay="51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50"/>
                                        <p:tgtEl>
                                          <p:spTgt spid="19"/>
                                        </p:tgtEl>
                                      </p:cBhvr>
                                    </p:animEffect>
                                    <p:anim calcmode="lin" valueType="num">
                                      <p:cBhvr additive="base">
                                        <p:cTn id="64" dur="650" fill="hold"/>
                                        <p:tgtEl>
                                          <p:spTgt spid="19"/>
                                        </p:tgtEl>
                                        <p:attrNameLst>
                                          <p:attrName>ppt_y</p:attrName>
                                        </p:attrNameLst>
                                      </p:cBhvr>
                                      <p:tavLst>
                                        <p:tav tm="0">
                                          <p:val>
                                            <p:strVal val="#ppt_y+.05"/>
                                          </p:val>
                                        </p:tav>
                                        <p:tav tm="100000">
                                          <p:val>
                                            <p:strVal val="#ppt_y"/>
                                          </p:val>
                                        </p:tav>
                                      </p:tavLst>
                                    </p:anim>
                                  </p:childTnLst>
                                </p:cTn>
                              </p:par>
                              <p:par>
                                <p:cTn id="65" presetID="42" presetClass="entr" presetSubtype="0" fill="hold" nodeType="withEffect">
                                  <p:stCondLst>
                                    <p:cond delay="51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50"/>
                                        <p:tgtEl>
                                          <p:spTgt spid="20"/>
                                        </p:tgtEl>
                                      </p:cBhvr>
                                    </p:animEffect>
                                    <p:anim calcmode="lin" valueType="num">
                                      <p:cBhvr additive="base">
                                        <p:cTn id="68" dur="650" fill="hold"/>
                                        <p:tgtEl>
                                          <p:spTgt spid="20"/>
                                        </p:tgtEl>
                                        <p:attrNameLst>
                                          <p:attrName>ppt_y</p:attrName>
                                        </p:attrNameLst>
                                      </p:cBhvr>
                                      <p:tavLst>
                                        <p:tav tm="0">
                                          <p:val>
                                            <p:strVal val="#ppt_y+.05"/>
                                          </p:val>
                                        </p:tav>
                                        <p:tav tm="100000">
                                          <p:val>
                                            <p:strVal val="#ppt_y"/>
                                          </p:val>
                                        </p:tav>
                                      </p:tavLst>
                                    </p:anim>
                                  </p:childTnLst>
                                </p:cTn>
                              </p:par>
                              <p:par>
                                <p:cTn id="69" presetID="42" presetClass="entr" presetSubtype="0" fill="hold" nodeType="withEffect">
                                  <p:stCondLst>
                                    <p:cond delay="51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650"/>
                                        <p:tgtEl>
                                          <p:spTgt spid="21"/>
                                        </p:tgtEl>
                                      </p:cBhvr>
                                    </p:animEffect>
                                    <p:anim calcmode="lin" valueType="num">
                                      <p:cBhvr additive="base">
                                        <p:cTn id="72" dur="650" fill="hold"/>
                                        <p:tgtEl>
                                          <p:spTgt spid="21"/>
                                        </p:tgtEl>
                                        <p:attrNameLst>
                                          <p:attrName>ppt_y</p:attrName>
                                        </p:attrNameLst>
                                      </p:cBhvr>
                                      <p:tavLst>
                                        <p:tav tm="0">
                                          <p:val>
                                            <p:strVal val="#ppt_y+.05"/>
                                          </p:val>
                                        </p:tav>
                                        <p:tav tm="100000">
                                          <p:val>
                                            <p:strVal val="#ppt_y"/>
                                          </p:val>
                                        </p:tav>
                                      </p:tavLst>
                                    </p:anim>
                                  </p:childTnLst>
                                </p:cTn>
                              </p:par>
                              <p:par>
                                <p:cTn id="73" presetID="42" presetClass="entr" presetSubtype="0" fill="hold" nodeType="withEffect">
                                  <p:stCondLst>
                                    <p:cond delay="51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650"/>
                                        <p:tgtEl>
                                          <p:spTgt spid="22"/>
                                        </p:tgtEl>
                                      </p:cBhvr>
                                    </p:animEffect>
                                    <p:anim calcmode="lin" valueType="num">
                                      <p:cBhvr additive="base">
                                        <p:cTn id="76" dur="650" fill="hold"/>
                                        <p:tgtEl>
                                          <p:spTgt spid="2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a:xfrm>
            <a:off x="640080" y="2103120"/>
            <a:ext cx="7498079" cy="1097280"/>
          </a:xfrm>
        </p:spPr>
        <p:txBody>
          <a:bodyPr lIns="0" tIns="0" rIns="0" bIns="0"/>
          <a:lstStyle/>
          <a:p>
            <a:r>
              <a:rPr sz="5400"/>
              <a:t>Développement</a:t>
            </a:r>
          </a:p>
        </p:txBody>
      </p:sp>
      <p:sp>
        <p:nvSpPr>
          <p:cNvPr id="3" name="Surtitre"/>
          <p:cNvSpPr txBox="1"/>
          <p:nvPr/>
        </p:nvSpPr>
        <p:spPr>
          <a:xfrm>
            <a:off x="731519" y="1506974"/>
            <a:ext cx="7315200" cy="184666"/>
          </a:xfrm>
          <a:prstGeom prst="rect">
            <a:avLst/>
          </a:prstGeom>
          <a:noFill/>
        </p:spPr>
        <p:txBody>
          <a:bodyPr wrap="square" lIns="0" tIns="0" rIns="0" bIns="0">
            <a:spAutoFit/>
          </a:bodyPr>
          <a:lstStyle/>
          <a:p>
            <a:r>
              <a:rPr lang="fr-FR" sz="1200" b="1" spc="400" dirty="0">
                <a:solidFill>
                  <a:srgbClr val="5FD3A6"/>
                </a:solidFill>
              </a:rPr>
              <a:t>PARTIE 2</a:t>
            </a:r>
          </a:p>
        </p:txBody>
      </p:sp>
      <p:sp>
        <p:nvSpPr>
          <p:cNvPr id="4" name="Description partie"/>
          <p:cNvSpPr txBox="1"/>
          <p:nvPr/>
        </p:nvSpPr>
        <p:spPr>
          <a:xfrm>
            <a:off x="640080" y="3429000"/>
            <a:ext cx="6309360" cy="1188720"/>
          </a:xfrm>
          <a:prstGeom prst="rect">
            <a:avLst/>
          </a:prstGeom>
          <a:noFill/>
        </p:spPr>
        <p:txBody>
          <a:bodyPr wrap="square" lIns="0" tIns="0" rIns="0" bIns="0">
            <a:spAutoFit/>
          </a:bodyPr>
          <a:lstStyle/>
          <a:p>
            <a:r>
              <a:rPr sz="2000" b="0">
                <a:solidFill>
                  <a:srgbClr val="D6E4F5"/>
                </a:solidFill>
              </a:rPr>
              <a:t>Notre solution : l’application YaGaz, ses écrans clés, ses fonctionnalités et son architecture.</a:t>
            </a:r>
          </a:p>
        </p:txBody>
      </p:sp>
      <p:sp>
        <p:nvSpPr>
          <p:cNvPr id="5" name="Grand numéro"/>
          <p:cNvSpPr txBox="1"/>
          <p:nvPr/>
        </p:nvSpPr>
        <p:spPr>
          <a:xfrm>
            <a:off x="7589520" y="502920"/>
            <a:ext cx="4206240" cy="5669280"/>
          </a:xfrm>
          <a:prstGeom prst="rect">
            <a:avLst/>
          </a:prstGeom>
          <a:noFill/>
        </p:spPr>
        <p:txBody>
          <a:bodyPr wrap="square" lIns="0" tIns="0" rIns="0" bIns="0">
            <a:spAutoFit/>
          </a:bodyPr>
          <a:lstStyle/>
          <a:p>
            <a:pPr algn="ctr"/>
            <a:r>
              <a:rPr sz="33000" b="1">
                <a:solidFill>
                  <a:srgbClr val="5FD3A6">
                    <a:alpha val="34000"/>
                  </a:srgbClr>
                </a:solidFill>
              </a:rPr>
              <a:t>2</a:t>
            </a:r>
          </a:p>
        </p:txBody>
      </p:sp>
      <p:sp>
        <p:nvSpPr>
          <p:cNvPr id="6" name="Repère 1"/>
          <p:cNvSpPr/>
          <p:nvPr/>
        </p:nvSpPr>
        <p:spPr>
          <a:xfrm>
            <a:off x="640080" y="5532120"/>
            <a:ext cx="2011680" cy="91440"/>
          </a:xfrm>
          <a:prstGeom prst="roundRect">
            <a:avLst>
              <a:gd name="adj" fmla="val 50000"/>
            </a:avLst>
          </a:prstGeom>
          <a:solidFill>
            <a:srgbClr val="FFFF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père texte 1"/>
          <p:cNvSpPr txBox="1"/>
          <p:nvPr/>
        </p:nvSpPr>
        <p:spPr>
          <a:xfrm>
            <a:off x="640080" y="5715000"/>
            <a:ext cx="2011680" cy="274320"/>
          </a:xfrm>
          <a:prstGeom prst="rect">
            <a:avLst/>
          </a:prstGeom>
          <a:noFill/>
        </p:spPr>
        <p:txBody>
          <a:bodyPr wrap="square" lIns="0" tIns="0" rIns="0" bIns="0">
            <a:spAutoFit/>
          </a:bodyPr>
          <a:lstStyle/>
          <a:p>
            <a:r>
              <a:rPr sz="1200" b="0">
                <a:solidFill>
                  <a:srgbClr val="8DB9E0"/>
                </a:solidFill>
              </a:rPr>
              <a:t>Introduction</a:t>
            </a:r>
          </a:p>
        </p:txBody>
      </p:sp>
      <p:sp>
        <p:nvSpPr>
          <p:cNvPr id="8" name="Repère 2"/>
          <p:cNvSpPr/>
          <p:nvPr/>
        </p:nvSpPr>
        <p:spPr>
          <a:xfrm>
            <a:off x="2834639" y="5532120"/>
            <a:ext cx="2011680" cy="91440"/>
          </a:xfrm>
          <a:prstGeom prst="roundRect">
            <a:avLst>
              <a:gd name="adj" fmla="val 50000"/>
            </a:avLst>
          </a:prstGeom>
          <a:solidFill>
            <a:srgbClr val="5FD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père texte 2"/>
          <p:cNvSpPr txBox="1"/>
          <p:nvPr/>
        </p:nvSpPr>
        <p:spPr>
          <a:xfrm>
            <a:off x="2834639" y="5715000"/>
            <a:ext cx="2011680" cy="274320"/>
          </a:xfrm>
          <a:prstGeom prst="rect">
            <a:avLst/>
          </a:prstGeom>
          <a:noFill/>
        </p:spPr>
        <p:txBody>
          <a:bodyPr wrap="square" lIns="0" tIns="0" rIns="0" bIns="0">
            <a:spAutoFit/>
          </a:bodyPr>
          <a:lstStyle/>
          <a:p>
            <a:r>
              <a:rPr sz="1200" b="1">
                <a:solidFill>
                  <a:srgbClr val="FFFFFF"/>
                </a:solidFill>
              </a:rPr>
              <a:t>Développement</a:t>
            </a:r>
          </a:p>
        </p:txBody>
      </p:sp>
      <p:sp>
        <p:nvSpPr>
          <p:cNvPr id="10" name="Repère 3"/>
          <p:cNvSpPr/>
          <p:nvPr/>
        </p:nvSpPr>
        <p:spPr>
          <a:xfrm>
            <a:off x="5029200" y="5532120"/>
            <a:ext cx="2011680" cy="91440"/>
          </a:xfrm>
          <a:prstGeom prst="roundRect">
            <a:avLst>
              <a:gd name="adj" fmla="val 50000"/>
            </a:avLst>
          </a:prstGeom>
          <a:solidFill>
            <a:srgbClr val="FFFF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père texte 3"/>
          <p:cNvSpPr txBox="1"/>
          <p:nvPr/>
        </p:nvSpPr>
        <p:spPr>
          <a:xfrm>
            <a:off x="5029200" y="5715000"/>
            <a:ext cx="2011680" cy="274320"/>
          </a:xfrm>
          <a:prstGeom prst="rect">
            <a:avLst/>
          </a:prstGeom>
          <a:noFill/>
        </p:spPr>
        <p:txBody>
          <a:bodyPr wrap="square" lIns="0" tIns="0" rIns="0" bIns="0">
            <a:spAutoFit/>
          </a:bodyPr>
          <a:lstStyle/>
          <a:p>
            <a:r>
              <a:rPr sz="1200" b="0">
                <a:solidFill>
                  <a:srgbClr val="8DB9E0"/>
                </a:solidFill>
              </a:rPr>
              <a:t>Conclusion</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50"/>
                                        <p:tgtEl>
                                          <p:spTgt spid="2"/>
                                        </p:tgtEl>
                                      </p:cBhvr>
                                    </p:animEffect>
                                    <p:anim calcmode="lin" valueType="num">
                                      <p:cBhvr additive="base">
                                        <p:cTn id="8" dur="650" fill="hold"/>
                                        <p:tgtEl>
                                          <p:spTgt spid="2"/>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17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50"/>
                                        <p:tgtEl>
                                          <p:spTgt spid="5"/>
                                        </p:tgtEl>
                                      </p:cBhvr>
                                    </p:animEffect>
                                    <p:anim calcmode="lin" valueType="num">
                                      <p:cBhvr additive="base">
                                        <p:cTn id="12" dur="650" fill="hold"/>
                                        <p:tgtEl>
                                          <p:spTgt spid="5"/>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34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p:tgtEl>
                                          <p:spTgt spid="4"/>
                                        </p:tgtEl>
                                      </p:cBhvr>
                                    </p:animEffect>
                                    <p:anim calcmode="lin" valueType="num">
                                      <p:cBhvr additive="base">
                                        <p:cTn id="16" dur="650" fill="hold"/>
                                        <p:tgtEl>
                                          <p:spTgt spid="4"/>
                                        </p:tgtEl>
                                        <p:attrNameLst>
                                          <p:attrName>ppt_y</p:attrName>
                                        </p:attrNameLst>
                                      </p:cBhvr>
                                      <p:tavLst>
                                        <p:tav tm="0">
                                          <p:val>
                                            <p:strVal val="#ppt_y+.05"/>
                                          </p:val>
                                        </p:tav>
                                        <p:tav tm="100000">
                                          <p:val>
                                            <p:strVal val="#ppt_y"/>
                                          </p:val>
                                        </p:tav>
                                      </p:tavLst>
                                    </p:anim>
                                  </p:childTnLst>
                                </p:cTn>
                              </p:par>
                              <p:par>
                                <p:cTn id="17" presetID="10" presetClass="entr" presetSubtype="0" fill="hold" nodeType="withEffect">
                                  <p:stCondLst>
                                    <p:cond delay="5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50"/>
                                        <p:tgtEl>
                                          <p:spTgt spid="6"/>
                                        </p:tgtEl>
                                      </p:cBhvr>
                                    </p:animEffect>
                                  </p:childTnLst>
                                </p:cTn>
                              </p:par>
                              <p:par>
                                <p:cTn id="20" presetID="10" presetClass="entr" presetSubtype="0" fill="hold" nodeType="withEffect">
                                  <p:stCondLst>
                                    <p:cond delay="6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p:tgtEl>
                                          <p:spTgt spid="7"/>
                                        </p:tgtEl>
                                      </p:cBhvr>
                                    </p:animEffect>
                                  </p:childTnLst>
                                </p:cTn>
                              </p:par>
                              <p:par>
                                <p:cTn id="23" presetID="10" presetClass="entr" presetSubtype="0" fill="hold" nodeType="withEffect">
                                  <p:stCondLst>
                                    <p:cond delay="8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50"/>
                                        <p:tgtEl>
                                          <p:spTgt spid="8"/>
                                        </p:tgtEl>
                                      </p:cBhvr>
                                    </p:animEffect>
                                  </p:childTnLst>
                                </p:cTn>
                              </p:par>
                              <p:par>
                                <p:cTn id="26" presetID="10" presetClass="entr" presetSubtype="0" fill="hold" nodeType="withEffect">
                                  <p:stCondLst>
                                    <p:cond delay="102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50"/>
                                        <p:tgtEl>
                                          <p:spTgt spid="9"/>
                                        </p:tgtEl>
                                      </p:cBhvr>
                                    </p:animEffect>
                                  </p:childTnLst>
                                </p:cTn>
                              </p:par>
                              <p:par>
                                <p:cTn id="29" presetID="10" presetClass="entr" presetSubtype="0" fill="hold" nodeType="withEffect">
                                  <p:stCondLst>
                                    <p:cond delay="119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50"/>
                                        <p:tgtEl>
                                          <p:spTgt spid="10"/>
                                        </p:tgtEl>
                                      </p:cBhvr>
                                    </p:animEffect>
                                  </p:childTnLst>
                                </p:cTn>
                              </p:par>
                              <p:par>
                                <p:cTn id="32" presetID="10" presetClass="entr" presetSubtype="0" fill="hold" nodeType="withEffect">
                                  <p:stCondLst>
                                    <p:cond delay="1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urtitre"/>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300" dirty="0">
                <a:solidFill>
                  <a:srgbClr val="5FD3A6"/>
                </a:solidFill>
              </a:rPr>
              <a:t> LA SOLUTION</a:t>
            </a:r>
            <a:endParaRPr lang="en-US" sz="1200" dirty="0"/>
          </a:p>
        </p:txBody>
      </p:sp>
      <p:sp>
        <p:nvSpPr>
          <p:cNvPr id="3" name="Text 1"/>
          <p:cNvSpPr>
            <a:spLocks noGrp="1"/>
          </p:cNvSpPr>
          <p:nvPr>
            <p:ph type="title" idx="101" hasCustomPrompt="1"/>
          </p:nvPr>
        </p:nvSpPr>
        <p:spPr>
          <a:xfrm>
            <a:off x="640080" y="713232"/>
            <a:ext cx="10881360" cy="777240"/>
          </a:xfrm>
          <a:prstGeom prst="rect">
            <a:avLst/>
          </a:prstGeom>
          <a:noFill/>
          <a:ln/>
        </p:spPr>
        <p:txBody>
          <a:bodyPr wrap="square" lIns="0" tIns="0" rIns="0" bIns="0" rtlCol="0" anchor="t"/>
          <a:lstStyle/>
          <a:p>
            <a:pPr marL="0" indent="0" algn="l">
              <a:buNone/>
            </a:pPr>
            <a:r>
              <a:rPr lang="en-US" sz="3400" b="1" dirty="0">
                <a:solidFill>
                  <a:schemeClr val="bg1"/>
                </a:solidFill>
              </a:rPr>
              <a:t>La solution proposée par YaGaz</a:t>
            </a:r>
            <a:endParaRPr lang="en-US" sz="3400" dirty="0"/>
          </a:p>
        </p:txBody>
      </p:sp>
      <p:sp>
        <p:nvSpPr>
          <p:cNvPr id="4" name="Sous-titre"/>
          <p:cNvSpPr txBox="1"/>
          <p:nvPr/>
        </p:nvSpPr>
        <p:spPr>
          <a:xfrm>
            <a:off x="640080" y="1463040"/>
            <a:ext cx="5486400" cy="365760"/>
          </a:xfrm>
          <a:prstGeom prst="rect">
            <a:avLst/>
          </a:prstGeom>
          <a:noFill/>
          <a:ln/>
        </p:spPr>
        <p:txBody>
          <a:bodyPr wrap="square" lIns="0" tIns="0" rIns="0" bIns="0" rtlCol="0" anchor="ctr"/>
          <a:lstStyle/>
          <a:p>
            <a:pPr marL="0" indent="0">
              <a:buNone/>
            </a:pPr>
            <a:r>
              <a:rPr lang="en-US" sz="1600" dirty="0">
                <a:solidFill>
                  <a:schemeClr val="accent6"/>
                </a:solidFill>
              </a:rPr>
              <a:t>Une seule application pour trouver, comparer et contacter.</a:t>
            </a:r>
            <a:endParaRPr lang="en-US" sz="1600" dirty="0"/>
          </a:p>
        </p:txBody>
      </p:sp>
      <p:sp>
        <p:nvSpPr>
          <p:cNvPr id="5" name="Carte Trouver"/>
          <p:cNvSpPr/>
          <p:nvPr/>
        </p:nvSpPr>
        <p:spPr>
          <a:xfrm>
            <a:off x="640080" y="2331720"/>
            <a:ext cx="5394960" cy="1097280"/>
          </a:xfrm>
          <a:prstGeom prst="roundRect">
            <a:avLst>
              <a:gd name="adj" fmla="val 16667"/>
            </a:avLst>
          </a:prstGeom>
          <a:solidFill>
            <a:schemeClr val="bg1">
              <a:alpha val="7000"/>
            </a:schemeClr>
          </a:solidFill>
          <a:ln w="9525">
            <a:solidFill>
              <a:schemeClr val="accent6">
                <a:alpha val="45000"/>
              </a:schemeClr>
            </a:solidFill>
            <a:prstDash val="solid"/>
          </a:ln>
        </p:spPr>
        <p:txBody>
          <a:bodyPr/>
          <a:lstStyle/>
          <a:p>
            <a:endParaRPr/>
          </a:p>
        </p:txBody>
      </p:sp>
      <p:sp>
        <p:nvSpPr>
          <p:cNvPr id="6" name="Trouver — pastille"/>
          <p:cNvSpPr/>
          <p:nvPr/>
        </p:nvSpPr>
        <p:spPr>
          <a:xfrm>
            <a:off x="896112" y="2551176"/>
            <a:ext cx="658368" cy="658368"/>
          </a:xfrm>
          <a:prstGeom prst="ellipse">
            <a:avLst/>
          </a:prstGeom>
          <a:solidFill>
            <a:schemeClr val="accent6"/>
          </a:solidFill>
          <a:ln w="12700">
            <a:solidFill>
              <a:schemeClr val="accent6"/>
            </a:solidFill>
            <a:prstDash val="solid"/>
          </a:ln>
        </p:spPr>
        <p:txBody>
          <a:bodyPr/>
          <a:lstStyle/>
          <a:p>
            <a:endParaRPr/>
          </a:p>
        </p:txBody>
      </p:sp>
      <p:pic>
        <p:nvPicPr>
          <p:cNvPr id="7" name="Trouver — icône" descr="Trouver"/>
          <p:cNvPicPr>
            <a:picLocks noChangeAspect="1"/>
          </p:cNvPicPr>
          <p:nvPr/>
        </p:nvPicPr>
        <p:blipFill>
          <a:blip r:embed="rId3"/>
          <a:stretch>
            <a:fillRect/>
          </a:stretch>
        </p:blipFill>
        <p:spPr>
          <a:xfrm>
            <a:off x="1060704" y="2715768"/>
            <a:ext cx="329184" cy="329184"/>
          </a:xfrm>
          <a:prstGeom prst="rect">
            <a:avLst/>
          </a:prstGeom>
        </p:spPr>
      </p:pic>
      <p:sp>
        <p:nvSpPr>
          <p:cNvPr id="8" name="Titre Trouver"/>
          <p:cNvSpPr txBox="1"/>
          <p:nvPr/>
        </p:nvSpPr>
        <p:spPr>
          <a:xfrm>
            <a:off x="1783080" y="2478024"/>
            <a:ext cx="4023360" cy="365760"/>
          </a:xfrm>
          <a:prstGeom prst="rect">
            <a:avLst/>
          </a:prstGeom>
          <a:noFill/>
          <a:ln/>
        </p:spPr>
        <p:txBody>
          <a:bodyPr wrap="square" lIns="0" tIns="0" rIns="0" bIns="0" rtlCol="0" anchor="ctr"/>
          <a:lstStyle/>
          <a:p>
            <a:pPr marL="0" indent="0">
              <a:buNone/>
            </a:pPr>
            <a:r>
              <a:rPr lang="en-US" sz="2200" b="1" dirty="0">
                <a:solidFill>
                  <a:schemeClr val="bg1"/>
                </a:solidFill>
              </a:rPr>
              <a:t>Trouver</a:t>
            </a:r>
            <a:endParaRPr lang="en-US" sz="2200" dirty="0"/>
          </a:p>
        </p:txBody>
      </p:sp>
      <p:sp>
        <p:nvSpPr>
          <p:cNvPr id="9" name="Texte Trouver"/>
          <p:cNvSpPr txBox="1"/>
          <p:nvPr/>
        </p:nvSpPr>
        <p:spPr>
          <a:xfrm>
            <a:off x="1783080" y="2862072"/>
            <a:ext cx="4023360" cy="457200"/>
          </a:xfrm>
          <a:prstGeom prst="rect">
            <a:avLst/>
          </a:prstGeom>
          <a:noFill/>
          <a:ln/>
        </p:spPr>
        <p:txBody>
          <a:bodyPr wrap="square" lIns="0" tIns="0" rIns="0" bIns="0" rtlCol="0" anchor="t"/>
          <a:lstStyle/>
          <a:p>
            <a:pPr marL="0" indent="0">
              <a:buNone/>
            </a:pPr>
            <a:r>
              <a:rPr lang="en-US" sz="1400" dirty="0">
                <a:solidFill>
                  <a:srgbClr val="D6E4F5"/>
                </a:solidFill>
              </a:rPr>
              <a:t>Repérer les dépôts proches sur une carte ou dans une liste.</a:t>
            </a:r>
            <a:endParaRPr lang="en-US" sz="1400" dirty="0"/>
          </a:p>
        </p:txBody>
      </p:sp>
      <p:sp>
        <p:nvSpPr>
          <p:cNvPr id="10" name="Carte Comparer"/>
          <p:cNvSpPr/>
          <p:nvPr/>
        </p:nvSpPr>
        <p:spPr>
          <a:xfrm>
            <a:off x="640080" y="3657600"/>
            <a:ext cx="5394960" cy="1097280"/>
          </a:xfrm>
          <a:prstGeom prst="roundRect">
            <a:avLst>
              <a:gd name="adj" fmla="val 16667"/>
            </a:avLst>
          </a:prstGeom>
          <a:solidFill>
            <a:schemeClr val="bg1">
              <a:alpha val="7000"/>
            </a:schemeClr>
          </a:solidFill>
          <a:ln w="9525">
            <a:solidFill>
              <a:schemeClr val="accent6">
                <a:alpha val="45000"/>
              </a:schemeClr>
            </a:solidFill>
            <a:prstDash val="solid"/>
          </a:ln>
        </p:spPr>
        <p:txBody>
          <a:bodyPr/>
          <a:lstStyle/>
          <a:p>
            <a:endParaRPr/>
          </a:p>
        </p:txBody>
      </p:sp>
      <p:sp>
        <p:nvSpPr>
          <p:cNvPr id="11" name="Comparer — pastille"/>
          <p:cNvSpPr/>
          <p:nvPr/>
        </p:nvSpPr>
        <p:spPr>
          <a:xfrm>
            <a:off x="896112" y="3877056"/>
            <a:ext cx="658368" cy="658368"/>
          </a:xfrm>
          <a:prstGeom prst="ellipse">
            <a:avLst/>
          </a:prstGeom>
          <a:solidFill>
            <a:schemeClr val="accent2"/>
          </a:solidFill>
          <a:ln w="12700">
            <a:solidFill>
              <a:schemeClr val="accent2"/>
            </a:solidFill>
            <a:prstDash val="solid"/>
          </a:ln>
        </p:spPr>
        <p:txBody>
          <a:bodyPr/>
          <a:lstStyle/>
          <a:p>
            <a:endParaRPr/>
          </a:p>
        </p:txBody>
      </p:sp>
      <p:pic>
        <p:nvPicPr>
          <p:cNvPr id="12" name="Comparer — icône" descr="Comparer"/>
          <p:cNvPicPr>
            <a:picLocks noChangeAspect="1"/>
          </p:cNvPicPr>
          <p:nvPr/>
        </p:nvPicPr>
        <p:blipFill>
          <a:blip r:embed="rId4"/>
          <a:stretch>
            <a:fillRect/>
          </a:stretch>
        </p:blipFill>
        <p:spPr>
          <a:xfrm>
            <a:off x="1060704" y="4041648"/>
            <a:ext cx="329184" cy="329184"/>
          </a:xfrm>
          <a:prstGeom prst="rect">
            <a:avLst/>
          </a:prstGeom>
        </p:spPr>
      </p:pic>
      <p:sp>
        <p:nvSpPr>
          <p:cNvPr id="13" name="Titre Comparer"/>
          <p:cNvSpPr txBox="1"/>
          <p:nvPr/>
        </p:nvSpPr>
        <p:spPr>
          <a:xfrm>
            <a:off x="1783080" y="3803904"/>
            <a:ext cx="4023360" cy="365760"/>
          </a:xfrm>
          <a:prstGeom prst="rect">
            <a:avLst/>
          </a:prstGeom>
          <a:noFill/>
          <a:ln/>
        </p:spPr>
        <p:txBody>
          <a:bodyPr wrap="square" lIns="0" tIns="0" rIns="0" bIns="0" rtlCol="0" anchor="ctr"/>
          <a:lstStyle/>
          <a:p>
            <a:pPr marL="0" indent="0">
              <a:buNone/>
            </a:pPr>
            <a:r>
              <a:rPr lang="en-US" sz="2200" b="1" dirty="0">
                <a:solidFill>
                  <a:schemeClr val="bg1"/>
                </a:solidFill>
              </a:rPr>
              <a:t>Comparer</a:t>
            </a:r>
            <a:endParaRPr lang="en-US" sz="2200" dirty="0"/>
          </a:p>
        </p:txBody>
      </p:sp>
      <p:sp>
        <p:nvSpPr>
          <p:cNvPr id="14" name="Texte Comparer"/>
          <p:cNvSpPr txBox="1"/>
          <p:nvPr/>
        </p:nvSpPr>
        <p:spPr>
          <a:xfrm>
            <a:off x="1783080" y="4187952"/>
            <a:ext cx="4023360" cy="457200"/>
          </a:xfrm>
          <a:prstGeom prst="rect">
            <a:avLst/>
          </a:prstGeom>
          <a:noFill/>
          <a:ln/>
        </p:spPr>
        <p:txBody>
          <a:bodyPr wrap="square" lIns="0" tIns="0" rIns="0" bIns="0" rtlCol="0" anchor="t"/>
          <a:lstStyle/>
          <a:p>
            <a:pPr marL="0" indent="0">
              <a:buNone/>
            </a:pPr>
            <a:r>
              <a:rPr lang="en-US" sz="1400" dirty="0">
                <a:solidFill>
                  <a:srgbClr val="D6E4F5"/>
                </a:solidFill>
              </a:rPr>
              <a:t>Consulter les formats, marques et prix renseignés.</a:t>
            </a:r>
            <a:endParaRPr lang="en-US" sz="1400" dirty="0"/>
          </a:p>
        </p:txBody>
      </p:sp>
      <p:sp>
        <p:nvSpPr>
          <p:cNvPr id="15" name="Carte Contacter"/>
          <p:cNvSpPr/>
          <p:nvPr/>
        </p:nvSpPr>
        <p:spPr>
          <a:xfrm>
            <a:off x="640080" y="4983480"/>
            <a:ext cx="5394960" cy="1097280"/>
          </a:xfrm>
          <a:prstGeom prst="roundRect">
            <a:avLst>
              <a:gd name="adj" fmla="val 16667"/>
            </a:avLst>
          </a:prstGeom>
          <a:solidFill>
            <a:schemeClr val="bg1">
              <a:alpha val="7000"/>
            </a:schemeClr>
          </a:solidFill>
          <a:ln w="9525">
            <a:solidFill>
              <a:schemeClr val="accent6">
                <a:alpha val="45000"/>
              </a:schemeClr>
            </a:solidFill>
            <a:prstDash val="solid"/>
          </a:ln>
        </p:spPr>
        <p:txBody>
          <a:bodyPr/>
          <a:lstStyle/>
          <a:p>
            <a:endParaRPr/>
          </a:p>
        </p:txBody>
      </p:sp>
      <p:sp>
        <p:nvSpPr>
          <p:cNvPr id="16" name="Contacter — pastille"/>
          <p:cNvSpPr/>
          <p:nvPr/>
        </p:nvSpPr>
        <p:spPr>
          <a:xfrm>
            <a:off x="896112" y="5202936"/>
            <a:ext cx="658368" cy="658368"/>
          </a:xfrm>
          <a:prstGeom prst="ellipse">
            <a:avLst/>
          </a:prstGeom>
          <a:solidFill>
            <a:schemeClr val="accent3"/>
          </a:solidFill>
          <a:ln w="12700">
            <a:solidFill>
              <a:schemeClr val="accent3"/>
            </a:solidFill>
            <a:prstDash val="solid"/>
          </a:ln>
        </p:spPr>
        <p:txBody>
          <a:bodyPr/>
          <a:lstStyle/>
          <a:p>
            <a:endParaRPr/>
          </a:p>
        </p:txBody>
      </p:sp>
      <p:pic>
        <p:nvPicPr>
          <p:cNvPr id="17" name="Contacter — icône" descr="Contacter"/>
          <p:cNvPicPr>
            <a:picLocks noChangeAspect="1"/>
          </p:cNvPicPr>
          <p:nvPr/>
        </p:nvPicPr>
        <p:blipFill>
          <a:blip r:embed="rId5"/>
          <a:stretch>
            <a:fillRect/>
          </a:stretch>
        </p:blipFill>
        <p:spPr>
          <a:xfrm>
            <a:off x="1060704" y="5367528"/>
            <a:ext cx="329184" cy="329184"/>
          </a:xfrm>
          <a:prstGeom prst="rect">
            <a:avLst/>
          </a:prstGeom>
        </p:spPr>
      </p:pic>
      <p:sp>
        <p:nvSpPr>
          <p:cNvPr id="18" name="Titre Contacter"/>
          <p:cNvSpPr txBox="1"/>
          <p:nvPr/>
        </p:nvSpPr>
        <p:spPr>
          <a:xfrm>
            <a:off x="1783080" y="5129784"/>
            <a:ext cx="4023360" cy="365760"/>
          </a:xfrm>
          <a:prstGeom prst="rect">
            <a:avLst/>
          </a:prstGeom>
          <a:noFill/>
          <a:ln/>
        </p:spPr>
        <p:txBody>
          <a:bodyPr wrap="square" lIns="0" tIns="0" rIns="0" bIns="0" rtlCol="0" anchor="ctr"/>
          <a:lstStyle/>
          <a:p>
            <a:pPr marL="0" indent="0">
              <a:buNone/>
            </a:pPr>
            <a:r>
              <a:rPr lang="en-US" sz="2200" b="1" dirty="0">
                <a:solidFill>
                  <a:schemeClr val="bg1"/>
                </a:solidFill>
              </a:rPr>
              <a:t>Contacter</a:t>
            </a:r>
            <a:endParaRPr lang="en-US" sz="2200" dirty="0"/>
          </a:p>
        </p:txBody>
      </p:sp>
      <p:sp>
        <p:nvSpPr>
          <p:cNvPr id="19" name="Texte Contacter"/>
          <p:cNvSpPr txBox="1"/>
          <p:nvPr/>
        </p:nvSpPr>
        <p:spPr>
          <a:xfrm>
            <a:off x="1783080" y="5513832"/>
            <a:ext cx="4023360" cy="457200"/>
          </a:xfrm>
          <a:prstGeom prst="rect">
            <a:avLst/>
          </a:prstGeom>
          <a:noFill/>
          <a:ln/>
        </p:spPr>
        <p:txBody>
          <a:bodyPr wrap="square" lIns="0" tIns="0" rIns="0" bIns="0" rtlCol="0" anchor="t"/>
          <a:lstStyle/>
          <a:p>
            <a:pPr marL="0" indent="0">
              <a:buNone/>
            </a:pPr>
            <a:r>
              <a:rPr lang="en-US" sz="1400" dirty="0">
                <a:solidFill>
                  <a:srgbClr val="D6E4F5"/>
                </a:solidFill>
              </a:rPr>
              <a:t>Appeler le dépôt ou ouvrir une conversation WhatsApp.</a:t>
            </a:r>
            <a:endParaRPr lang="en-US" sz="1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p:tgtEl>
                                          <p:spTgt spid="5"/>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50"/>
                                        <p:tgtEl>
                                          <p:spTgt spid="6"/>
                                        </p:tgtEl>
                                      </p:cBhvr>
                                    </p:animEffect>
                                    <p:anim calcmode="lin" valueType="num">
                                      <p:cBhvr additive="base">
                                        <p:cTn id="12" dur="650" fill="hold"/>
                                        <p:tgtEl>
                                          <p:spTgt spid="6"/>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p:tgtEl>
                                          <p:spTgt spid="7"/>
                                        </p:tgtEl>
                                      </p:cBhvr>
                                    </p:animEffect>
                                    <p:anim calcmode="lin" valueType="num">
                                      <p:cBhvr additive="base">
                                        <p:cTn id="16" dur="650" fill="hold"/>
                                        <p:tgtEl>
                                          <p:spTgt spid="7"/>
                                        </p:tgtEl>
                                        <p:attrNameLst>
                                          <p:attrName>ppt_y</p:attrName>
                                        </p:attrNameLst>
                                      </p:cBhvr>
                                      <p:tavLst>
                                        <p:tav tm="0">
                                          <p:val>
                                            <p:strVal val="#ppt_y+.05"/>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fill="hold"/>
                                        <p:tgtEl>
                                          <p:spTgt spid="8"/>
                                        </p:tgtEl>
                                        <p:attrNameLst>
                                          <p:attrName>ppt_y</p:attrName>
                                        </p:attrNameLst>
                                      </p:cBhvr>
                                      <p:tavLst>
                                        <p:tav tm="0">
                                          <p:val>
                                            <p:strVal val="#ppt_y+.05"/>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p:tgtEl>
                                          <p:spTgt spid="9"/>
                                        </p:tgtEl>
                                      </p:cBhvr>
                                    </p:animEffect>
                                    <p:anim calcmode="lin" valueType="num">
                                      <p:cBhvr additive="base">
                                        <p:cTn id="24" dur="650" fill="hold"/>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nodeType="withEffect">
                                  <p:stCondLst>
                                    <p:cond delay="17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50"/>
                                        <p:tgtEl>
                                          <p:spTgt spid="10"/>
                                        </p:tgtEl>
                                      </p:cBhvr>
                                    </p:animEffect>
                                    <p:anim calcmode="lin" valueType="num">
                                      <p:cBhvr additive="base">
                                        <p:cTn id="28" dur="650" fill="hold"/>
                                        <p:tgtEl>
                                          <p:spTgt spid="10"/>
                                        </p:tgtEl>
                                        <p:attrNameLst>
                                          <p:attrName>ppt_y</p:attrName>
                                        </p:attrNameLst>
                                      </p:cBhvr>
                                      <p:tavLst>
                                        <p:tav tm="0">
                                          <p:val>
                                            <p:strVal val="#ppt_y+.05"/>
                                          </p:val>
                                        </p:tav>
                                        <p:tav tm="100000">
                                          <p:val>
                                            <p:strVal val="#ppt_y"/>
                                          </p:val>
                                        </p:tav>
                                      </p:tavLst>
                                    </p:anim>
                                  </p:childTnLst>
                                </p:cTn>
                              </p:par>
                              <p:par>
                                <p:cTn id="29" presetID="42" presetClass="entr" presetSubtype="0" fill="hold" nodeType="withEffect">
                                  <p:stCondLst>
                                    <p:cond delay="17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50"/>
                                        <p:tgtEl>
                                          <p:spTgt spid="11"/>
                                        </p:tgtEl>
                                      </p:cBhvr>
                                    </p:animEffect>
                                    <p:anim calcmode="lin" valueType="num">
                                      <p:cBhvr additive="base">
                                        <p:cTn id="32" dur="650" fill="hold"/>
                                        <p:tgtEl>
                                          <p:spTgt spid="11"/>
                                        </p:tgtEl>
                                        <p:attrNameLst>
                                          <p:attrName>ppt_y</p:attrName>
                                        </p:attrNameLst>
                                      </p:cBhvr>
                                      <p:tavLst>
                                        <p:tav tm="0">
                                          <p:val>
                                            <p:strVal val="#ppt_y+.05"/>
                                          </p:val>
                                        </p:tav>
                                        <p:tav tm="100000">
                                          <p:val>
                                            <p:strVal val="#ppt_y"/>
                                          </p:val>
                                        </p:tav>
                                      </p:tavLst>
                                    </p:anim>
                                  </p:childTnLst>
                                </p:cTn>
                              </p:par>
                              <p:par>
                                <p:cTn id="33" presetID="42" presetClass="entr" presetSubtype="0" fill="hold" nodeType="withEffect">
                                  <p:stCondLst>
                                    <p:cond delay="17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50"/>
                                        <p:tgtEl>
                                          <p:spTgt spid="12"/>
                                        </p:tgtEl>
                                      </p:cBhvr>
                                    </p:animEffect>
                                    <p:anim calcmode="lin" valueType="num">
                                      <p:cBhvr additive="base">
                                        <p:cTn id="36" dur="650" fill="hold"/>
                                        <p:tgtEl>
                                          <p:spTgt spid="12"/>
                                        </p:tgtEl>
                                        <p:attrNameLst>
                                          <p:attrName>ppt_y</p:attrName>
                                        </p:attrNameLst>
                                      </p:cBhvr>
                                      <p:tavLst>
                                        <p:tav tm="0">
                                          <p:val>
                                            <p:strVal val="#ppt_y+.05"/>
                                          </p:val>
                                        </p:tav>
                                        <p:tav tm="100000">
                                          <p:val>
                                            <p:strVal val="#ppt_y"/>
                                          </p:val>
                                        </p:tav>
                                      </p:tavLst>
                                    </p:anim>
                                  </p:childTnLst>
                                </p:cTn>
                              </p:par>
                              <p:par>
                                <p:cTn id="37" presetID="42" presetClass="entr" presetSubtype="0" fill="hold" nodeType="withEffect">
                                  <p:stCondLst>
                                    <p:cond delay="17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p:tgtEl>
                                          <p:spTgt spid="13"/>
                                        </p:tgtEl>
                                      </p:cBhvr>
                                    </p:animEffect>
                                    <p:anim calcmode="lin" valueType="num">
                                      <p:cBhvr additive="base">
                                        <p:cTn id="40" dur="650" fill="hold"/>
                                        <p:tgtEl>
                                          <p:spTgt spid="13"/>
                                        </p:tgtEl>
                                        <p:attrNameLst>
                                          <p:attrName>ppt_y</p:attrName>
                                        </p:attrNameLst>
                                      </p:cBhvr>
                                      <p:tavLst>
                                        <p:tav tm="0">
                                          <p:val>
                                            <p:strVal val="#ppt_y+.05"/>
                                          </p:val>
                                        </p:tav>
                                        <p:tav tm="100000">
                                          <p:val>
                                            <p:strVal val="#ppt_y"/>
                                          </p:val>
                                        </p:tav>
                                      </p:tavLst>
                                    </p:anim>
                                  </p:childTnLst>
                                </p:cTn>
                              </p:par>
                              <p:par>
                                <p:cTn id="41" presetID="42" presetClass="entr" presetSubtype="0" fill="hold" nodeType="withEffect">
                                  <p:stCondLst>
                                    <p:cond delay="17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50"/>
                                        <p:tgtEl>
                                          <p:spTgt spid="14"/>
                                        </p:tgtEl>
                                      </p:cBhvr>
                                    </p:animEffect>
                                    <p:anim calcmode="lin" valueType="num">
                                      <p:cBhvr additive="base">
                                        <p:cTn id="44" dur="650" fill="hold"/>
                                        <p:tgtEl>
                                          <p:spTgt spid="14"/>
                                        </p:tgtEl>
                                        <p:attrNameLst>
                                          <p:attrName>ppt_y</p:attrName>
                                        </p:attrNameLst>
                                      </p:cBhvr>
                                      <p:tavLst>
                                        <p:tav tm="0">
                                          <p:val>
                                            <p:strVal val="#ppt_y+.05"/>
                                          </p:val>
                                        </p:tav>
                                        <p:tav tm="100000">
                                          <p:val>
                                            <p:strVal val="#ppt_y"/>
                                          </p:val>
                                        </p:tav>
                                      </p:tavLst>
                                    </p:anim>
                                  </p:childTnLst>
                                </p:cTn>
                              </p:par>
                              <p:par>
                                <p:cTn id="45" presetID="42" presetClass="entr" presetSubtype="0" fill="hold" nodeType="withEffect">
                                  <p:stCondLst>
                                    <p:cond delay="119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50"/>
                                        <p:tgtEl>
                                          <p:spTgt spid="15"/>
                                        </p:tgtEl>
                                      </p:cBhvr>
                                    </p:animEffect>
                                    <p:anim calcmode="lin" valueType="num">
                                      <p:cBhvr additive="base">
                                        <p:cTn id="48" dur="650" fill="hold"/>
                                        <p:tgtEl>
                                          <p:spTgt spid="15"/>
                                        </p:tgtEl>
                                        <p:attrNameLst>
                                          <p:attrName>ppt_y</p:attrName>
                                        </p:attrNameLst>
                                      </p:cBhvr>
                                      <p:tavLst>
                                        <p:tav tm="0">
                                          <p:val>
                                            <p:strVal val="#ppt_y+.05"/>
                                          </p:val>
                                        </p:tav>
                                        <p:tav tm="100000">
                                          <p:val>
                                            <p:strVal val="#ppt_y"/>
                                          </p:val>
                                        </p:tav>
                                      </p:tavLst>
                                    </p:anim>
                                  </p:childTnLst>
                                </p:cTn>
                              </p:par>
                              <p:par>
                                <p:cTn id="49" presetID="42" presetClass="entr" presetSubtype="0" fill="hold" nodeType="withEffect">
                                  <p:stCondLst>
                                    <p:cond delay="119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50"/>
                                        <p:tgtEl>
                                          <p:spTgt spid="16"/>
                                        </p:tgtEl>
                                      </p:cBhvr>
                                    </p:animEffect>
                                    <p:anim calcmode="lin" valueType="num">
                                      <p:cBhvr additive="base">
                                        <p:cTn id="52" dur="650" fill="hold"/>
                                        <p:tgtEl>
                                          <p:spTgt spid="16"/>
                                        </p:tgtEl>
                                        <p:attrNameLst>
                                          <p:attrName>ppt_y</p:attrName>
                                        </p:attrNameLst>
                                      </p:cBhvr>
                                      <p:tavLst>
                                        <p:tav tm="0">
                                          <p:val>
                                            <p:strVal val="#ppt_y+.05"/>
                                          </p:val>
                                        </p:tav>
                                        <p:tav tm="100000">
                                          <p:val>
                                            <p:strVal val="#ppt_y"/>
                                          </p:val>
                                        </p:tav>
                                      </p:tavLst>
                                    </p:anim>
                                  </p:childTnLst>
                                </p:cTn>
                              </p:par>
                              <p:par>
                                <p:cTn id="53" presetID="42" presetClass="entr" presetSubtype="0" fill="hold" nodeType="withEffect">
                                  <p:stCondLst>
                                    <p:cond delay="119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50"/>
                                        <p:tgtEl>
                                          <p:spTgt spid="17"/>
                                        </p:tgtEl>
                                      </p:cBhvr>
                                    </p:animEffect>
                                    <p:anim calcmode="lin" valueType="num">
                                      <p:cBhvr additive="base">
                                        <p:cTn id="56" dur="650" fill="hold"/>
                                        <p:tgtEl>
                                          <p:spTgt spid="17"/>
                                        </p:tgtEl>
                                        <p:attrNameLst>
                                          <p:attrName>ppt_y</p:attrName>
                                        </p:attrNameLst>
                                      </p:cBhvr>
                                      <p:tavLst>
                                        <p:tav tm="0">
                                          <p:val>
                                            <p:strVal val="#ppt_y+.05"/>
                                          </p:val>
                                        </p:tav>
                                        <p:tav tm="100000">
                                          <p:val>
                                            <p:strVal val="#ppt_y"/>
                                          </p:val>
                                        </p:tav>
                                      </p:tavLst>
                                    </p:anim>
                                  </p:childTnLst>
                                </p:cTn>
                              </p:par>
                              <p:par>
                                <p:cTn id="57" presetID="42" presetClass="entr" presetSubtype="0" fill="hold" nodeType="withEffect">
                                  <p:stCondLst>
                                    <p:cond delay="119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50"/>
                                        <p:tgtEl>
                                          <p:spTgt spid="18"/>
                                        </p:tgtEl>
                                      </p:cBhvr>
                                    </p:animEffect>
                                    <p:anim calcmode="lin" valueType="num">
                                      <p:cBhvr additive="base">
                                        <p:cTn id="60" dur="650" fill="hold"/>
                                        <p:tgtEl>
                                          <p:spTgt spid="18"/>
                                        </p:tgtEl>
                                        <p:attrNameLst>
                                          <p:attrName>ppt_y</p:attrName>
                                        </p:attrNameLst>
                                      </p:cBhvr>
                                      <p:tavLst>
                                        <p:tav tm="0">
                                          <p:val>
                                            <p:strVal val="#ppt_y+.05"/>
                                          </p:val>
                                        </p:tav>
                                        <p:tav tm="100000">
                                          <p:val>
                                            <p:strVal val="#ppt_y"/>
                                          </p:val>
                                        </p:tav>
                                      </p:tavLst>
                                    </p:anim>
                                  </p:childTnLst>
                                </p:cTn>
                              </p:par>
                              <p:par>
                                <p:cTn id="61" presetID="42" presetClass="entr" presetSubtype="0" fill="hold" nodeType="withEffect">
                                  <p:stCondLst>
                                    <p:cond delay="119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50"/>
                                        <p:tgtEl>
                                          <p:spTgt spid="19"/>
                                        </p:tgtEl>
                                      </p:cBhvr>
                                    </p:animEffect>
                                    <p:anim calcmode="lin" valueType="num">
                                      <p:cBhvr additive="base">
                                        <p:cTn id="64" dur="650" fill="hold"/>
                                        <p:tgtEl>
                                          <p:spTgt spid="1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lIns="0" tIns="0" rIns="0" bIns="0"/>
          <a:lstStyle/>
          <a:p>
            <a:r>
              <a:rPr dirty="0"/>
              <a:t>Les </a:t>
            </a:r>
            <a:r>
              <a:rPr dirty="0" err="1"/>
              <a:t>écrans</a:t>
            </a:r>
            <a:r>
              <a:rPr dirty="0"/>
              <a:t> </a:t>
            </a:r>
            <a:r>
              <a:rPr dirty="0" err="1"/>
              <a:t>clés</a:t>
            </a:r>
            <a:r>
              <a:rPr dirty="0"/>
              <a:t> de </a:t>
            </a:r>
            <a:r>
              <a:rPr dirty="0" err="1"/>
              <a:t>l’application</a:t>
            </a:r>
            <a:endParaRPr dirty="0"/>
          </a:p>
        </p:txBody>
      </p:sp>
      <p:sp>
        <p:nvSpPr>
          <p:cNvPr id="3" name="Surtitre"/>
          <p:cNvSpPr txBox="1"/>
          <p:nvPr/>
        </p:nvSpPr>
        <p:spPr>
          <a:xfrm>
            <a:off x="640080" y="384048"/>
            <a:ext cx="7315200" cy="184666"/>
          </a:xfrm>
          <a:prstGeom prst="rect">
            <a:avLst/>
          </a:prstGeom>
          <a:noFill/>
        </p:spPr>
        <p:txBody>
          <a:bodyPr wrap="square" lIns="0" tIns="0" rIns="0" bIns="0">
            <a:spAutoFit/>
          </a:bodyPr>
          <a:lstStyle/>
          <a:p>
            <a:r>
              <a:rPr lang="fr-FR" sz="1200" b="1" spc="300" dirty="0">
                <a:solidFill>
                  <a:srgbClr val="0B8A5E"/>
                </a:solidFill>
              </a:rPr>
              <a:t> </a:t>
            </a:r>
            <a:r>
              <a:rPr sz="1200" b="1" spc="300" dirty="0">
                <a:solidFill>
                  <a:srgbClr val="0B8A5E"/>
                </a:solidFill>
              </a:rPr>
              <a:t>ÉCRANS CLÉS</a:t>
            </a:r>
          </a:p>
        </p:txBody>
      </p:sp>
      <p:sp>
        <p:nvSpPr>
          <p:cNvPr id="4" name="Sous-titre"/>
          <p:cNvSpPr txBox="1"/>
          <p:nvPr/>
        </p:nvSpPr>
        <p:spPr>
          <a:xfrm>
            <a:off x="640080" y="1463040"/>
            <a:ext cx="10424160" cy="365760"/>
          </a:xfrm>
          <a:prstGeom prst="rect">
            <a:avLst/>
          </a:prstGeom>
          <a:noFill/>
        </p:spPr>
        <p:txBody>
          <a:bodyPr wrap="square" lIns="0" tIns="0" rIns="0" bIns="0">
            <a:spAutoFit/>
          </a:bodyPr>
          <a:lstStyle/>
          <a:p>
            <a:r>
              <a:rPr sz="1600" b="0">
                <a:solidFill>
                  <a:srgbClr val="5B6794"/>
                </a:solidFill>
              </a:rPr>
              <a:t>Trois écrans suffisent pour aller de la recherche au contact avec le dépôt.</a:t>
            </a:r>
          </a:p>
        </p:txBody>
      </p:sp>
      <p:sp>
        <p:nvSpPr>
          <p:cNvPr id="5" name="!!tel1-cadre"/>
          <p:cNvSpPr/>
          <p:nvPr/>
        </p:nvSpPr>
        <p:spPr>
          <a:xfrm>
            <a:off x="1519170" y="1970440"/>
            <a:ext cx="1807978" cy="3831518"/>
          </a:xfrm>
          <a:prstGeom prst="roundRect">
            <a:avLst>
              <a:gd name="adj" fmla="val 7920"/>
            </a:avLst>
          </a:prstGeom>
          <a:solidFill>
            <a:srgbClr val="0B1220"/>
          </a:solidFill>
          <a:ln>
            <a:noFill/>
          </a:ln>
          <a:effectLst>
            <a:outerShdw blurRad="254000" dist="88900" dir="5400000" algn="t" rotWithShape="0">
              <a:srgbClr val="0B1B33">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tel1" descr="Écran accueil de l’application YaGaz"/>
          <p:cNvPicPr>
            <a:picLocks noChangeAspect="1"/>
          </p:cNvPicPr>
          <p:nvPr/>
        </p:nvPicPr>
        <p:blipFill>
          <a:blip r:embed="rId2"/>
          <a:stretch>
            <a:fillRect/>
          </a:stretch>
        </p:blipFill>
        <p:spPr>
          <a:xfrm>
            <a:off x="1560410" y="2011680"/>
            <a:ext cx="1725499" cy="3749039"/>
          </a:xfrm>
          <a:prstGeom prst="rect">
            <a:avLst/>
          </a:prstGeom>
        </p:spPr>
      </p:pic>
      <p:sp>
        <p:nvSpPr>
          <p:cNvPr id="7" name="Légende Accueil"/>
          <p:cNvSpPr txBox="1"/>
          <p:nvPr/>
        </p:nvSpPr>
        <p:spPr>
          <a:xfrm>
            <a:off x="594359" y="5943600"/>
            <a:ext cx="3657600" cy="292608"/>
          </a:xfrm>
          <a:prstGeom prst="rect">
            <a:avLst/>
          </a:prstGeom>
          <a:noFill/>
        </p:spPr>
        <p:txBody>
          <a:bodyPr wrap="square" lIns="0" tIns="0" rIns="0" bIns="0">
            <a:spAutoFit/>
          </a:bodyPr>
          <a:lstStyle/>
          <a:p>
            <a:pPr algn="ctr"/>
            <a:r>
              <a:rPr sz="1700" b="1">
                <a:solidFill>
                  <a:srgbClr val="132F53"/>
                </a:solidFill>
              </a:rPr>
              <a:t>Accueil</a:t>
            </a:r>
          </a:p>
        </p:txBody>
      </p:sp>
      <p:sp>
        <p:nvSpPr>
          <p:cNvPr id="8" name="Précision Accueil"/>
          <p:cNvSpPr txBox="1"/>
          <p:nvPr/>
        </p:nvSpPr>
        <p:spPr>
          <a:xfrm>
            <a:off x="594359" y="6263640"/>
            <a:ext cx="3657600" cy="274320"/>
          </a:xfrm>
          <a:prstGeom prst="rect">
            <a:avLst/>
          </a:prstGeom>
          <a:noFill/>
        </p:spPr>
        <p:txBody>
          <a:bodyPr wrap="square" lIns="0" tIns="0" rIns="0" bIns="0">
            <a:spAutoFit/>
          </a:bodyPr>
          <a:lstStyle/>
          <a:p>
            <a:pPr algn="ctr"/>
            <a:r>
              <a:rPr sz="1300" b="0">
                <a:solidFill>
                  <a:srgbClr val="5B6794"/>
                </a:solidFill>
              </a:rPr>
              <a:t>Recherche, filtres et carte.</a:t>
            </a:r>
          </a:p>
        </p:txBody>
      </p:sp>
      <p:sp>
        <p:nvSpPr>
          <p:cNvPr id="9" name="!!tel2-cadre"/>
          <p:cNvSpPr/>
          <p:nvPr/>
        </p:nvSpPr>
        <p:spPr>
          <a:xfrm>
            <a:off x="5195058" y="1970440"/>
            <a:ext cx="1807978" cy="3831518"/>
          </a:xfrm>
          <a:prstGeom prst="roundRect">
            <a:avLst>
              <a:gd name="adj" fmla="val 7920"/>
            </a:avLst>
          </a:prstGeom>
          <a:solidFill>
            <a:srgbClr val="0B1220"/>
          </a:solidFill>
          <a:ln>
            <a:noFill/>
          </a:ln>
          <a:effectLst>
            <a:outerShdw blurRad="254000" dist="88900" dir="5400000" algn="t" rotWithShape="0">
              <a:srgbClr val="0B1B33">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tel2" descr="Écran liste des dépôts de l’application YaGaz"/>
          <p:cNvPicPr>
            <a:picLocks noChangeAspect="1"/>
          </p:cNvPicPr>
          <p:nvPr/>
        </p:nvPicPr>
        <p:blipFill>
          <a:blip r:embed="rId3"/>
          <a:stretch>
            <a:fillRect/>
          </a:stretch>
        </p:blipFill>
        <p:spPr>
          <a:xfrm>
            <a:off x="5236298" y="2011680"/>
            <a:ext cx="1725499" cy="3749039"/>
          </a:xfrm>
          <a:prstGeom prst="rect">
            <a:avLst/>
          </a:prstGeom>
        </p:spPr>
      </p:pic>
      <p:sp>
        <p:nvSpPr>
          <p:cNvPr id="11" name="Légende Liste des dépôts"/>
          <p:cNvSpPr txBox="1"/>
          <p:nvPr/>
        </p:nvSpPr>
        <p:spPr>
          <a:xfrm>
            <a:off x="4270248" y="5943600"/>
            <a:ext cx="3657600" cy="292608"/>
          </a:xfrm>
          <a:prstGeom prst="rect">
            <a:avLst/>
          </a:prstGeom>
          <a:noFill/>
        </p:spPr>
        <p:txBody>
          <a:bodyPr wrap="square" lIns="0" tIns="0" rIns="0" bIns="0">
            <a:spAutoFit/>
          </a:bodyPr>
          <a:lstStyle/>
          <a:p>
            <a:pPr algn="ctr"/>
            <a:r>
              <a:rPr sz="1700" b="1">
                <a:solidFill>
                  <a:srgbClr val="132F53"/>
                </a:solidFill>
              </a:rPr>
              <a:t>Liste des dépôts</a:t>
            </a:r>
          </a:p>
        </p:txBody>
      </p:sp>
      <p:sp>
        <p:nvSpPr>
          <p:cNvPr id="12" name="Précision Liste des dépôts"/>
          <p:cNvSpPr txBox="1"/>
          <p:nvPr/>
        </p:nvSpPr>
        <p:spPr>
          <a:xfrm>
            <a:off x="4270248" y="6263640"/>
            <a:ext cx="3657600" cy="274320"/>
          </a:xfrm>
          <a:prstGeom prst="rect">
            <a:avLst/>
          </a:prstGeom>
          <a:noFill/>
        </p:spPr>
        <p:txBody>
          <a:bodyPr wrap="square" lIns="0" tIns="0" rIns="0" bIns="0">
            <a:spAutoFit/>
          </a:bodyPr>
          <a:lstStyle/>
          <a:p>
            <a:pPr algn="ctr"/>
            <a:r>
              <a:rPr sz="1300" b="0">
                <a:solidFill>
                  <a:srgbClr val="5B6794"/>
                </a:solidFill>
              </a:rPr>
              <a:t>Statut, distance et stock de chaque dépôt.</a:t>
            </a:r>
          </a:p>
        </p:txBody>
      </p:sp>
      <p:sp>
        <p:nvSpPr>
          <p:cNvPr id="13" name="!!tel3-cadre"/>
          <p:cNvSpPr/>
          <p:nvPr/>
        </p:nvSpPr>
        <p:spPr>
          <a:xfrm>
            <a:off x="8870946" y="1970440"/>
            <a:ext cx="1807978" cy="3831518"/>
          </a:xfrm>
          <a:prstGeom prst="roundRect">
            <a:avLst>
              <a:gd name="adj" fmla="val 7920"/>
            </a:avLst>
          </a:prstGeom>
          <a:solidFill>
            <a:srgbClr val="0B1220"/>
          </a:solidFill>
          <a:ln>
            <a:noFill/>
          </a:ln>
          <a:effectLst>
            <a:outerShdw blurRad="254000" dist="88900" dir="5400000" algn="t" rotWithShape="0">
              <a:srgbClr val="0B1B33">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tel3" descr="Écran fiche du dépôt de l’application YaGaz"/>
          <p:cNvPicPr>
            <a:picLocks noChangeAspect="1"/>
          </p:cNvPicPr>
          <p:nvPr/>
        </p:nvPicPr>
        <p:blipFill>
          <a:blip r:embed="rId4"/>
          <a:stretch>
            <a:fillRect/>
          </a:stretch>
        </p:blipFill>
        <p:spPr>
          <a:xfrm>
            <a:off x="8912186" y="2011680"/>
            <a:ext cx="1725499" cy="3749039"/>
          </a:xfrm>
          <a:prstGeom prst="rect">
            <a:avLst/>
          </a:prstGeom>
        </p:spPr>
      </p:pic>
      <p:sp>
        <p:nvSpPr>
          <p:cNvPr id="15" name="Légende Fiche du dépôt"/>
          <p:cNvSpPr txBox="1"/>
          <p:nvPr/>
        </p:nvSpPr>
        <p:spPr>
          <a:xfrm>
            <a:off x="7946136" y="5943600"/>
            <a:ext cx="3657600" cy="292608"/>
          </a:xfrm>
          <a:prstGeom prst="rect">
            <a:avLst/>
          </a:prstGeom>
          <a:noFill/>
        </p:spPr>
        <p:txBody>
          <a:bodyPr wrap="square" lIns="0" tIns="0" rIns="0" bIns="0">
            <a:spAutoFit/>
          </a:bodyPr>
          <a:lstStyle/>
          <a:p>
            <a:pPr algn="ctr"/>
            <a:r>
              <a:rPr sz="1700" b="1">
                <a:solidFill>
                  <a:srgbClr val="132F53"/>
                </a:solidFill>
              </a:rPr>
              <a:t>Fiche du dépôt</a:t>
            </a:r>
          </a:p>
        </p:txBody>
      </p:sp>
      <p:sp>
        <p:nvSpPr>
          <p:cNvPr id="16" name="Précision Fiche du dépôt"/>
          <p:cNvSpPr txBox="1"/>
          <p:nvPr/>
        </p:nvSpPr>
        <p:spPr>
          <a:xfrm>
            <a:off x="7946136" y="6263640"/>
            <a:ext cx="3657600" cy="274320"/>
          </a:xfrm>
          <a:prstGeom prst="rect">
            <a:avLst/>
          </a:prstGeom>
          <a:noFill/>
        </p:spPr>
        <p:txBody>
          <a:bodyPr wrap="square" lIns="0" tIns="0" rIns="0" bIns="0">
            <a:spAutoFit/>
          </a:bodyPr>
          <a:lstStyle/>
          <a:p>
            <a:pPr algn="ctr"/>
            <a:r>
              <a:rPr sz="1300" b="0">
                <a:solidFill>
                  <a:srgbClr val="5B6794"/>
                </a:solidFill>
              </a:rPr>
              <a:t>Prix, disponibilité et contact direct.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p:tgtEl>
                                          <p:spTgt spid="7"/>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17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p:tgtEl>
                                          <p:spTgt spid="8"/>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34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50"/>
                                        <p:tgtEl>
                                          <p:spTgt spid="11"/>
                                        </p:tgtEl>
                                      </p:cBhvr>
                                    </p:animEffect>
                                    <p:anim calcmode="lin" valueType="num">
                                      <p:cBhvr additive="base">
                                        <p:cTn id="16" dur="650" fill="hold"/>
                                        <p:tgtEl>
                                          <p:spTgt spid="11"/>
                                        </p:tgtEl>
                                        <p:attrNameLst>
                                          <p:attrName>ppt_y</p:attrName>
                                        </p:attrNameLst>
                                      </p:cBhvr>
                                      <p:tavLst>
                                        <p:tav tm="0">
                                          <p:val>
                                            <p:strVal val="#ppt_y+.05"/>
                                          </p:val>
                                        </p:tav>
                                        <p:tav tm="100000">
                                          <p:val>
                                            <p:strVal val="#ppt_y"/>
                                          </p:val>
                                        </p:tav>
                                      </p:tavLst>
                                    </p:anim>
                                  </p:childTnLst>
                                </p:cTn>
                              </p:par>
                              <p:par>
                                <p:cTn id="17" presetID="42" presetClass="entr" presetSubtype="0" fill="hold" nodeType="withEffect">
                                  <p:stCondLst>
                                    <p:cond delay="51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650"/>
                                        <p:tgtEl>
                                          <p:spTgt spid="12"/>
                                        </p:tgtEl>
                                      </p:cBhvr>
                                    </p:animEffect>
                                    <p:anim calcmode="lin" valueType="num">
                                      <p:cBhvr additive="base">
                                        <p:cTn id="20" dur="650" fill="hold"/>
                                        <p:tgtEl>
                                          <p:spTgt spid="12"/>
                                        </p:tgtEl>
                                        <p:attrNameLst>
                                          <p:attrName>ppt_y</p:attrName>
                                        </p:attrNameLst>
                                      </p:cBhvr>
                                      <p:tavLst>
                                        <p:tav tm="0">
                                          <p:val>
                                            <p:strVal val="#ppt_y+.05"/>
                                          </p:val>
                                        </p:tav>
                                        <p:tav tm="100000">
                                          <p:val>
                                            <p:strVal val="#ppt_y"/>
                                          </p:val>
                                        </p:tav>
                                      </p:tavLst>
                                    </p:anim>
                                  </p:childTnLst>
                                </p:cTn>
                              </p:par>
                              <p:par>
                                <p:cTn id="21" presetID="42" presetClass="entr" presetSubtype="0" fill="hold" nodeType="withEffect">
                                  <p:stCondLst>
                                    <p:cond delay="68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650"/>
                                        <p:tgtEl>
                                          <p:spTgt spid="15"/>
                                        </p:tgtEl>
                                      </p:cBhvr>
                                    </p:animEffect>
                                    <p:anim calcmode="lin" valueType="num">
                                      <p:cBhvr additive="base">
                                        <p:cTn id="24" dur="650" fill="hold"/>
                                        <p:tgtEl>
                                          <p:spTgt spid="15"/>
                                        </p:tgtEl>
                                        <p:attrNameLst>
                                          <p:attrName>ppt_y</p:attrName>
                                        </p:attrNameLst>
                                      </p:cBhvr>
                                      <p:tavLst>
                                        <p:tav tm="0">
                                          <p:val>
                                            <p:strVal val="#ppt_y+.05"/>
                                          </p:val>
                                        </p:tav>
                                        <p:tav tm="100000">
                                          <p:val>
                                            <p:strVal val="#ppt_y"/>
                                          </p:val>
                                        </p:tav>
                                      </p:tavLst>
                                    </p:anim>
                                  </p:childTnLst>
                                </p:cTn>
                              </p:par>
                              <p:par>
                                <p:cTn id="25" presetID="42" presetClass="entr" presetSubtype="0" fill="hold" nodeType="withEffect">
                                  <p:stCondLst>
                                    <p:cond delay="85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650"/>
                                        <p:tgtEl>
                                          <p:spTgt spid="16"/>
                                        </p:tgtEl>
                                      </p:cBhvr>
                                    </p:animEffect>
                                    <p:anim calcmode="lin" valueType="num">
                                      <p:cBhvr additive="base">
                                        <p:cTn id="28" dur="650" fill="hold"/>
                                        <p:tgtEl>
                                          <p:spTgt spid="1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lIns="0" tIns="0" rIns="0" bIns="0"/>
          <a:lstStyle/>
          <a:p>
            <a:r>
              <a:t>Ce que fait l’application</a:t>
            </a:r>
          </a:p>
        </p:txBody>
      </p:sp>
      <p:sp>
        <p:nvSpPr>
          <p:cNvPr id="3" name="Surtitre"/>
          <p:cNvSpPr txBox="1"/>
          <p:nvPr/>
        </p:nvSpPr>
        <p:spPr>
          <a:xfrm>
            <a:off x="640080" y="384048"/>
            <a:ext cx="7315200" cy="184666"/>
          </a:xfrm>
          <a:prstGeom prst="rect">
            <a:avLst/>
          </a:prstGeom>
          <a:noFill/>
        </p:spPr>
        <p:txBody>
          <a:bodyPr wrap="square" lIns="0" tIns="0" rIns="0" bIns="0">
            <a:spAutoFit/>
          </a:bodyPr>
          <a:lstStyle/>
          <a:p>
            <a:r>
              <a:rPr lang="fr-FR" sz="1200" b="1" spc="300" dirty="0">
                <a:solidFill>
                  <a:srgbClr val="0B8A5E"/>
                </a:solidFill>
              </a:rPr>
              <a:t> </a:t>
            </a:r>
            <a:r>
              <a:rPr sz="1200" b="1" spc="300" dirty="0">
                <a:solidFill>
                  <a:srgbClr val="0B8A5E"/>
                </a:solidFill>
              </a:rPr>
              <a:t>FONCTIONNALITÉS</a:t>
            </a:r>
          </a:p>
        </p:txBody>
      </p:sp>
      <p:sp>
        <p:nvSpPr>
          <p:cNvPr id="4" name="Sous-titre"/>
          <p:cNvSpPr txBox="1"/>
          <p:nvPr/>
        </p:nvSpPr>
        <p:spPr>
          <a:xfrm>
            <a:off x="640080" y="1463040"/>
            <a:ext cx="10424160" cy="365760"/>
          </a:xfrm>
          <a:prstGeom prst="rect">
            <a:avLst/>
          </a:prstGeom>
          <a:noFill/>
        </p:spPr>
        <p:txBody>
          <a:bodyPr wrap="square" lIns="0" tIns="0" rIns="0" bIns="0">
            <a:spAutoFit/>
          </a:bodyPr>
          <a:lstStyle/>
          <a:p>
            <a:r>
              <a:rPr sz="1600" b="0">
                <a:solidFill>
                  <a:srgbClr val="5B6794"/>
                </a:solidFill>
              </a:rPr>
              <a:t>Six fonctions pour passer de la recherche au contact avec le dépôt.</a:t>
            </a:r>
          </a:p>
        </p:txBody>
      </p:sp>
      <p:sp>
        <p:nvSpPr>
          <p:cNvPr id="5" name="Carte Recherche"/>
          <p:cNvSpPr/>
          <p:nvPr/>
        </p:nvSpPr>
        <p:spPr>
          <a:xfrm>
            <a:off x="640080" y="2148840"/>
            <a:ext cx="3474720" cy="1874519"/>
          </a:xfrm>
          <a:prstGeom prst="roundRect">
            <a:avLst>
              <a:gd name="adj" fmla="val 9756"/>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astille Recherche"/>
          <p:cNvSpPr/>
          <p:nvPr/>
        </p:nvSpPr>
        <p:spPr>
          <a:xfrm>
            <a:off x="914400" y="2423160"/>
            <a:ext cx="603504" cy="603504"/>
          </a:xfrm>
          <a:prstGeom prst="ellipse">
            <a:avLst/>
          </a:prstGeom>
          <a:solidFill>
            <a:srgbClr val="277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ône Recherche" descr="Icône recherche"/>
          <p:cNvPicPr>
            <a:picLocks noChangeAspect="1"/>
          </p:cNvPicPr>
          <p:nvPr/>
        </p:nvPicPr>
        <p:blipFill>
          <a:blip r:embed="rId2"/>
          <a:stretch>
            <a:fillRect/>
          </a:stretch>
        </p:blipFill>
        <p:spPr>
          <a:xfrm>
            <a:off x="1069848" y="2578608"/>
            <a:ext cx="292608" cy="292608"/>
          </a:xfrm>
          <a:prstGeom prst="rect">
            <a:avLst/>
          </a:prstGeom>
        </p:spPr>
      </p:pic>
      <p:sp>
        <p:nvSpPr>
          <p:cNvPr id="8" name="N° Recherche"/>
          <p:cNvSpPr txBox="1"/>
          <p:nvPr/>
        </p:nvSpPr>
        <p:spPr>
          <a:xfrm>
            <a:off x="3108960" y="2423160"/>
            <a:ext cx="731520" cy="603504"/>
          </a:xfrm>
          <a:prstGeom prst="rect">
            <a:avLst/>
          </a:prstGeom>
          <a:noFill/>
        </p:spPr>
        <p:txBody>
          <a:bodyPr wrap="square" lIns="0" tIns="0" rIns="0" bIns="0" anchor="ctr">
            <a:spAutoFit/>
          </a:bodyPr>
          <a:lstStyle/>
          <a:p>
            <a:pPr algn="r"/>
            <a:r>
              <a:rPr sz="2400" b="1">
                <a:solidFill>
                  <a:srgbClr val="8DB9E0"/>
                </a:solidFill>
              </a:rPr>
              <a:t>01</a:t>
            </a:r>
          </a:p>
        </p:txBody>
      </p:sp>
      <p:sp>
        <p:nvSpPr>
          <p:cNvPr id="9" name="Titre Recherche"/>
          <p:cNvSpPr txBox="1"/>
          <p:nvPr/>
        </p:nvSpPr>
        <p:spPr>
          <a:xfrm>
            <a:off x="914400" y="3154680"/>
            <a:ext cx="2926080" cy="320040"/>
          </a:xfrm>
          <a:prstGeom prst="rect">
            <a:avLst/>
          </a:prstGeom>
          <a:noFill/>
        </p:spPr>
        <p:txBody>
          <a:bodyPr wrap="square" lIns="0" tIns="0" rIns="0" bIns="0">
            <a:spAutoFit/>
          </a:bodyPr>
          <a:lstStyle/>
          <a:p>
            <a:r>
              <a:rPr sz="1800" b="1">
                <a:solidFill>
                  <a:srgbClr val="132F53"/>
                </a:solidFill>
              </a:rPr>
              <a:t>Recherche</a:t>
            </a:r>
          </a:p>
        </p:txBody>
      </p:sp>
      <p:sp>
        <p:nvSpPr>
          <p:cNvPr id="10" name="Texte Recherche"/>
          <p:cNvSpPr txBox="1"/>
          <p:nvPr/>
        </p:nvSpPr>
        <p:spPr>
          <a:xfrm>
            <a:off x="914400" y="3474720"/>
            <a:ext cx="2971800" cy="502920"/>
          </a:xfrm>
          <a:prstGeom prst="rect">
            <a:avLst/>
          </a:prstGeom>
          <a:noFill/>
        </p:spPr>
        <p:txBody>
          <a:bodyPr wrap="square" lIns="0" tIns="0" rIns="0" bIns="0">
            <a:spAutoFit/>
          </a:bodyPr>
          <a:lstStyle/>
          <a:p>
            <a:r>
              <a:rPr sz="1300" b="0">
                <a:solidFill>
                  <a:srgbClr val="5B6794"/>
                </a:solidFill>
              </a:rPr>
              <a:t>Trouver une bouteille ou un vendeur en quelques secondes.</a:t>
            </a:r>
          </a:p>
        </p:txBody>
      </p:sp>
      <p:sp>
        <p:nvSpPr>
          <p:cNvPr id="11" name="Carte Filtres"/>
          <p:cNvSpPr/>
          <p:nvPr/>
        </p:nvSpPr>
        <p:spPr>
          <a:xfrm>
            <a:off x="4343400" y="2148840"/>
            <a:ext cx="3474720" cy="1874519"/>
          </a:xfrm>
          <a:prstGeom prst="roundRect">
            <a:avLst>
              <a:gd name="adj" fmla="val 9756"/>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astille Filtres"/>
          <p:cNvSpPr/>
          <p:nvPr/>
        </p:nvSpPr>
        <p:spPr>
          <a:xfrm>
            <a:off x="4617720" y="2423160"/>
            <a:ext cx="603504" cy="603504"/>
          </a:xfrm>
          <a:prstGeom prst="ellipse">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cône Filtres" descr="Icône filtres"/>
          <p:cNvPicPr>
            <a:picLocks noChangeAspect="1"/>
          </p:cNvPicPr>
          <p:nvPr/>
        </p:nvPicPr>
        <p:blipFill>
          <a:blip r:embed="rId3"/>
          <a:stretch>
            <a:fillRect/>
          </a:stretch>
        </p:blipFill>
        <p:spPr>
          <a:xfrm>
            <a:off x="4773168" y="2578608"/>
            <a:ext cx="292608" cy="292608"/>
          </a:xfrm>
          <a:prstGeom prst="rect">
            <a:avLst/>
          </a:prstGeom>
        </p:spPr>
      </p:pic>
      <p:sp>
        <p:nvSpPr>
          <p:cNvPr id="14" name="N° Filtres"/>
          <p:cNvSpPr txBox="1"/>
          <p:nvPr/>
        </p:nvSpPr>
        <p:spPr>
          <a:xfrm>
            <a:off x="6812280" y="2423160"/>
            <a:ext cx="731520" cy="603504"/>
          </a:xfrm>
          <a:prstGeom prst="rect">
            <a:avLst/>
          </a:prstGeom>
          <a:noFill/>
        </p:spPr>
        <p:txBody>
          <a:bodyPr wrap="square" lIns="0" tIns="0" rIns="0" bIns="0" anchor="ctr">
            <a:spAutoFit/>
          </a:bodyPr>
          <a:lstStyle/>
          <a:p>
            <a:pPr algn="r"/>
            <a:r>
              <a:rPr sz="2400" b="1">
                <a:solidFill>
                  <a:srgbClr val="8DB9E0"/>
                </a:solidFill>
              </a:rPr>
              <a:t>02</a:t>
            </a:r>
          </a:p>
        </p:txBody>
      </p:sp>
      <p:sp>
        <p:nvSpPr>
          <p:cNvPr id="15" name="Titre Filtres"/>
          <p:cNvSpPr txBox="1"/>
          <p:nvPr/>
        </p:nvSpPr>
        <p:spPr>
          <a:xfrm>
            <a:off x="4617720" y="3154680"/>
            <a:ext cx="2926080" cy="320040"/>
          </a:xfrm>
          <a:prstGeom prst="rect">
            <a:avLst/>
          </a:prstGeom>
          <a:noFill/>
        </p:spPr>
        <p:txBody>
          <a:bodyPr wrap="square" lIns="0" tIns="0" rIns="0" bIns="0">
            <a:spAutoFit/>
          </a:bodyPr>
          <a:lstStyle/>
          <a:p>
            <a:r>
              <a:rPr sz="1800" b="1">
                <a:solidFill>
                  <a:srgbClr val="132F53"/>
                </a:solidFill>
              </a:rPr>
              <a:t>Filtres</a:t>
            </a:r>
          </a:p>
        </p:txBody>
      </p:sp>
      <p:sp>
        <p:nvSpPr>
          <p:cNvPr id="16" name="Texte Filtres"/>
          <p:cNvSpPr txBox="1"/>
          <p:nvPr/>
        </p:nvSpPr>
        <p:spPr>
          <a:xfrm>
            <a:off x="4617720" y="3474720"/>
            <a:ext cx="2971800" cy="502920"/>
          </a:xfrm>
          <a:prstGeom prst="rect">
            <a:avLst/>
          </a:prstGeom>
          <a:noFill/>
        </p:spPr>
        <p:txBody>
          <a:bodyPr wrap="square" lIns="0" tIns="0" rIns="0" bIns="0">
            <a:spAutoFit/>
          </a:bodyPr>
          <a:lstStyle/>
          <a:p>
            <a:r>
              <a:rPr sz="1300" b="0">
                <a:solidFill>
                  <a:srgbClr val="5B6794"/>
                </a:solidFill>
              </a:rPr>
              <a:t>B6, B12, B28, Ouvert, ville, quartier, marque et tri.</a:t>
            </a:r>
          </a:p>
        </p:txBody>
      </p:sp>
      <p:sp>
        <p:nvSpPr>
          <p:cNvPr id="17" name="Carte Carte et proximité"/>
          <p:cNvSpPr/>
          <p:nvPr/>
        </p:nvSpPr>
        <p:spPr>
          <a:xfrm>
            <a:off x="8046719" y="2148840"/>
            <a:ext cx="3474720" cy="1874519"/>
          </a:xfrm>
          <a:prstGeom prst="roundRect">
            <a:avLst>
              <a:gd name="adj" fmla="val 9756"/>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astille Carte et proximité"/>
          <p:cNvSpPr/>
          <p:nvPr/>
        </p:nvSpPr>
        <p:spPr>
          <a:xfrm>
            <a:off x="8321040" y="2423160"/>
            <a:ext cx="603504" cy="603504"/>
          </a:xfrm>
          <a:prstGeom prst="ellipse">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ône Carte et proximité" descr="Icône carte et proximité"/>
          <p:cNvPicPr>
            <a:picLocks noChangeAspect="1"/>
          </p:cNvPicPr>
          <p:nvPr/>
        </p:nvPicPr>
        <p:blipFill>
          <a:blip r:embed="rId4"/>
          <a:stretch>
            <a:fillRect/>
          </a:stretch>
        </p:blipFill>
        <p:spPr>
          <a:xfrm>
            <a:off x="8476488" y="2578608"/>
            <a:ext cx="292608" cy="292608"/>
          </a:xfrm>
          <a:prstGeom prst="rect">
            <a:avLst/>
          </a:prstGeom>
        </p:spPr>
      </p:pic>
      <p:sp>
        <p:nvSpPr>
          <p:cNvPr id="20" name="N° Carte et proximité"/>
          <p:cNvSpPr txBox="1"/>
          <p:nvPr/>
        </p:nvSpPr>
        <p:spPr>
          <a:xfrm>
            <a:off x="10515600" y="2423160"/>
            <a:ext cx="731520" cy="603504"/>
          </a:xfrm>
          <a:prstGeom prst="rect">
            <a:avLst/>
          </a:prstGeom>
          <a:noFill/>
        </p:spPr>
        <p:txBody>
          <a:bodyPr wrap="square" lIns="0" tIns="0" rIns="0" bIns="0" anchor="ctr">
            <a:spAutoFit/>
          </a:bodyPr>
          <a:lstStyle/>
          <a:p>
            <a:pPr algn="r"/>
            <a:r>
              <a:rPr sz="2400" b="1">
                <a:solidFill>
                  <a:srgbClr val="8DB9E0"/>
                </a:solidFill>
              </a:rPr>
              <a:t>03</a:t>
            </a:r>
          </a:p>
        </p:txBody>
      </p:sp>
      <p:sp>
        <p:nvSpPr>
          <p:cNvPr id="21" name="Titre Carte et proximité"/>
          <p:cNvSpPr txBox="1"/>
          <p:nvPr/>
        </p:nvSpPr>
        <p:spPr>
          <a:xfrm>
            <a:off x="8321040" y="3154680"/>
            <a:ext cx="2926080" cy="320040"/>
          </a:xfrm>
          <a:prstGeom prst="rect">
            <a:avLst/>
          </a:prstGeom>
          <a:noFill/>
        </p:spPr>
        <p:txBody>
          <a:bodyPr wrap="square" lIns="0" tIns="0" rIns="0" bIns="0">
            <a:spAutoFit/>
          </a:bodyPr>
          <a:lstStyle/>
          <a:p>
            <a:r>
              <a:rPr sz="1800" b="1">
                <a:solidFill>
                  <a:srgbClr val="132F53"/>
                </a:solidFill>
              </a:rPr>
              <a:t>Carte et proximité</a:t>
            </a:r>
          </a:p>
        </p:txBody>
      </p:sp>
      <p:sp>
        <p:nvSpPr>
          <p:cNvPr id="22" name="Texte Carte et proximité"/>
          <p:cNvSpPr txBox="1"/>
          <p:nvPr/>
        </p:nvSpPr>
        <p:spPr>
          <a:xfrm>
            <a:off x="8321040" y="3474720"/>
            <a:ext cx="2971800" cy="502920"/>
          </a:xfrm>
          <a:prstGeom prst="rect">
            <a:avLst/>
          </a:prstGeom>
          <a:noFill/>
        </p:spPr>
        <p:txBody>
          <a:bodyPr wrap="square" lIns="0" tIns="0" rIns="0" bIns="0">
            <a:spAutoFit/>
          </a:bodyPr>
          <a:lstStyle/>
          <a:p>
            <a:r>
              <a:rPr sz="1300" b="0">
                <a:solidFill>
                  <a:srgbClr val="5B6794"/>
                </a:solidFill>
              </a:rPr>
              <a:t>Les dépôts proches, classés du plus proche au plus loin.</a:t>
            </a:r>
          </a:p>
        </p:txBody>
      </p:sp>
      <p:sp>
        <p:nvSpPr>
          <p:cNvPr id="23" name="Carte Prix et stock"/>
          <p:cNvSpPr/>
          <p:nvPr/>
        </p:nvSpPr>
        <p:spPr>
          <a:xfrm>
            <a:off x="640080" y="4206240"/>
            <a:ext cx="3474720" cy="1874519"/>
          </a:xfrm>
          <a:prstGeom prst="roundRect">
            <a:avLst>
              <a:gd name="adj" fmla="val 9756"/>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astille Prix et stock"/>
          <p:cNvSpPr/>
          <p:nvPr/>
        </p:nvSpPr>
        <p:spPr>
          <a:xfrm>
            <a:off x="914400" y="4480559"/>
            <a:ext cx="603504" cy="603504"/>
          </a:xfrm>
          <a:prstGeom prst="ellipse">
            <a:avLst/>
          </a:prstGeom>
          <a:solidFill>
            <a:srgbClr val="5B67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Icône Prix et stock" descr="Icône prix et stock"/>
          <p:cNvPicPr>
            <a:picLocks noChangeAspect="1"/>
          </p:cNvPicPr>
          <p:nvPr/>
        </p:nvPicPr>
        <p:blipFill>
          <a:blip r:embed="rId5"/>
          <a:stretch>
            <a:fillRect/>
          </a:stretch>
        </p:blipFill>
        <p:spPr>
          <a:xfrm>
            <a:off x="1069848" y="4636007"/>
            <a:ext cx="292608" cy="292608"/>
          </a:xfrm>
          <a:prstGeom prst="rect">
            <a:avLst/>
          </a:prstGeom>
        </p:spPr>
      </p:pic>
      <p:sp>
        <p:nvSpPr>
          <p:cNvPr id="26" name="N° Prix et stock"/>
          <p:cNvSpPr txBox="1"/>
          <p:nvPr/>
        </p:nvSpPr>
        <p:spPr>
          <a:xfrm>
            <a:off x="3108960" y="4480559"/>
            <a:ext cx="731520" cy="603504"/>
          </a:xfrm>
          <a:prstGeom prst="rect">
            <a:avLst/>
          </a:prstGeom>
          <a:noFill/>
        </p:spPr>
        <p:txBody>
          <a:bodyPr wrap="square" lIns="0" tIns="0" rIns="0" bIns="0" anchor="ctr">
            <a:spAutoFit/>
          </a:bodyPr>
          <a:lstStyle/>
          <a:p>
            <a:pPr algn="r"/>
            <a:r>
              <a:rPr sz="2400" b="1">
                <a:solidFill>
                  <a:srgbClr val="8DB9E0"/>
                </a:solidFill>
              </a:rPr>
              <a:t>04</a:t>
            </a:r>
          </a:p>
        </p:txBody>
      </p:sp>
      <p:sp>
        <p:nvSpPr>
          <p:cNvPr id="27" name="Titre Prix et stock"/>
          <p:cNvSpPr txBox="1"/>
          <p:nvPr/>
        </p:nvSpPr>
        <p:spPr>
          <a:xfrm>
            <a:off x="914400" y="5212079"/>
            <a:ext cx="2926080" cy="320040"/>
          </a:xfrm>
          <a:prstGeom prst="rect">
            <a:avLst/>
          </a:prstGeom>
          <a:noFill/>
        </p:spPr>
        <p:txBody>
          <a:bodyPr wrap="square" lIns="0" tIns="0" rIns="0" bIns="0">
            <a:spAutoFit/>
          </a:bodyPr>
          <a:lstStyle/>
          <a:p>
            <a:r>
              <a:rPr sz="1800" b="1">
                <a:solidFill>
                  <a:srgbClr val="132F53"/>
                </a:solidFill>
              </a:rPr>
              <a:t>Prix et stock</a:t>
            </a:r>
          </a:p>
        </p:txBody>
      </p:sp>
      <p:sp>
        <p:nvSpPr>
          <p:cNvPr id="28" name="Texte Prix et stock"/>
          <p:cNvSpPr txBox="1"/>
          <p:nvPr/>
        </p:nvSpPr>
        <p:spPr>
          <a:xfrm>
            <a:off x="914400" y="5532120"/>
            <a:ext cx="2971800" cy="502920"/>
          </a:xfrm>
          <a:prstGeom prst="rect">
            <a:avLst/>
          </a:prstGeom>
          <a:noFill/>
        </p:spPr>
        <p:txBody>
          <a:bodyPr wrap="square" lIns="0" tIns="0" rIns="0" bIns="0">
            <a:spAutoFit/>
          </a:bodyPr>
          <a:lstStyle/>
          <a:p>
            <a:r>
              <a:rPr sz="1300" b="0">
                <a:solidFill>
                  <a:srgbClr val="5B6794"/>
                </a:solidFill>
              </a:rPr>
              <a:t>Marque, format, prix, Disponible ou Rupture.</a:t>
            </a:r>
          </a:p>
        </p:txBody>
      </p:sp>
      <p:sp>
        <p:nvSpPr>
          <p:cNvPr id="29" name="Carte Contact direct"/>
          <p:cNvSpPr/>
          <p:nvPr/>
        </p:nvSpPr>
        <p:spPr>
          <a:xfrm>
            <a:off x="4343400" y="4206240"/>
            <a:ext cx="3474720" cy="1874519"/>
          </a:xfrm>
          <a:prstGeom prst="roundRect">
            <a:avLst>
              <a:gd name="adj" fmla="val 9756"/>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Pastille Contact direct"/>
          <p:cNvSpPr/>
          <p:nvPr/>
        </p:nvSpPr>
        <p:spPr>
          <a:xfrm>
            <a:off x="4617720" y="4480559"/>
            <a:ext cx="603504" cy="603504"/>
          </a:xfrm>
          <a:prstGeom prst="ellipse">
            <a:avLst/>
          </a:prstGeom>
          <a:solidFill>
            <a:srgbClr val="277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Icône Contact direct" descr="Icône contact direct"/>
          <p:cNvPicPr>
            <a:picLocks noChangeAspect="1"/>
          </p:cNvPicPr>
          <p:nvPr/>
        </p:nvPicPr>
        <p:blipFill>
          <a:blip r:embed="rId6"/>
          <a:stretch>
            <a:fillRect/>
          </a:stretch>
        </p:blipFill>
        <p:spPr>
          <a:xfrm>
            <a:off x="4773168" y="4636007"/>
            <a:ext cx="292608" cy="292608"/>
          </a:xfrm>
          <a:prstGeom prst="rect">
            <a:avLst/>
          </a:prstGeom>
        </p:spPr>
      </p:pic>
      <p:sp>
        <p:nvSpPr>
          <p:cNvPr id="32" name="N° Contact direct"/>
          <p:cNvSpPr txBox="1"/>
          <p:nvPr/>
        </p:nvSpPr>
        <p:spPr>
          <a:xfrm>
            <a:off x="6812280" y="4480559"/>
            <a:ext cx="731520" cy="603504"/>
          </a:xfrm>
          <a:prstGeom prst="rect">
            <a:avLst/>
          </a:prstGeom>
          <a:noFill/>
        </p:spPr>
        <p:txBody>
          <a:bodyPr wrap="square" lIns="0" tIns="0" rIns="0" bIns="0" anchor="ctr">
            <a:spAutoFit/>
          </a:bodyPr>
          <a:lstStyle/>
          <a:p>
            <a:pPr algn="r"/>
            <a:r>
              <a:rPr sz="2400" b="1">
                <a:solidFill>
                  <a:srgbClr val="8DB9E0"/>
                </a:solidFill>
              </a:rPr>
              <a:t>05</a:t>
            </a:r>
          </a:p>
        </p:txBody>
      </p:sp>
      <p:sp>
        <p:nvSpPr>
          <p:cNvPr id="33" name="Titre Contact direct"/>
          <p:cNvSpPr txBox="1"/>
          <p:nvPr/>
        </p:nvSpPr>
        <p:spPr>
          <a:xfrm>
            <a:off x="4617720" y="5212079"/>
            <a:ext cx="2926080" cy="320040"/>
          </a:xfrm>
          <a:prstGeom prst="rect">
            <a:avLst/>
          </a:prstGeom>
          <a:noFill/>
        </p:spPr>
        <p:txBody>
          <a:bodyPr wrap="square" lIns="0" tIns="0" rIns="0" bIns="0">
            <a:spAutoFit/>
          </a:bodyPr>
          <a:lstStyle/>
          <a:p>
            <a:r>
              <a:rPr sz="1800" b="1">
                <a:solidFill>
                  <a:srgbClr val="132F53"/>
                </a:solidFill>
              </a:rPr>
              <a:t>Contact direct</a:t>
            </a:r>
          </a:p>
        </p:txBody>
      </p:sp>
      <p:sp>
        <p:nvSpPr>
          <p:cNvPr id="34" name="Texte Contact direct"/>
          <p:cNvSpPr txBox="1"/>
          <p:nvPr/>
        </p:nvSpPr>
        <p:spPr>
          <a:xfrm>
            <a:off x="4617720" y="5532120"/>
            <a:ext cx="2971800" cy="502920"/>
          </a:xfrm>
          <a:prstGeom prst="rect">
            <a:avLst/>
          </a:prstGeom>
          <a:noFill/>
        </p:spPr>
        <p:txBody>
          <a:bodyPr wrap="square" lIns="0" tIns="0" rIns="0" bIns="0">
            <a:spAutoFit/>
          </a:bodyPr>
          <a:lstStyle/>
          <a:p>
            <a:r>
              <a:rPr sz="1300" b="0">
                <a:solidFill>
                  <a:srgbClr val="5B6794"/>
                </a:solidFill>
              </a:rPr>
              <a:t>Appeler le dépôt ou ouvrir WhatsApp en un geste.</a:t>
            </a:r>
          </a:p>
        </p:txBody>
      </p:sp>
      <p:sp>
        <p:nvSpPr>
          <p:cNvPr id="35" name="Carte Favoris et profil"/>
          <p:cNvSpPr/>
          <p:nvPr/>
        </p:nvSpPr>
        <p:spPr>
          <a:xfrm>
            <a:off x="8046719" y="4206240"/>
            <a:ext cx="3474720" cy="1874519"/>
          </a:xfrm>
          <a:prstGeom prst="roundRect">
            <a:avLst>
              <a:gd name="adj" fmla="val 9756"/>
            </a:avLst>
          </a:prstGeom>
          <a:solidFill>
            <a:srgbClr val="FFFFFF"/>
          </a:solidFill>
          <a:ln>
            <a:noFill/>
          </a:ln>
          <a:effectLst>
            <a:outerShdw blurRad="177800" dist="38100" dir="5400000" algn="t" rotWithShape="0">
              <a:srgbClr val="0B1B33">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astille Favoris et profil"/>
          <p:cNvSpPr/>
          <p:nvPr/>
        </p:nvSpPr>
        <p:spPr>
          <a:xfrm>
            <a:off x="8321040" y="4480559"/>
            <a:ext cx="603504" cy="603504"/>
          </a:xfrm>
          <a:prstGeom prst="ellipse">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Icône Favoris et profil" descr="Icône favoris et profil"/>
          <p:cNvPicPr>
            <a:picLocks noChangeAspect="1"/>
          </p:cNvPicPr>
          <p:nvPr/>
        </p:nvPicPr>
        <p:blipFill>
          <a:blip r:embed="rId7"/>
          <a:stretch>
            <a:fillRect/>
          </a:stretch>
        </p:blipFill>
        <p:spPr>
          <a:xfrm>
            <a:off x="8476488" y="4636007"/>
            <a:ext cx="292608" cy="292608"/>
          </a:xfrm>
          <a:prstGeom prst="rect">
            <a:avLst/>
          </a:prstGeom>
        </p:spPr>
      </p:pic>
      <p:sp>
        <p:nvSpPr>
          <p:cNvPr id="38" name="N° Favoris et profil"/>
          <p:cNvSpPr txBox="1"/>
          <p:nvPr/>
        </p:nvSpPr>
        <p:spPr>
          <a:xfrm>
            <a:off x="10515600" y="4480559"/>
            <a:ext cx="731520" cy="603504"/>
          </a:xfrm>
          <a:prstGeom prst="rect">
            <a:avLst/>
          </a:prstGeom>
          <a:noFill/>
        </p:spPr>
        <p:txBody>
          <a:bodyPr wrap="square" lIns="0" tIns="0" rIns="0" bIns="0" anchor="ctr">
            <a:spAutoFit/>
          </a:bodyPr>
          <a:lstStyle/>
          <a:p>
            <a:pPr algn="r"/>
            <a:r>
              <a:rPr sz="2400" b="1">
                <a:solidFill>
                  <a:srgbClr val="8DB9E0"/>
                </a:solidFill>
              </a:rPr>
              <a:t>06</a:t>
            </a:r>
          </a:p>
        </p:txBody>
      </p:sp>
      <p:sp>
        <p:nvSpPr>
          <p:cNvPr id="39" name="Titre Favoris et profil"/>
          <p:cNvSpPr txBox="1"/>
          <p:nvPr/>
        </p:nvSpPr>
        <p:spPr>
          <a:xfrm>
            <a:off x="8321040" y="5212079"/>
            <a:ext cx="2926080" cy="320040"/>
          </a:xfrm>
          <a:prstGeom prst="rect">
            <a:avLst/>
          </a:prstGeom>
          <a:noFill/>
        </p:spPr>
        <p:txBody>
          <a:bodyPr wrap="square" lIns="0" tIns="0" rIns="0" bIns="0">
            <a:spAutoFit/>
          </a:bodyPr>
          <a:lstStyle/>
          <a:p>
            <a:r>
              <a:rPr sz="1800" b="1">
                <a:solidFill>
                  <a:srgbClr val="132F53"/>
                </a:solidFill>
              </a:rPr>
              <a:t>Favoris et profil</a:t>
            </a:r>
          </a:p>
        </p:txBody>
      </p:sp>
      <p:sp>
        <p:nvSpPr>
          <p:cNvPr id="40" name="Texte Favoris et profil"/>
          <p:cNvSpPr txBox="1"/>
          <p:nvPr/>
        </p:nvSpPr>
        <p:spPr>
          <a:xfrm>
            <a:off x="8321040" y="5532120"/>
            <a:ext cx="2971800" cy="502920"/>
          </a:xfrm>
          <a:prstGeom prst="rect">
            <a:avLst/>
          </a:prstGeom>
          <a:noFill/>
        </p:spPr>
        <p:txBody>
          <a:bodyPr wrap="square" lIns="0" tIns="0" rIns="0" bIns="0">
            <a:spAutoFit/>
          </a:bodyPr>
          <a:lstStyle/>
          <a:p>
            <a:r>
              <a:rPr sz="1300" b="0">
                <a:solidFill>
                  <a:srgbClr val="5B6794"/>
                </a:solidFill>
              </a:rPr>
              <a:t>Retrouver ses dépôts favoris et gérer son compte.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p:tgtEl>
                                          <p:spTgt spid="5"/>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50"/>
                                        <p:tgtEl>
                                          <p:spTgt spid="6"/>
                                        </p:tgtEl>
                                      </p:cBhvr>
                                    </p:animEffect>
                                    <p:anim calcmode="lin" valueType="num">
                                      <p:cBhvr additive="base">
                                        <p:cTn id="12" dur="650" fill="hold"/>
                                        <p:tgtEl>
                                          <p:spTgt spid="6"/>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650"/>
                                        <p:tgtEl>
                                          <p:spTgt spid="7"/>
                                        </p:tgtEl>
                                      </p:cBhvr>
                                    </p:animEffect>
                                    <p:anim calcmode="lin" valueType="num">
                                      <p:cBhvr additive="base">
                                        <p:cTn id="16" dur="650" fill="hold"/>
                                        <p:tgtEl>
                                          <p:spTgt spid="7"/>
                                        </p:tgtEl>
                                        <p:attrNameLst>
                                          <p:attrName>ppt_y</p:attrName>
                                        </p:attrNameLst>
                                      </p:cBhvr>
                                      <p:tavLst>
                                        <p:tav tm="0">
                                          <p:val>
                                            <p:strVal val="#ppt_y+.05"/>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50"/>
                                        <p:tgtEl>
                                          <p:spTgt spid="8"/>
                                        </p:tgtEl>
                                      </p:cBhvr>
                                    </p:animEffect>
                                    <p:anim calcmode="lin" valueType="num">
                                      <p:cBhvr additive="base">
                                        <p:cTn id="20" dur="650" fill="hold"/>
                                        <p:tgtEl>
                                          <p:spTgt spid="8"/>
                                        </p:tgtEl>
                                        <p:attrNameLst>
                                          <p:attrName>ppt_y</p:attrName>
                                        </p:attrNameLst>
                                      </p:cBhvr>
                                      <p:tavLst>
                                        <p:tav tm="0">
                                          <p:val>
                                            <p:strVal val="#ppt_y+.05"/>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p:tgtEl>
                                          <p:spTgt spid="9"/>
                                        </p:tgtEl>
                                      </p:cBhvr>
                                    </p:animEffect>
                                    <p:anim calcmode="lin" valueType="num">
                                      <p:cBhvr additive="base">
                                        <p:cTn id="24" dur="650" fill="hold"/>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50"/>
                                        <p:tgtEl>
                                          <p:spTgt spid="10"/>
                                        </p:tgtEl>
                                      </p:cBhvr>
                                    </p:animEffect>
                                    <p:anim calcmode="lin" valueType="num">
                                      <p:cBhvr additive="base">
                                        <p:cTn id="28" dur="650" fill="hold"/>
                                        <p:tgtEl>
                                          <p:spTgt spid="10"/>
                                        </p:tgtEl>
                                        <p:attrNameLst>
                                          <p:attrName>ppt_y</p:attrName>
                                        </p:attrNameLst>
                                      </p:cBhvr>
                                      <p:tavLst>
                                        <p:tav tm="0">
                                          <p:val>
                                            <p:strVal val="#ppt_y+.05"/>
                                          </p:val>
                                        </p:tav>
                                        <p:tav tm="100000">
                                          <p:val>
                                            <p:strVal val="#ppt_y"/>
                                          </p:val>
                                        </p:tav>
                                      </p:tavLst>
                                    </p:anim>
                                  </p:childTnLst>
                                </p:cTn>
                              </p:par>
                              <p:par>
                                <p:cTn id="29" presetID="42" presetClass="entr" presetSubtype="0" fill="hold" nodeType="withEffect">
                                  <p:stCondLst>
                                    <p:cond delay="17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50"/>
                                        <p:tgtEl>
                                          <p:spTgt spid="11"/>
                                        </p:tgtEl>
                                      </p:cBhvr>
                                    </p:animEffect>
                                    <p:anim calcmode="lin" valueType="num">
                                      <p:cBhvr additive="base">
                                        <p:cTn id="32" dur="650" fill="hold"/>
                                        <p:tgtEl>
                                          <p:spTgt spid="11"/>
                                        </p:tgtEl>
                                        <p:attrNameLst>
                                          <p:attrName>ppt_y</p:attrName>
                                        </p:attrNameLst>
                                      </p:cBhvr>
                                      <p:tavLst>
                                        <p:tav tm="0">
                                          <p:val>
                                            <p:strVal val="#ppt_y+.05"/>
                                          </p:val>
                                        </p:tav>
                                        <p:tav tm="100000">
                                          <p:val>
                                            <p:strVal val="#ppt_y"/>
                                          </p:val>
                                        </p:tav>
                                      </p:tavLst>
                                    </p:anim>
                                  </p:childTnLst>
                                </p:cTn>
                              </p:par>
                              <p:par>
                                <p:cTn id="33" presetID="42" presetClass="entr" presetSubtype="0" fill="hold" nodeType="withEffect">
                                  <p:stCondLst>
                                    <p:cond delay="17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50"/>
                                        <p:tgtEl>
                                          <p:spTgt spid="12"/>
                                        </p:tgtEl>
                                      </p:cBhvr>
                                    </p:animEffect>
                                    <p:anim calcmode="lin" valueType="num">
                                      <p:cBhvr additive="base">
                                        <p:cTn id="36" dur="650" fill="hold"/>
                                        <p:tgtEl>
                                          <p:spTgt spid="12"/>
                                        </p:tgtEl>
                                        <p:attrNameLst>
                                          <p:attrName>ppt_y</p:attrName>
                                        </p:attrNameLst>
                                      </p:cBhvr>
                                      <p:tavLst>
                                        <p:tav tm="0">
                                          <p:val>
                                            <p:strVal val="#ppt_y+.05"/>
                                          </p:val>
                                        </p:tav>
                                        <p:tav tm="100000">
                                          <p:val>
                                            <p:strVal val="#ppt_y"/>
                                          </p:val>
                                        </p:tav>
                                      </p:tavLst>
                                    </p:anim>
                                  </p:childTnLst>
                                </p:cTn>
                              </p:par>
                              <p:par>
                                <p:cTn id="37" presetID="42" presetClass="entr" presetSubtype="0" fill="hold" nodeType="withEffect">
                                  <p:stCondLst>
                                    <p:cond delay="17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50"/>
                                        <p:tgtEl>
                                          <p:spTgt spid="13"/>
                                        </p:tgtEl>
                                      </p:cBhvr>
                                    </p:animEffect>
                                    <p:anim calcmode="lin" valueType="num">
                                      <p:cBhvr additive="base">
                                        <p:cTn id="40" dur="650" fill="hold"/>
                                        <p:tgtEl>
                                          <p:spTgt spid="13"/>
                                        </p:tgtEl>
                                        <p:attrNameLst>
                                          <p:attrName>ppt_y</p:attrName>
                                        </p:attrNameLst>
                                      </p:cBhvr>
                                      <p:tavLst>
                                        <p:tav tm="0">
                                          <p:val>
                                            <p:strVal val="#ppt_y+.05"/>
                                          </p:val>
                                        </p:tav>
                                        <p:tav tm="100000">
                                          <p:val>
                                            <p:strVal val="#ppt_y"/>
                                          </p:val>
                                        </p:tav>
                                      </p:tavLst>
                                    </p:anim>
                                  </p:childTnLst>
                                </p:cTn>
                              </p:par>
                              <p:par>
                                <p:cTn id="41" presetID="42" presetClass="entr" presetSubtype="0" fill="hold" nodeType="withEffect">
                                  <p:stCondLst>
                                    <p:cond delay="17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50"/>
                                        <p:tgtEl>
                                          <p:spTgt spid="14"/>
                                        </p:tgtEl>
                                      </p:cBhvr>
                                    </p:animEffect>
                                    <p:anim calcmode="lin" valueType="num">
                                      <p:cBhvr additive="base">
                                        <p:cTn id="44" dur="650" fill="hold"/>
                                        <p:tgtEl>
                                          <p:spTgt spid="14"/>
                                        </p:tgtEl>
                                        <p:attrNameLst>
                                          <p:attrName>ppt_y</p:attrName>
                                        </p:attrNameLst>
                                      </p:cBhvr>
                                      <p:tavLst>
                                        <p:tav tm="0">
                                          <p:val>
                                            <p:strVal val="#ppt_y+.05"/>
                                          </p:val>
                                        </p:tav>
                                        <p:tav tm="100000">
                                          <p:val>
                                            <p:strVal val="#ppt_y"/>
                                          </p:val>
                                        </p:tav>
                                      </p:tavLst>
                                    </p:anim>
                                  </p:childTnLst>
                                </p:cTn>
                              </p:par>
                              <p:par>
                                <p:cTn id="45" presetID="42" presetClass="entr" presetSubtype="0" fill="hold" nodeType="withEffect">
                                  <p:stCondLst>
                                    <p:cond delay="17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50"/>
                                        <p:tgtEl>
                                          <p:spTgt spid="15"/>
                                        </p:tgtEl>
                                      </p:cBhvr>
                                    </p:animEffect>
                                    <p:anim calcmode="lin" valueType="num">
                                      <p:cBhvr additive="base">
                                        <p:cTn id="48" dur="650" fill="hold"/>
                                        <p:tgtEl>
                                          <p:spTgt spid="15"/>
                                        </p:tgtEl>
                                        <p:attrNameLst>
                                          <p:attrName>ppt_y</p:attrName>
                                        </p:attrNameLst>
                                      </p:cBhvr>
                                      <p:tavLst>
                                        <p:tav tm="0">
                                          <p:val>
                                            <p:strVal val="#ppt_y+.05"/>
                                          </p:val>
                                        </p:tav>
                                        <p:tav tm="100000">
                                          <p:val>
                                            <p:strVal val="#ppt_y"/>
                                          </p:val>
                                        </p:tav>
                                      </p:tavLst>
                                    </p:anim>
                                  </p:childTnLst>
                                </p:cTn>
                              </p:par>
                              <p:par>
                                <p:cTn id="49" presetID="42" presetClass="entr" presetSubtype="0" fill="hold" nodeType="withEffect">
                                  <p:stCondLst>
                                    <p:cond delay="17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50"/>
                                        <p:tgtEl>
                                          <p:spTgt spid="16"/>
                                        </p:tgtEl>
                                      </p:cBhvr>
                                    </p:animEffect>
                                    <p:anim calcmode="lin" valueType="num">
                                      <p:cBhvr additive="base">
                                        <p:cTn id="52" dur="650" fill="hold"/>
                                        <p:tgtEl>
                                          <p:spTgt spid="16"/>
                                        </p:tgtEl>
                                        <p:attrNameLst>
                                          <p:attrName>ppt_y</p:attrName>
                                        </p:attrNameLst>
                                      </p:cBhvr>
                                      <p:tavLst>
                                        <p:tav tm="0">
                                          <p:val>
                                            <p:strVal val="#ppt_y+.05"/>
                                          </p:val>
                                        </p:tav>
                                        <p:tav tm="100000">
                                          <p:val>
                                            <p:strVal val="#ppt_y"/>
                                          </p:val>
                                        </p:tav>
                                      </p:tavLst>
                                    </p:anim>
                                  </p:childTnLst>
                                </p:cTn>
                              </p:par>
                              <p:par>
                                <p:cTn id="53" presetID="42" presetClass="entr" presetSubtype="0" fill="hold" nodeType="withEffect">
                                  <p:stCondLst>
                                    <p:cond delay="34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50"/>
                                        <p:tgtEl>
                                          <p:spTgt spid="17"/>
                                        </p:tgtEl>
                                      </p:cBhvr>
                                    </p:animEffect>
                                    <p:anim calcmode="lin" valueType="num">
                                      <p:cBhvr additive="base">
                                        <p:cTn id="56" dur="650" fill="hold"/>
                                        <p:tgtEl>
                                          <p:spTgt spid="17"/>
                                        </p:tgtEl>
                                        <p:attrNameLst>
                                          <p:attrName>ppt_y</p:attrName>
                                        </p:attrNameLst>
                                      </p:cBhvr>
                                      <p:tavLst>
                                        <p:tav tm="0">
                                          <p:val>
                                            <p:strVal val="#ppt_y+.05"/>
                                          </p:val>
                                        </p:tav>
                                        <p:tav tm="100000">
                                          <p:val>
                                            <p:strVal val="#ppt_y"/>
                                          </p:val>
                                        </p:tav>
                                      </p:tavLst>
                                    </p:anim>
                                  </p:childTnLst>
                                </p:cTn>
                              </p:par>
                              <p:par>
                                <p:cTn id="57" presetID="42" presetClass="entr" presetSubtype="0" fill="hold" nodeType="withEffect">
                                  <p:stCondLst>
                                    <p:cond delay="34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50"/>
                                        <p:tgtEl>
                                          <p:spTgt spid="18"/>
                                        </p:tgtEl>
                                      </p:cBhvr>
                                    </p:animEffect>
                                    <p:anim calcmode="lin" valueType="num">
                                      <p:cBhvr additive="base">
                                        <p:cTn id="60" dur="650" fill="hold"/>
                                        <p:tgtEl>
                                          <p:spTgt spid="18"/>
                                        </p:tgtEl>
                                        <p:attrNameLst>
                                          <p:attrName>ppt_y</p:attrName>
                                        </p:attrNameLst>
                                      </p:cBhvr>
                                      <p:tavLst>
                                        <p:tav tm="0">
                                          <p:val>
                                            <p:strVal val="#ppt_y+.05"/>
                                          </p:val>
                                        </p:tav>
                                        <p:tav tm="100000">
                                          <p:val>
                                            <p:strVal val="#ppt_y"/>
                                          </p:val>
                                        </p:tav>
                                      </p:tavLst>
                                    </p:anim>
                                  </p:childTnLst>
                                </p:cTn>
                              </p:par>
                              <p:par>
                                <p:cTn id="61" presetID="42" presetClass="entr" presetSubtype="0" fill="hold" nodeType="withEffect">
                                  <p:stCondLst>
                                    <p:cond delay="34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50"/>
                                        <p:tgtEl>
                                          <p:spTgt spid="19"/>
                                        </p:tgtEl>
                                      </p:cBhvr>
                                    </p:animEffect>
                                    <p:anim calcmode="lin" valueType="num">
                                      <p:cBhvr additive="base">
                                        <p:cTn id="64" dur="650" fill="hold"/>
                                        <p:tgtEl>
                                          <p:spTgt spid="19"/>
                                        </p:tgtEl>
                                        <p:attrNameLst>
                                          <p:attrName>ppt_y</p:attrName>
                                        </p:attrNameLst>
                                      </p:cBhvr>
                                      <p:tavLst>
                                        <p:tav tm="0">
                                          <p:val>
                                            <p:strVal val="#ppt_y+.05"/>
                                          </p:val>
                                        </p:tav>
                                        <p:tav tm="100000">
                                          <p:val>
                                            <p:strVal val="#ppt_y"/>
                                          </p:val>
                                        </p:tav>
                                      </p:tavLst>
                                    </p:anim>
                                  </p:childTnLst>
                                </p:cTn>
                              </p:par>
                              <p:par>
                                <p:cTn id="65" presetID="42" presetClass="entr" presetSubtype="0" fill="hold" nodeType="withEffect">
                                  <p:stCondLst>
                                    <p:cond delay="34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50"/>
                                        <p:tgtEl>
                                          <p:spTgt spid="20"/>
                                        </p:tgtEl>
                                      </p:cBhvr>
                                    </p:animEffect>
                                    <p:anim calcmode="lin" valueType="num">
                                      <p:cBhvr additive="base">
                                        <p:cTn id="68" dur="650" fill="hold"/>
                                        <p:tgtEl>
                                          <p:spTgt spid="20"/>
                                        </p:tgtEl>
                                        <p:attrNameLst>
                                          <p:attrName>ppt_y</p:attrName>
                                        </p:attrNameLst>
                                      </p:cBhvr>
                                      <p:tavLst>
                                        <p:tav tm="0">
                                          <p:val>
                                            <p:strVal val="#ppt_y+.05"/>
                                          </p:val>
                                        </p:tav>
                                        <p:tav tm="100000">
                                          <p:val>
                                            <p:strVal val="#ppt_y"/>
                                          </p:val>
                                        </p:tav>
                                      </p:tavLst>
                                    </p:anim>
                                  </p:childTnLst>
                                </p:cTn>
                              </p:par>
                              <p:par>
                                <p:cTn id="69" presetID="42" presetClass="entr" presetSubtype="0" fill="hold" nodeType="withEffect">
                                  <p:stCondLst>
                                    <p:cond delay="34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650"/>
                                        <p:tgtEl>
                                          <p:spTgt spid="21"/>
                                        </p:tgtEl>
                                      </p:cBhvr>
                                    </p:animEffect>
                                    <p:anim calcmode="lin" valueType="num">
                                      <p:cBhvr additive="base">
                                        <p:cTn id="72" dur="650" fill="hold"/>
                                        <p:tgtEl>
                                          <p:spTgt spid="21"/>
                                        </p:tgtEl>
                                        <p:attrNameLst>
                                          <p:attrName>ppt_y</p:attrName>
                                        </p:attrNameLst>
                                      </p:cBhvr>
                                      <p:tavLst>
                                        <p:tav tm="0">
                                          <p:val>
                                            <p:strVal val="#ppt_y+.05"/>
                                          </p:val>
                                        </p:tav>
                                        <p:tav tm="100000">
                                          <p:val>
                                            <p:strVal val="#ppt_y"/>
                                          </p:val>
                                        </p:tav>
                                      </p:tavLst>
                                    </p:anim>
                                  </p:childTnLst>
                                </p:cTn>
                              </p:par>
                              <p:par>
                                <p:cTn id="73" presetID="42" presetClass="entr" presetSubtype="0" fill="hold" nodeType="withEffect">
                                  <p:stCondLst>
                                    <p:cond delay="34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650"/>
                                        <p:tgtEl>
                                          <p:spTgt spid="22"/>
                                        </p:tgtEl>
                                      </p:cBhvr>
                                    </p:animEffect>
                                    <p:anim calcmode="lin" valueType="num">
                                      <p:cBhvr additive="base">
                                        <p:cTn id="76" dur="650" fill="hold"/>
                                        <p:tgtEl>
                                          <p:spTgt spid="22"/>
                                        </p:tgtEl>
                                        <p:attrNameLst>
                                          <p:attrName>ppt_y</p:attrName>
                                        </p:attrNameLst>
                                      </p:cBhvr>
                                      <p:tavLst>
                                        <p:tav tm="0">
                                          <p:val>
                                            <p:strVal val="#ppt_y+.05"/>
                                          </p:val>
                                        </p:tav>
                                        <p:tav tm="100000">
                                          <p:val>
                                            <p:strVal val="#ppt_y"/>
                                          </p:val>
                                        </p:tav>
                                      </p:tavLst>
                                    </p:anim>
                                  </p:childTnLst>
                                </p:cTn>
                              </p:par>
                              <p:par>
                                <p:cTn id="77" presetID="42" presetClass="entr" presetSubtype="0" fill="hold" nodeType="withEffect">
                                  <p:stCondLst>
                                    <p:cond delay="51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650"/>
                                        <p:tgtEl>
                                          <p:spTgt spid="23"/>
                                        </p:tgtEl>
                                      </p:cBhvr>
                                    </p:animEffect>
                                    <p:anim calcmode="lin" valueType="num">
                                      <p:cBhvr additive="base">
                                        <p:cTn id="80" dur="650" fill="hold"/>
                                        <p:tgtEl>
                                          <p:spTgt spid="23"/>
                                        </p:tgtEl>
                                        <p:attrNameLst>
                                          <p:attrName>ppt_y</p:attrName>
                                        </p:attrNameLst>
                                      </p:cBhvr>
                                      <p:tavLst>
                                        <p:tav tm="0">
                                          <p:val>
                                            <p:strVal val="#ppt_y+.05"/>
                                          </p:val>
                                        </p:tav>
                                        <p:tav tm="100000">
                                          <p:val>
                                            <p:strVal val="#ppt_y"/>
                                          </p:val>
                                        </p:tav>
                                      </p:tavLst>
                                    </p:anim>
                                  </p:childTnLst>
                                </p:cTn>
                              </p:par>
                              <p:par>
                                <p:cTn id="81" presetID="42" presetClass="entr" presetSubtype="0" fill="hold" nodeType="withEffect">
                                  <p:stCondLst>
                                    <p:cond delay="51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650"/>
                                        <p:tgtEl>
                                          <p:spTgt spid="24"/>
                                        </p:tgtEl>
                                      </p:cBhvr>
                                    </p:animEffect>
                                    <p:anim calcmode="lin" valueType="num">
                                      <p:cBhvr additive="base">
                                        <p:cTn id="84" dur="650" fill="hold"/>
                                        <p:tgtEl>
                                          <p:spTgt spid="24"/>
                                        </p:tgtEl>
                                        <p:attrNameLst>
                                          <p:attrName>ppt_y</p:attrName>
                                        </p:attrNameLst>
                                      </p:cBhvr>
                                      <p:tavLst>
                                        <p:tav tm="0">
                                          <p:val>
                                            <p:strVal val="#ppt_y+.05"/>
                                          </p:val>
                                        </p:tav>
                                        <p:tav tm="100000">
                                          <p:val>
                                            <p:strVal val="#ppt_y"/>
                                          </p:val>
                                        </p:tav>
                                      </p:tavLst>
                                    </p:anim>
                                  </p:childTnLst>
                                </p:cTn>
                              </p:par>
                              <p:par>
                                <p:cTn id="85" presetID="42" presetClass="entr" presetSubtype="0" fill="hold" nodeType="withEffect">
                                  <p:stCondLst>
                                    <p:cond delay="51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650"/>
                                        <p:tgtEl>
                                          <p:spTgt spid="25"/>
                                        </p:tgtEl>
                                      </p:cBhvr>
                                    </p:animEffect>
                                    <p:anim calcmode="lin" valueType="num">
                                      <p:cBhvr additive="base">
                                        <p:cTn id="88" dur="650" fill="hold"/>
                                        <p:tgtEl>
                                          <p:spTgt spid="25"/>
                                        </p:tgtEl>
                                        <p:attrNameLst>
                                          <p:attrName>ppt_y</p:attrName>
                                        </p:attrNameLst>
                                      </p:cBhvr>
                                      <p:tavLst>
                                        <p:tav tm="0">
                                          <p:val>
                                            <p:strVal val="#ppt_y+.05"/>
                                          </p:val>
                                        </p:tav>
                                        <p:tav tm="100000">
                                          <p:val>
                                            <p:strVal val="#ppt_y"/>
                                          </p:val>
                                        </p:tav>
                                      </p:tavLst>
                                    </p:anim>
                                  </p:childTnLst>
                                </p:cTn>
                              </p:par>
                              <p:par>
                                <p:cTn id="89" presetID="42" presetClass="entr" presetSubtype="0" fill="hold" nodeType="withEffect">
                                  <p:stCondLst>
                                    <p:cond delay="51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650"/>
                                        <p:tgtEl>
                                          <p:spTgt spid="26"/>
                                        </p:tgtEl>
                                      </p:cBhvr>
                                    </p:animEffect>
                                    <p:anim calcmode="lin" valueType="num">
                                      <p:cBhvr additive="base">
                                        <p:cTn id="92" dur="650" fill="hold"/>
                                        <p:tgtEl>
                                          <p:spTgt spid="26"/>
                                        </p:tgtEl>
                                        <p:attrNameLst>
                                          <p:attrName>ppt_y</p:attrName>
                                        </p:attrNameLst>
                                      </p:cBhvr>
                                      <p:tavLst>
                                        <p:tav tm="0">
                                          <p:val>
                                            <p:strVal val="#ppt_y+.05"/>
                                          </p:val>
                                        </p:tav>
                                        <p:tav tm="100000">
                                          <p:val>
                                            <p:strVal val="#ppt_y"/>
                                          </p:val>
                                        </p:tav>
                                      </p:tavLst>
                                    </p:anim>
                                  </p:childTnLst>
                                </p:cTn>
                              </p:par>
                              <p:par>
                                <p:cTn id="93" presetID="42" presetClass="entr" presetSubtype="0" fill="hold" nodeType="withEffect">
                                  <p:stCondLst>
                                    <p:cond delay="51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650"/>
                                        <p:tgtEl>
                                          <p:spTgt spid="27"/>
                                        </p:tgtEl>
                                      </p:cBhvr>
                                    </p:animEffect>
                                    <p:anim calcmode="lin" valueType="num">
                                      <p:cBhvr additive="base">
                                        <p:cTn id="96" dur="650" fill="hold"/>
                                        <p:tgtEl>
                                          <p:spTgt spid="27"/>
                                        </p:tgtEl>
                                        <p:attrNameLst>
                                          <p:attrName>ppt_y</p:attrName>
                                        </p:attrNameLst>
                                      </p:cBhvr>
                                      <p:tavLst>
                                        <p:tav tm="0">
                                          <p:val>
                                            <p:strVal val="#ppt_y+.05"/>
                                          </p:val>
                                        </p:tav>
                                        <p:tav tm="100000">
                                          <p:val>
                                            <p:strVal val="#ppt_y"/>
                                          </p:val>
                                        </p:tav>
                                      </p:tavLst>
                                    </p:anim>
                                  </p:childTnLst>
                                </p:cTn>
                              </p:par>
                              <p:par>
                                <p:cTn id="97" presetID="42" presetClass="entr" presetSubtype="0" fill="hold" nodeType="withEffect">
                                  <p:stCondLst>
                                    <p:cond delay="51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650"/>
                                        <p:tgtEl>
                                          <p:spTgt spid="28"/>
                                        </p:tgtEl>
                                      </p:cBhvr>
                                    </p:animEffect>
                                    <p:anim calcmode="lin" valueType="num">
                                      <p:cBhvr additive="base">
                                        <p:cTn id="100" dur="650" fill="hold"/>
                                        <p:tgtEl>
                                          <p:spTgt spid="28"/>
                                        </p:tgtEl>
                                        <p:attrNameLst>
                                          <p:attrName>ppt_y</p:attrName>
                                        </p:attrNameLst>
                                      </p:cBhvr>
                                      <p:tavLst>
                                        <p:tav tm="0">
                                          <p:val>
                                            <p:strVal val="#ppt_y+.05"/>
                                          </p:val>
                                        </p:tav>
                                        <p:tav tm="100000">
                                          <p:val>
                                            <p:strVal val="#ppt_y"/>
                                          </p:val>
                                        </p:tav>
                                      </p:tavLst>
                                    </p:anim>
                                  </p:childTnLst>
                                </p:cTn>
                              </p:par>
                              <p:par>
                                <p:cTn id="101" presetID="42" presetClass="entr" presetSubtype="0" fill="hold" nodeType="withEffect">
                                  <p:stCondLst>
                                    <p:cond delay="68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650"/>
                                        <p:tgtEl>
                                          <p:spTgt spid="29"/>
                                        </p:tgtEl>
                                      </p:cBhvr>
                                    </p:animEffect>
                                    <p:anim calcmode="lin" valueType="num">
                                      <p:cBhvr additive="base">
                                        <p:cTn id="104" dur="650" fill="hold"/>
                                        <p:tgtEl>
                                          <p:spTgt spid="29"/>
                                        </p:tgtEl>
                                        <p:attrNameLst>
                                          <p:attrName>ppt_y</p:attrName>
                                        </p:attrNameLst>
                                      </p:cBhvr>
                                      <p:tavLst>
                                        <p:tav tm="0">
                                          <p:val>
                                            <p:strVal val="#ppt_y+.05"/>
                                          </p:val>
                                        </p:tav>
                                        <p:tav tm="100000">
                                          <p:val>
                                            <p:strVal val="#ppt_y"/>
                                          </p:val>
                                        </p:tav>
                                      </p:tavLst>
                                    </p:anim>
                                  </p:childTnLst>
                                </p:cTn>
                              </p:par>
                              <p:par>
                                <p:cTn id="105" presetID="42" presetClass="entr" presetSubtype="0" fill="hold" nodeType="withEffect">
                                  <p:stCondLst>
                                    <p:cond delay="68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650"/>
                                        <p:tgtEl>
                                          <p:spTgt spid="30"/>
                                        </p:tgtEl>
                                      </p:cBhvr>
                                    </p:animEffect>
                                    <p:anim calcmode="lin" valueType="num">
                                      <p:cBhvr additive="base">
                                        <p:cTn id="108" dur="650" fill="hold"/>
                                        <p:tgtEl>
                                          <p:spTgt spid="30"/>
                                        </p:tgtEl>
                                        <p:attrNameLst>
                                          <p:attrName>ppt_y</p:attrName>
                                        </p:attrNameLst>
                                      </p:cBhvr>
                                      <p:tavLst>
                                        <p:tav tm="0">
                                          <p:val>
                                            <p:strVal val="#ppt_y+.05"/>
                                          </p:val>
                                        </p:tav>
                                        <p:tav tm="100000">
                                          <p:val>
                                            <p:strVal val="#ppt_y"/>
                                          </p:val>
                                        </p:tav>
                                      </p:tavLst>
                                    </p:anim>
                                  </p:childTnLst>
                                </p:cTn>
                              </p:par>
                              <p:par>
                                <p:cTn id="109" presetID="42" presetClass="entr" presetSubtype="0" fill="hold" nodeType="withEffect">
                                  <p:stCondLst>
                                    <p:cond delay="68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650"/>
                                        <p:tgtEl>
                                          <p:spTgt spid="31"/>
                                        </p:tgtEl>
                                      </p:cBhvr>
                                    </p:animEffect>
                                    <p:anim calcmode="lin" valueType="num">
                                      <p:cBhvr additive="base">
                                        <p:cTn id="112" dur="650" fill="hold"/>
                                        <p:tgtEl>
                                          <p:spTgt spid="31"/>
                                        </p:tgtEl>
                                        <p:attrNameLst>
                                          <p:attrName>ppt_y</p:attrName>
                                        </p:attrNameLst>
                                      </p:cBhvr>
                                      <p:tavLst>
                                        <p:tav tm="0">
                                          <p:val>
                                            <p:strVal val="#ppt_y+.05"/>
                                          </p:val>
                                        </p:tav>
                                        <p:tav tm="100000">
                                          <p:val>
                                            <p:strVal val="#ppt_y"/>
                                          </p:val>
                                        </p:tav>
                                      </p:tavLst>
                                    </p:anim>
                                  </p:childTnLst>
                                </p:cTn>
                              </p:par>
                              <p:par>
                                <p:cTn id="113" presetID="42" presetClass="entr" presetSubtype="0" fill="hold" nodeType="withEffect">
                                  <p:stCondLst>
                                    <p:cond delay="68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650"/>
                                        <p:tgtEl>
                                          <p:spTgt spid="32"/>
                                        </p:tgtEl>
                                      </p:cBhvr>
                                    </p:animEffect>
                                    <p:anim calcmode="lin" valueType="num">
                                      <p:cBhvr additive="base">
                                        <p:cTn id="116" dur="650" fill="hold"/>
                                        <p:tgtEl>
                                          <p:spTgt spid="32"/>
                                        </p:tgtEl>
                                        <p:attrNameLst>
                                          <p:attrName>ppt_y</p:attrName>
                                        </p:attrNameLst>
                                      </p:cBhvr>
                                      <p:tavLst>
                                        <p:tav tm="0">
                                          <p:val>
                                            <p:strVal val="#ppt_y+.05"/>
                                          </p:val>
                                        </p:tav>
                                        <p:tav tm="100000">
                                          <p:val>
                                            <p:strVal val="#ppt_y"/>
                                          </p:val>
                                        </p:tav>
                                      </p:tavLst>
                                    </p:anim>
                                  </p:childTnLst>
                                </p:cTn>
                              </p:par>
                              <p:par>
                                <p:cTn id="117" presetID="42" presetClass="entr" presetSubtype="0" fill="hold" nodeType="withEffect">
                                  <p:stCondLst>
                                    <p:cond delay="68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650"/>
                                        <p:tgtEl>
                                          <p:spTgt spid="33"/>
                                        </p:tgtEl>
                                      </p:cBhvr>
                                    </p:animEffect>
                                    <p:anim calcmode="lin" valueType="num">
                                      <p:cBhvr additive="base">
                                        <p:cTn id="120" dur="650" fill="hold"/>
                                        <p:tgtEl>
                                          <p:spTgt spid="33"/>
                                        </p:tgtEl>
                                        <p:attrNameLst>
                                          <p:attrName>ppt_y</p:attrName>
                                        </p:attrNameLst>
                                      </p:cBhvr>
                                      <p:tavLst>
                                        <p:tav tm="0">
                                          <p:val>
                                            <p:strVal val="#ppt_y+.05"/>
                                          </p:val>
                                        </p:tav>
                                        <p:tav tm="100000">
                                          <p:val>
                                            <p:strVal val="#ppt_y"/>
                                          </p:val>
                                        </p:tav>
                                      </p:tavLst>
                                    </p:anim>
                                  </p:childTnLst>
                                </p:cTn>
                              </p:par>
                              <p:par>
                                <p:cTn id="121" presetID="42" presetClass="entr" presetSubtype="0" fill="hold" nodeType="withEffect">
                                  <p:stCondLst>
                                    <p:cond delay="68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650"/>
                                        <p:tgtEl>
                                          <p:spTgt spid="34"/>
                                        </p:tgtEl>
                                      </p:cBhvr>
                                    </p:animEffect>
                                    <p:anim calcmode="lin" valueType="num">
                                      <p:cBhvr additive="base">
                                        <p:cTn id="124" dur="650" fill="hold"/>
                                        <p:tgtEl>
                                          <p:spTgt spid="34"/>
                                        </p:tgtEl>
                                        <p:attrNameLst>
                                          <p:attrName>ppt_y</p:attrName>
                                        </p:attrNameLst>
                                      </p:cBhvr>
                                      <p:tavLst>
                                        <p:tav tm="0">
                                          <p:val>
                                            <p:strVal val="#ppt_y+.05"/>
                                          </p:val>
                                        </p:tav>
                                        <p:tav tm="100000">
                                          <p:val>
                                            <p:strVal val="#ppt_y"/>
                                          </p:val>
                                        </p:tav>
                                      </p:tavLst>
                                    </p:anim>
                                  </p:childTnLst>
                                </p:cTn>
                              </p:par>
                              <p:par>
                                <p:cTn id="125" presetID="42" presetClass="entr" presetSubtype="0" fill="hold" nodeType="withEffect">
                                  <p:stCondLst>
                                    <p:cond delay="85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650"/>
                                        <p:tgtEl>
                                          <p:spTgt spid="35"/>
                                        </p:tgtEl>
                                      </p:cBhvr>
                                    </p:animEffect>
                                    <p:anim calcmode="lin" valueType="num">
                                      <p:cBhvr additive="base">
                                        <p:cTn id="128" dur="650" fill="hold"/>
                                        <p:tgtEl>
                                          <p:spTgt spid="35"/>
                                        </p:tgtEl>
                                        <p:attrNameLst>
                                          <p:attrName>ppt_y</p:attrName>
                                        </p:attrNameLst>
                                      </p:cBhvr>
                                      <p:tavLst>
                                        <p:tav tm="0">
                                          <p:val>
                                            <p:strVal val="#ppt_y+.05"/>
                                          </p:val>
                                        </p:tav>
                                        <p:tav tm="100000">
                                          <p:val>
                                            <p:strVal val="#ppt_y"/>
                                          </p:val>
                                        </p:tav>
                                      </p:tavLst>
                                    </p:anim>
                                  </p:childTnLst>
                                </p:cTn>
                              </p:par>
                              <p:par>
                                <p:cTn id="129" presetID="42" presetClass="entr" presetSubtype="0" fill="hold" nodeType="withEffect">
                                  <p:stCondLst>
                                    <p:cond delay="850"/>
                                  </p:stCondLst>
                                  <p:childTnLst>
                                    <p:set>
                                      <p:cBhvr>
                                        <p:cTn id="130" dur="1" fill="hold">
                                          <p:stCondLst>
                                            <p:cond delay="0"/>
                                          </p:stCondLst>
                                        </p:cTn>
                                        <p:tgtEl>
                                          <p:spTgt spid="36"/>
                                        </p:tgtEl>
                                        <p:attrNameLst>
                                          <p:attrName>style.visibility</p:attrName>
                                        </p:attrNameLst>
                                      </p:cBhvr>
                                      <p:to>
                                        <p:strVal val="visible"/>
                                      </p:to>
                                    </p:set>
                                    <p:animEffect transition="in" filter="fade">
                                      <p:cBhvr>
                                        <p:cTn id="131" dur="650"/>
                                        <p:tgtEl>
                                          <p:spTgt spid="36"/>
                                        </p:tgtEl>
                                      </p:cBhvr>
                                    </p:animEffect>
                                    <p:anim calcmode="lin" valueType="num">
                                      <p:cBhvr additive="base">
                                        <p:cTn id="132" dur="650" fill="hold"/>
                                        <p:tgtEl>
                                          <p:spTgt spid="36"/>
                                        </p:tgtEl>
                                        <p:attrNameLst>
                                          <p:attrName>ppt_y</p:attrName>
                                        </p:attrNameLst>
                                      </p:cBhvr>
                                      <p:tavLst>
                                        <p:tav tm="0">
                                          <p:val>
                                            <p:strVal val="#ppt_y+.05"/>
                                          </p:val>
                                        </p:tav>
                                        <p:tav tm="100000">
                                          <p:val>
                                            <p:strVal val="#ppt_y"/>
                                          </p:val>
                                        </p:tav>
                                      </p:tavLst>
                                    </p:anim>
                                  </p:childTnLst>
                                </p:cTn>
                              </p:par>
                              <p:par>
                                <p:cTn id="133" presetID="42" presetClass="entr" presetSubtype="0" fill="hold" nodeType="withEffect">
                                  <p:stCondLst>
                                    <p:cond delay="850"/>
                                  </p:stCondLst>
                                  <p:childTnLst>
                                    <p:set>
                                      <p:cBhvr>
                                        <p:cTn id="134" dur="1" fill="hold">
                                          <p:stCondLst>
                                            <p:cond delay="0"/>
                                          </p:stCondLst>
                                        </p:cTn>
                                        <p:tgtEl>
                                          <p:spTgt spid="37"/>
                                        </p:tgtEl>
                                        <p:attrNameLst>
                                          <p:attrName>style.visibility</p:attrName>
                                        </p:attrNameLst>
                                      </p:cBhvr>
                                      <p:to>
                                        <p:strVal val="visible"/>
                                      </p:to>
                                    </p:set>
                                    <p:animEffect transition="in" filter="fade">
                                      <p:cBhvr>
                                        <p:cTn id="135" dur="650"/>
                                        <p:tgtEl>
                                          <p:spTgt spid="37"/>
                                        </p:tgtEl>
                                      </p:cBhvr>
                                    </p:animEffect>
                                    <p:anim calcmode="lin" valueType="num">
                                      <p:cBhvr additive="base">
                                        <p:cTn id="136" dur="650" fill="hold"/>
                                        <p:tgtEl>
                                          <p:spTgt spid="37"/>
                                        </p:tgtEl>
                                        <p:attrNameLst>
                                          <p:attrName>ppt_y</p:attrName>
                                        </p:attrNameLst>
                                      </p:cBhvr>
                                      <p:tavLst>
                                        <p:tav tm="0">
                                          <p:val>
                                            <p:strVal val="#ppt_y+.05"/>
                                          </p:val>
                                        </p:tav>
                                        <p:tav tm="100000">
                                          <p:val>
                                            <p:strVal val="#ppt_y"/>
                                          </p:val>
                                        </p:tav>
                                      </p:tavLst>
                                    </p:anim>
                                  </p:childTnLst>
                                </p:cTn>
                              </p:par>
                              <p:par>
                                <p:cTn id="137" presetID="42" presetClass="entr" presetSubtype="0" fill="hold" nodeType="withEffect">
                                  <p:stCondLst>
                                    <p:cond delay="850"/>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650"/>
                                        <p:tgtEl>
                                          <p:spTgt spid="38"/>
                                        </p:tgtEl>
                                      </p:cBhvr>
                                    </p:animEffect>
                                    <p:anim calcmode="lin" valueType="num">
                                      <p:cBhvr additive="base">
                                        <p:cTn id="140" dur="650" fill="hold"/>
                                        <p:tgtEl>
                                          <p:spTgt spid="38"/>
                                        </p:tgtEl>
                                        <p:attrNameLst>
                                          <p:attrName>ppt_y</p:attrName>
                                        </p:attrNameLst>
                                      </p:cBhvr>
                                      <p:tavLst>
                                        <p:tav tm="0">
                                          <p:val>
                                            <p:strVal val="#ppt_y+.05"/>
                                          </p:val>
                                        </p:tav>
                                        <p:tav tm="100000">
                                          <p:val>
                                            <p:strVal val="#ppt_y"/>
                                          </p:val>
                                        </p:tav>
                                      </p:tavLst>
                                    </p:anim>
                                  </p:childTnLst>
                                </p:cTn>
                              </p:par>
                              <p:par>
                                <p:cTn id="141" presetID="42" presetClass="entr" presetSubtype="0" fill="hold" nodeType="withEffect">
                                  <p:stCondLst>
                                    <p:cond delay="85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650"/>
                                        <p:tgtEl>
                                          <p:spTgt spid="39"/>
                                        </p:tgtEl>
                                      </p:cBhvr>
                                    </p:animEffect>
                                    <p:anim calcmode="lin" valueType="num">
                                      <p:cBhvr additive="base">
                                        <p:cTn id="144" dur="650" fill="hold"/>
                                        <p:tgtEl>
                                          <p:spTgt spid="39"/>
                                        </p:tgtEl>
                                        <p:attrNameLst>
                                          <p:attrName>ppt_y</p:attrName>
                                        </p:attrNameLst>
                                      </p:cBhvr>
                                      <p:tavLst>
                                        <p:tav tm="0">
                                          <p:val>
                                            <p:strVal val="#ppt_y+.05"/>
                                          </p:val>
                                        </p:tav>
                                        <p:tav tm="100000">
                                          <p:val>
                                            <p:strVal val="#ppt_y"/>
                                          </p:val>
                                        </p:tav>
                                      </p:tavLst>
                                    </p:anim>
                                  </p:childTnLst>
                                </p:cTn>
                              </p:par>
                              <p:par>
                                <p:cTn id="145" presetID="42" presetClass="entr" presetSubtype="0" fill="hold" nodeType="withEffect">
                                  <p:stCondLst>
                                    <p:cond delay="85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650"/>
                                        <p:tgtEl>
                                          <p:spTgt spid="40"/>
                                        </p:tgtEl>
                                      </p:cBhvr>
                                    </p:animEffect>
                                    <p:anim calcmode="lin" valueType="num">
                                      <p:cBhvr additive="base">
                                        <p:cTn id="148" dur="650" fill="hold"/>
                                        <p:tgtEl>
                                          <p:spTgt spid="40"/>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urtitre"/>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300" dirty="0">
                <a:solidFill>
                  <a:srgbClr val="0B8A5E"/>
                </a:solidFill>
              </a:rPr>
              <a:t> ARCHITECTURE</a:t>
            </a:r>
            <a:endParaRPr lang="en-US" sz="1200" dirty="0"/>
          </a:p>
        </p:txBody>
      </p:sp>
      <p:sp>
        <p:nvSpPr>
          <p:cNvPr id="3" name="Text 1"/>
          <p:cNvSpPr>
            <a:spLocks noGrp="1"/>
          </p:cNvSpPr>
          <p:nvPr>
            <p:ph type="title" idx="101" hasCustomPrompt="1"/>
          </p:nvPr>
        </p:nvSpPr>
        <p:spPr>
          <a:xfrm>
            <a:off x="640080" y="713232"/>
            <a:ext cx="10881360" cy="777240"/>
          </a:xfrm>
          <a:prstGeom prst="rect">
            <a:avLst/>
          </a:prstGeom>
          <a:noFill/>
          <a:ln/>
        </p:spPr>
        <p:txBody>
          <a:bodyPr wrap="square" lIns="0" tIns="0" rIns="0" bIns="0" rtlCol="0" anchor="t"/>
          <a:lstStyle/>
          <a:p>
            <a:pPr marL="0" indent="0" algn="l">
              <a:buNone/>
            </a:pPr>
            <a:r>
              <a:rPr lang="en-US" sz="3400" b="1" dirty="0">
                <a:solidFill>
                  <a:schemeClr val="tx2"/>
                </a:solidFill>
              </a:rPr>
              <a:t>Architecture de l’application</a:t>
            </a:r>
            <a:endParaRPr lang="en-US" sz="3400" dirty="0"/>
          </a:p>
        </p:txBody>
      </p:sp>
      <p:sp>
        <p:nvSpPr>
          <p:cNvPr id="4" name="Sous-titre"/>
          <p:cNvSpPr txBox="1"/>
          <p:nvPr/>
        </p:nvSpPr>
        <p:spPr>
          <a:xfrm>
            <a:off x="640080" y="1463040"/>
            <a:ext cx="10424160" cy="365760"/>
          </a:xfrm>
          <a:prstGeom prst="rect">
            <a:avLst/>
          </a:prstGeom>
          <a:noFill/>
          <a:ln/>
        </p:spPr>
        <p:txBody>
          <a:bodyPr wrap="square" lIns="0" tIns="0" rIns="0" bIns="0" rtlCol="0" anchor="ctr"/>
          <a:lstStyle/>
          <a:p>
            <a:pPr marL="0" indent="0">
              <a:buNone/>
            </a:pPr>
            <a:r>
              <a:rPr lang="en-US" sz="1600" dirty="0">
                <a:solidFill>
                  <a:schemeClr val="accent5"/>
                </a:solidFill>
              </a:rPr>
              <a:t>Schéma prévisionnel : la cartographie et les règles d’accès restent à configurer.</a:t>
            </a:r>
            <a:endParaRPr lang="en-US" sz="1600" dirty="0"/>
          </a:p>
        </p:txBody>
      </p:sp>
      <p:sp>
        <p:nvSpPr>
          <p:cNvPr id="5" name="Application client"/>
          <p:cNvSpPr/>
          <p:nvPr/>
        </p:nvSpPr>
        <p:spPr>
          <a:xfrm>
            <a:off x="640080" y="2377440"/>
            <a:ext cx="2651760" cy="1417320"/>
          </a:xfrm>
          <a:prstGeom prst="roundRect">
            <a:avLst>
              <a:gd name="adj" fmla="val 11613"/>
            </a:avLst>
          </a:prstGeom>
          <a:solidFill>
            <a:schemeClr val="accent1"/>
          </a:solidFill>
          <a:ln w="12700">
            <a:solidFill>
              <a:schemeClr val="accent1"/>
            </a:solidFill>
            <a:prstDash val="solid"/>
          </a:ln>
          <a:effectLst>
            <a:outerShdw blurRad="152400" dist="50800" dir="5400000" algn="bl" rotWithShape="0">
              <a:srgbClr val="0B1B33">
                <a:alpha val="14000"/>
              </a:srgbClr>
            </a:outerShdw>
          </a:effectLst>
        </p:spPr>
        <p:txBody>
          <a:bodyPr/>
          <a:lstStyle/>
          <a:p>
            <a:endParaRPr/>
          </a:p>
        </p:txBody>
      </p:sp>
      <p:sp>
        <p:nvSpPr>
          <p:cNvPr id="6" name="Texte application client"/>
          <p:cNvSpPr txBox="1"/>
          <p:nvPr/>
        </p:nvSpPr>
        <p:spPr>
          <a:xfrm>
            <a:off x="640080" y="2377440"/>
            <a:ext cx="2651760" cy="1417320"/>
          </a:xfrm>
          <a:prstGeom prst="rect">
            <a:avLst/>
          </a:prstGeom>
          <a:noFill/>
          <a:ln/>
        </p:spPr>
        <p:txBody>
          <a:bodyPr wrap="square" lIns="0" tIns="0" rIns="0" bIns="0" rtlCol="0" anchor="ctr"/>
          <a:lstStyle/>
          <a:p>
            <a:pPr marL="0" indent="0" algn="ctr">
              <a:buNone/>
            </a:pPr>
            <a:r>
              <a:rPr lang="en-US" sz="1100" b="1" kern="0" spc="200" dirty="0">
                <a:solidFill>
                  <a:srgbClr val="CFE3F6"/>
                </a:solidFill>
              </a:rPr>
              <a:t>APPLICATION CLIENT</a:t>
            </a:r>
            <a:endParaRPr lang="en-US" sz="1100" dirty="0"/>
          </a:p>
          <a:p>
            <a:pPr marL="0" indent="0" algn="ctr">
              <a:buNone/>
            </a:pPr>
            <a:r>
              <a:rPr lang="en-US" sz="2400" b="1" dirty="0">
                <a:solidFill>
                  <a:schemeClr val="bg1"/>
                </a:solidFill>
              </a:rPr>
              <a:t>Android</a:t>
            </a:r>
            <a:endParaRPr lang="en-US" sz="1100" dirty="0"/>
          </a:p>
          <a:p>
            <a:pPr marL="0" indent="0" algn="ctr">
              <a:buNone/>
            </a:pPr>
            <a:r>
              <a:rPr lang="en-US" sz="1400" dirty="0">
                <a:solidFill>
                  <a:srgbClr val="E6F0FA"/>
                </a:solidFill>
              </a:rPr>
              <a:t>Jetpack Compose</a:t>
            </a:r>
            <a:endParaRPr lang="en-US" sz="1100" dirty="0"/>
          </a:p>
        </p:txBody>
      </p:sp>
      <p:sp>
        <p:nvSpPr>
          <p:cNvPr id="7" name="Contact direct"/>
          <p:cNvSpPr/>
          <p:nvPr/>
        </p:nvSpPr>
        <p:spPr>
          <a:xfrm>
            <a:off x="640080" y="4754880"/>
            <a:ext cx="2651760" cy="1188720"/>
          </a:xfrm>
          <a:prstGeom prst="roundRect">
            <a:avLst>
              <a:gd name="adj" fmla="val 13846"/>
            </a:avLst>
          </a:prstGeom>
          <a:solidFill>
            <a:schemeClr val="bg1"/>
          </a:solidFill>
          <a:ln w="19050">
            <a:solidFill>
              <a:schemeClr val="accent2"/>
            </a:solidFill>
            <a:prstDash val="solid"/>
          </a:ln>
          <a:effectLst>
            <a:outerShdw blurRad="127000" dist="38100" dir="5400000" algn="bl" rotWithShape="0">
              <a:srgbClr val="0B1B33">
                <a:alpha val="10000"/>
              </a:srgbClr>
            </a:outerShdw>
          </a:effectLst>
        </p:spPr>
        <p:txBody>
          <a:bodyPr/>
          <a:lstStyle/>
          <a:p>
            <a:endParaRPr/>
          </a:p>
        </p:txBody>
      </p:sp>
      <p:sp>
        <p:nvSpPr>
          <p:cNvPr id="8" name="Texte contact direct"/>
          <p:cNvSpPr txBox="1"/>
          <p:nvPr/>
        </p:nvSpPr>
        <p:spPr>
          <a:xfrm>
            <a:off x="640080" y="4754880"/>
            <a:ext cx="2651760" cy="1188720"/>
          </a:xfrm>
          <a:prstGeom prst="rect">
            <a:avLst/>
          </a:prstGeom>
          <a:noFill/>
          <a:ln/>
        </p:spPr>
        <p:txBody>
          <a:bodyPr wrap="square" lIns="0" tIns="0" rIns="0" bIns="0" rtlCol="0" anchor="ctr"/>
          <a:lstStyle/>
          <a:p>
            <a:pPr marL="0" indent="0" algn="ctr">
              <a:buNone/>
            </a:pPr>
            <a:r>
              <a:rPr lang="en-US" sz="1800" b="1" dirty="0">
                <a:solidFill>
                  <a:schemeClr val="tx2"/>
                </a:solidFill>
              </a:rPr>
              <a:t>Contact direct</a:t>
            </a:r>
            <a:endParaRPr lang="en-US" sz="1800" dirty="0"/>
          </a:p>
          <a:p>
            <a:pPr marL="0" indent="0" algn="ctr">
              <a:buNone/>
            </a:pPr>
            <a:r>
              <a:rPr lang="en-US" sz="1400" dirty="0">
                <a:solidFill>
                  <a:schemeClr val="accent5"/>
                </a:solidFill>
              </a:rPr>
              <a:t>Appel ou WhatsApp</a:t>
            </a:r>
            <a:endParaRPr lang="en-US" sz="1800" dirty="0"/>
          </a:p>
        </p:txBody>
      </p:sp>
      <p:sp>
        <p:nvSpPr>
          <p:cNvPr id="9" name="Flèche"/>
          <p:cNvSpPr/>
          <p:nvPr/>
        </p:nvSpPr>
        <p:spPr>
          <a:xfrm>
            <a:off x="1965960" y="3840480"/>
            <a:ext cx="0" cy="868680"/>
          </a:xfrm>
          <a:prstGeom prst="line">
            <a:avLst/>
          </a:prstGeom>
          <a:noFill/>
          <a:ln w="28575">
            <a:solidFill>
              <a:schemeClr val="accent1"/>
            </a:solidFill>
            <a:prstDash val="solid"/>
            <a:tailEnd type="triangle"/>
          </a:ln>
        </p:spPr>
        <p:txBody>
          <a:bodyPr/>
          <a:lstStyle/>
          <a:p>
            <a:endParaRPr/>
          </a:p>
        </p:txBody>
      </p:sp>
      <p:sp>
        <p:nvSpPr>
          <p:cNvPr id="10" name="Firebase"/>
          <p:cNvSpPr/>
          <p:nvPr/>
        </p:nvSpPr>
        <p:spPr>
          <a:xfrm>
            <a:off x="4297680" y="2103120"/>
            <a:ext cx="3840480" cy="2697480"/>
          </a:xfrm>
          <a:prstGeom prst="roundRect">
            <a:avLst>
              <a:gd name="adj" fmla="val 6780"/>
            </a:avLst>
          </a:prstGeom>
          <a:solidFill>
            <a:schemeClr val="bg1"/>
          </a:solidFill>
          <a:ln w="25400">
            <a:solidFill>
              <a:srgbClr val="F5A623"/>
            </a:solidFill>
            <a:prstDash val="solid"/>
          </a:ln>
          <a:effectLst>
            <a:outerShdw blurRad="177800" dist="50800" dir="5400000" algn="bl" rotWithShape="0">
              <a:srgbClr val="0B1B33">
                <a:alpha val="12000"/>
              </a:srgbClr>
            </a:outerShdw>
          </a:effectLst>
        </p:spPr>
        <p:txBody>
          <a:bodyPr/>
          <a:lstStyle/>
          <a:p>
            <a:endParaRPr/>
          </a:p>
        </p:txBody>
      </p:sp>
      <p:sp>
        <p:nvSpPr>
          <p:cNvPr id="11" name="Titre Firebase"/>
          <p:cNvSpPr txBox="1"/>
          <p:nvPr/>
        </p:nvSpPr>
        <p:spPr>
          <a:xfrm>
            <a:off x="4526280" y="2240280"/>
            <a:ext cx="3383280" cy="320040"/>
          </a:xfrm>
          <a:prstGeom prst="rect">
            <a:avLst/>
          </a:prstGeom>
          <a:noFill/>
          <a:ln/>
        </p:spPr>
        <p:txBody>
          <a:bodyPr wrap="square" lIns="0" tIns="0" rIns="0" bIns="0" rtlCol="0" anchor="ctr"/>
          <a:lstStyle/>
          <a:p>
            <a:pPr marL="0" indent="0">
              <a:buNone/>
            </a:pPr>
            <a:r>
              <a:rPr lang="en-US" sz="1300" b="1" kern="0" spc="300" dirty="0">
                <a:solidFill>
                  <a:srgbClr val="B7791F"/>
                </a:solidFill>
              </a:rPr>
              <a:t>FIREBASE</a:t>
            </a:r>
            <a:endParaRPr lang="en-US" sz="1300" dirty="0"/>
          </a:p>
        </p:txBody>
      </p:sp>
      <p:sp>
        <p:nvSpPr>
          <p:cNvPr id="12" name="Service Auth"/>
          <p:cNvSpPr/>
          <p:nvPr/>
        </p:nvSpPr>
        <p:spPr>
          <a:xfrm>
            <a:off x="4526280" y="2651760"/>
            <a:ext cx="3383280" cy="566928"/>
          </a:xfrm>
          <a:prstGeom prst="roundRect">
            <a:avLst>
              <a:gd name="adj" fmla="val 19355"/>
            </a:avLst>
          </a:prstGeom>
          <a:solidFill>
            <a:schemeClr val="bg2"/>
          </a:solidFill>
          <a:ln w="12700">
            <a:solidFill>
              <a:schemeClr val="bg2"/>
            </a:solidFill>
            <a:prstDash val="solid"/>
          </a:ln>
        </p:spPr>
        <p:txBody>
          <a:bodyPr/>
          <a:lstStyle/>
          <a:p>
            <a:endParaRPr/>
          </a:p>
        </p:txBody>
      </p:sp>
      <p:sp>
        <p:nvSpPr>
          <p:cNvPr id="13" name="Nom Auth"/>
          <p:cNvSpPr txBox="1"/>
          <p:nvPr/>
        </p:nvSpPr>
        <p:spPr>
          <a:xfrm>
            <a:off x="4663440" y="2651760"/>
            <a:ext cx="1188720" cy="566928"/>
          </a:xfrm>
          <a:prstGeom prst="rect">
            <a:avLst/>
          </a:prstGeom>
          <a:noFill/>
          <a:ln/>
        </p:spPr>
        <p:txBody>
          <a:bodyPr wrap="square" lIns="0" tIns="0" rIns="0" bIns="0" rtlCol="0" anchor="ctr"/>
          <a:lstStyle/>
          <a:p>
            <a:pPr marL="0" indent="0">
              <a:buNone/>
            </a:pPr>
            <a:r>
              <a:rPr lang="en-US" sz="1500" b="1" dirty="0">
                <a:solidFill>
                  <a:schemeClr val="tx2"/>
                </a:solidFill>
              </a:rPr>
              <a:t>Auth</a:t>
            </a:r>
            <a:endParaRPr lang="en-US" sz="1500" dirty="0"/>
          </a:p>
        </p:txBody>
      </p:sp>
      <p:sp>
        <p:nvSpPr>
          <p:cNvPr id="14" name="Rôle Auth"/>
          <p:cNvSpPr txBox="1"/>
          <p:nvPr/>
        </p:nvSpPr>
        <p:spPr>
          <a:xfrm>
            <a:off x="5852160" y="2651760"/>
            <a:ext cx="2011680" cy="566928"/>
          </a:xfrm>
          <a:prstGeom prst="rect">
            <a:avLst/>
          </a:prstGeom>
          <a:noFill/>
          <a:ln/>
        </p:spPr>
        <p:txBody>
          <a:bodyPr wrap="square" lIns="0" tIns="0" rIns="0" bIns="0" rtlCol="0" anchor="ctr"/>
          <a:lstStyle/>
          <a:p>
            <a:pPr marL="0" indent="0">
              <a:buNone/>
            </a:pPr>
            <a:r>
              <a:rPr lang="en-US" sz="1400" dirty="0">
                <a:solidFill>
                  <a:schemeClr val="accent5"/>
                </a:solidFill>
              </a:rPr>
              <a:t>Authentification</a:t>
            </a:r>
            <a:endParaRPr lang="en-US" sz="1400" dirty="0"/>
          </a:p>
        </p:txBody>
      </p:sp>
      <p:sp>
        <p:nvSpPr>
          <p:cNvPr id="15" name="Service Firestore"/>
          <p:cNvSpPr/>
          <p:nvPr/>
        </p:nvSpPr>
        <p:spPr>
          <a:xfrm>
            <a:off x="4526280" y="3337560"/>
            <a:ext cx="3383280" cy="566928"/>
          </a:xfrm>
          <a:prstGeom prst="roundRect">
            <a:avLst>
              <a:gd name="adj" fmla="val 19355"/>
            </a:avLst>
          </a:prstGeom>
          <a:solidFill>
            <a:schemeClr val="bg2"/>
          </a:solidFill>
          <a:ln w="12700">
            <a:solidFill>
              <a:schemeClr val="bg2"/>
            </a:solidFill>
            <a:prstDash val="solid"/>
          </a:ln>
        </p:spPr>
        <p:txBody>
          <a:bodyPr/>
          <a:lstStyle/>
          <a:p>
            <a:endParaRPr/>
          </a:p>
        </p:txBody>
      </p:sp>
      <p:sp>
        <p:nvSpPr>
          <p:cNvPr id="16" name="Nom Firestore"/>
          <p:cNvSpPr txBox="1"/>
          <p:nvPr/>
        </p:nvSpPr>
        <p:spPr>
          <a:xfrm>
            <a:off x="4663440" y="3337560"/>
            <a:ext cx="1188720" cy="566928"/>
          </a:xfrm>
          <a:prstGeom prst="rect">
            <a:avLst/>
          </a:prstGeom>
          <a:noFill/>
          <a:ln/>
        </p:spPr>
        <p:txBody>
          <a:bodyPr wrap="square" lIns="0" tIns="0" rIns="0" bIns="0" rtlCol="0" anchor="ctr"/>
          <a:lstStyle/>
          <a:p>
            <a:pPr marL="0" indent="0">
              <a:buNone/>
            </a:pPr>
            <a:r>
              <a:rPr lang="en-US" sz="1500" b="1" dirty="0">
                <a:solidFill>
                  <a:schemeClr val="tx2"/>
                </a:solidFill>
              </a:rPr>
              <a:t>Firestore</a:t>
            </a:r>
            <a:endParaRPr lang="en-US" sz="1500" dirty="0"/>
          </a:p>
        </p:txBody>
      </p:sp>
      <p:sp>
        <p:nvSpPr>
          <p:cNvPr id="17" name="Rôle Firestore"/>
          <p:cNvSpPr txBox="1"/>
          <p:nvPr/>
        </p:nvSpPr>
        <p:spPr>
          <a:xfrm>
            <a:off x="5852160" y="3337560"/>
            <a:ext cx="2011680" cy="566928"/>
          </a:xfrm>
          <a:prstGeom prst="rect">
            <a:avLst/>
          </a:prstGeom>
          <a:noFill/>
          <a:ln/>
        </p:spPr>
        <p:txBody>
          <a:bodyPr wrap="square" lIns="0" tIns="0" rIns="0" bIns="0" rtlCol="0" anchor="ctr"/>
          <a:lstStyle/>
          <a:p>
            <a:pPr marL="0" indent="0">
              <a:buNone/>
            </a:pPr>
            <a:r>
              <a:rPr lang="en-US" sz="1400" dirty="0">
                <a:solidFill>
                  <a:schemeClr val="accent5"/>
                </a:solidFill>
              </a:rPr>
              <a:t>Données des dépôts</a:t>
            </a:r>
            <a:endParaRPr lang="en-US" sz="1400" dirty="0"/>
          </a:p>
        </p:txBody>
      </p:sp>
      <p:sp>
        <p:nvSpPr>
          <p:cNvPr id="18" name="Service FCM"/>
          <p:cNvSpPr/>
          <p:nvPr/>
        </p:nvSpPr>
        <p:spPr>
          <a:xfrm>
            <a:off x="4526280" y="4023360"/>
            <a:ext cx="3383280" cy="566928"/>
          </a:xfrm>
          <a:prstGeom prst="roundRect">
            <a:avLst>
              <a:gd name="adj" fmla="val 19355"/>
            </a:avLst>
          </a:prstGeom>
          <a:solidFill>
            <a:schemeClr val="bg2"/>
          </a:solidFill>
          <a:ln w="12700">
            <a:solidFill>
              <a:schemeClr val="bg2"/>
            </a:solidFill>
            <a:prstDash val="solid"/>
          </a:ln>
        </p:spPr>
        <p:txBody>
          <a:bodyPr/>
          <a:lstStyle/>
          <a:p>
            <a:endParaRPr/>
          </a:p>
        </p:txBody>
      </p:sp>
      <p:sp>
        <p:nvSpPr>
          <p:cNvPr id="19" name="Nom FCM"/>
          <p:cNvSpPr txBox="1"/>
          <p:nvPr/>
        </p:nvSpPr>
        <p:spPr>
          <a:xfrm>
            <a:off x="4663440" y="4023360"/>
            <a:ext cx="1188720" cy="566928"/>
          </a:xfrm>
          <a:prstGeom prst="rect">
            <a:avLst/>
          </a:prstGeom>
          <a:noFill/>
          <a:ln/>
        </p:spPr>
        <p:txBody>
          <a:bodyPr wrap="square" lIns="0" tIns="0" rIns="0" bIns="0" rtlCol="0" anchor="ctr"/>
          <a:lstStyle/>
          <a:p>
            <a:pPr marL="0" indent="0">
              <a:buNone/>
            </a:pPr>
            <a:r>
              <a:rPr lang="en-US" sz="1500" b="1" dirty="0">
                <a:solidFill>
                  <a:schemeClr val="tx2"/>
                </a:solidFill>
              </a:rPr>
              <a:t>FCM</a:t>
            </a:r>
            <a:endParaRPr lang="en-US" sz="1500" dirty="0"/>
          </a:p>
        </p:txBody>
      </p:sp>
      <p:sp>
        <p:nvSpPr>
          <p:cNvPr id="20" name="Rôle FCM"/>
          <p:cNvSpPr txBox="1"/>
          <p:nvPr/>
        </p:nvSpPr>
        <p:spPr>
          <a:xfrm>
            <a:off x="5852160" y="4023360"/>
            <a:ext cx="2011680" cy="566928"/>
          </a:xfrm>
          <a:prstGeom prst="rect">
            <a:avLst/>
          </a:prstGeom>
          <a:noFill/>
          <a:ln/>
        </p:spPr>
        <p:txBody>
          <a:bodyPr wrap="square" lIns="0" tIns="0" rIns="0" bIns="0" rtlCol="0" anchor="ctr"/>
          <a:lstStyle/>
          <a:p>
            <a:pPr marL="0" indent="0">
              <a:buNone/>
            </a:pPr>
            <a:r>
              <a:rPr lang="en-US" sz="1400" dirty="0">
                <a:solidFill>
                  <a:schemeClr val="accent5"/>
                </a:solidFill>
              </a:rPr>
              <a:t>Notifications push</a:t>
            </a:r>
            <a:endParaRPr lang="en-US" sz="1400" dirty="0"/>
          </a:p>
        </p:txBody>
      </p:sp>
      <p:sp>
        <p:nvSpPr>
          <p:cNvPr id="21" name="Flèche"/>
          <p:cNvSpPr/>
          <p:nvPr/>
        </p:nvSpPr>
        <p:spPr>
          <a:xfrm>
            <a:off x="3337560" y="3086100"/>
            <a:ext cx="914400" cy="0"/>
          </a:xfrm>
          <a:prstGeom prst="line">
            <a:avLst/>
          </a:prstGeom>
          <a:noFill/>
          <a:ln w="28575">
            <a:solidFill>
              <a:schemeClr val="accent1"/>
            </a:solidFill>
            <a:prstDash val="solid"/>
            <a:tailEnd type="triangle"/>
          </a:ln>
        </p:spPr>
        <p:txBody>
          <a:bodyPr/>
          <a:lstStyle/>
          <a:p>
            <a:endParaRPr/>
          </a:p>
        </p:txBody>
      </p:sp>
      <p:sp>
        <p:nvSpPr>
          <p:cNvPr id="22" name="Application gérant"/>
          <p:cNvSpPr/>
          <p:nvPr/>
        </p:nvSpPr>
        <p:spPr>
          <a:xfrm>
            <a:off x="4297680" y="5257800"/>
            <a:ext cx="3840480" cy="914400"/>
          </a:xfrm>
          <a:prstGeom prst="roundRect">
            <a:avLst>
              <a:gd name="adj" fmla="val 18000"/>
            </a:avLst>
          </a:prstGeom>
          <a:solidFill>
            <a:srgbClr val="FDE8DB"/>
          </a:solidFill>
          <a:ln w="19050">
            <a:solidFill>
              <a:schemeClr val="accent3"/>
            </a:solidFill>
            <a:prstDash val="dash"/>
          </a:ln>
        </p:spPr>
        <p:txBody>
          <a:bodyPr/>
          <a:lstStyle/>
          <a:p>
            <a:endParaRPr/>
          </a:p>
        </p:txBody>
      </p:sp>
      <p:sp>
        <p:nvSpPr>
          <p:cNvPr id="23" name="Texte application gérant"/>
          <p:cNvSpPr txBox="1"/>
          <p:nvPr/>
        </p:nvSpPr>
        <p:spPr>
          <a:xfrm>
            <a:off x="4297680" y="5257800"/>
            <a:ext cx="3840480" cy="914400"/>
          </a:xfrm>
          <a:prstGeom prst="rect">
            <a:avLst/>
          </a:prstGeom>
          <a:noFill/>
          <a:ln/>
        </p:spPr>
        <p:txBody>
          <a:bodyPr wrap="square" lIns="0" tIns="0" rIns="0" bIns="0" rtlCol="0" anchor="ctr"/>
          <a:lstStyle/>
          <a:p>
            <a:pPr marL="0" indent="0" algn="ctr">
              <a:buNone/>
            </a:pPr>
            <a:r>
              <a:rPr lang="en-US" sz="1100" b="1" kern="0" spc="150" dirty="0">
                <a:solidFill>
                  <a:srgbClr val="B84A0E"/>
                </a:solidFill>
              </a:rPr>
              <a:t>APPLICATION GÉRANT  ·  PHASE 2</a:t>
            </a:r>
            <a:endParaRPr lang="en-US" sz="1100" dirty="0"/>
          </a:p>
          <a:p>
            <a:pPr marL="0" indent="0" algn="ctr">
              <a:buNone/>
            </a:pPr>
            <a:r>
              <a:rPr lang="en-US" sz="1600" b="1" dirty="0">
                <a:solidFill>
                  <a:schemeClr val="tx2"/>
                </a:solidFill>
              </a:rPr>
              <a:t>Mise à jour autonome</a:t>
            </a:r>
            <a:endParaRPr lang="en-US" sz="1100" dirty="0"/>
          </a:p>
        </p:txBody>
      </p:sp>
      <p:sp>
        <p:nvSpPr>
          <p:cNvPr id="24" name="Flèche"/>
          <p:cNvSpPr/>
          <p:nvPr/>
        </p:nvSpPr>
        <p:spPr>
          <a:xfrm flipV="1">
            <a:off x="6217920" y="4846320"/>
            <a:ext cx="0" cy="365760"/>
          </a:xfrm>
          <a:prstGeom prst="line">
            <a:avLst/>
          </a:prstGeom>
          <a:noFill/>
          <a:ln w="28575">
            <a:solidFill>
              <a:schemeClr val="accent3"/>
            </a:solidFill>
            <a:prstDash val="solid"/>
            <a:tailEnd type="triangle"/>
          </a:ln>
        </p:spPr>
        <p:txBody>
          <a:bodyPr/>
          <a:lstStyle/>
          <a:p>
            <a:endParaRPr/>
          </a:p>
        </p:txBody>
      </p:sp>
      <p:sp>
        <p:nvSpPr>
          <p:cNvPr id="25" name="Carte et géolocalisation"/>
          <p:cNvSpPr/>
          <p:nvPr/>
        </p:nvSpPr>
        <p:spPr>
          <a:xfrm>
            <a:off x="9144000" y="2377440"/>
            <a:ext cx="2404872" cy="1417320"/>
          </a:xfrm>
          <a:prstGeom prst="roundRect">
            <a:avLst>
              <a:gd name="adj" fmla="val 11613"/>
            </a:avLst>
          </a:prstGeom>
          <a:solidFill>
            <a:schemeClr val="tx2"/>
          </a:solidFill>
          <a:ln w="12700">
            <a:solidFill>
              <a:schemeClr val="tx2"/>
            </a:solidFill>
            <a:prstDash val="solid"/>
          </a:ln>
          <a:effectLst>
            <a:outerShdw blurRad="152400" dist="50800" dir="5400000" algn="bl" rotWithShape="0">
              <a:srgbClr val="0B1B33">
                <a:alpha val="14000"/>
              </a:srgbClr>
            </a:outerShdw>
          </a:effectLst>
        </p:spPr>
        <p:txBody>
          <a:bodyPr/>
          <a:lstStyle/>
          <a:p>
            <a:endParaRPr/>
          </a:p>
        </p:txBody>
      </p:sp>
      <p:sp>
        <p:nvSpPr>
          <p:cNvPr id="26" name="Texte carte"/>
          <p:cNvSpPr txBox="1"/>
          <p:nvPr/>
        </p:nvSpPr>
        <p:spPr>
          <a:xfrm>
            <a:off x="9235440" y="2377440"/>
            <a:ext cx="2221992" cy="1417320"/>
          </a:xfrm>
          <a:prstGeom prst="rect">
            <a:avLst/>
          </a:prstGeom>
          <a:noFill/>
          <a:ln/>
        </p:spPr>
        <p:txBody>
          <a:bodyPr wrap="square" lIns="0" tIns="0" rIns="0" bIns="0" rtlCol="0" anchor="ctr"/>
          <a:lstStyle/>
          <a:p>
            <a:pPr marL="0" indent="0" algn="ctr">
              <a:buNone/>
            </a:pPr>
            <a:r>
              <a:rPr lang="en-US" sz="1700" b="1" dirty="0">
                <a:solidFill>
                  <a:schemeClr val="bg1"/>
                </a:solidFill>
              </a:rPr>
              <a:t>Carte &amp; géolocalisation</a:t>
            </a:r>
            <a:endParaRPr lang="en-US" sz="1700" dirty="0"/>
          </a:p>
          <a:p>
            <a:pPr marL="0" indent="0" algn="ctr">
              <a:buNone/>
            </a:pPr>
            <a:r>
              <a:rPr lang="en-US" sz="1300" dirty="0">
                <a:solidFill>
                  <a:srgbClr val="CFE3F6"/>
                </a:solidFill>
              </a:rPr>
              <a:t>Service cartographique à intégrer</a:t>
            </a:r>
            <a:endParaRPr lang="en-US" sz="1700" dirty="0"/>
          </a:p>
        </p:txBody>
      </p:sp>
      <p:sp>
        <p:nvSpPr>
          <p:cNvPr id="27" name="Flèche"/>
          <p:cNvSpPr/>
          <p:nvPr/>
        </p:nvSpPr>
        <p:spPr>
          <a:xfrm>
            <a:off x="8183880" y="3086100"/>
            <a:ext cx="914400" cy="0"/>
          </a:xfrm>
          <a:prstGeom prst="line">
            <a:avLst/>
          </a:prstGeom>
          <a:noFill/>
          <a:ln w="28575">
            <a:solidFill>
              <a:schemeClr val="accent1"/>
            </a:solidFill>
            <a:prstDash val="solid"/>
            <a:tailEnd type="triangle"/>
          </a:ln>
        </p:spPr>
        <p:txBody>
          <a:bodyPr/>
          <a:lstStyle/>
          <a:p>
            <a:endParaRPr/>
          </a:p>
        </p:txBody>
      </p:sp>
      <p:sp>
        <p:nvSpPr>
          <p:cNvPr id="28" name="Note V1"/>
          <p:cNvSpPr txBox="1"/>
          <p:nvPr/>
        </p:nvSpPr>
        <p:spPr>
          <a:xfrm>
            <a:off x="8778240" y="4206240"/>
            <a:ext cx="2770632" cy="1737360"/>
          </a:xfrm>
          <a:prstGeom prst="rect">
            <a:avLst/>
          </a:prstGeom>
          <a:noFill/>
          <a:ln/>
        </p:spPr>
        <p:txBody>
          <a:bodyPr wrap="square" lIns="0" tIns="0" rIns="0" bIns="0" rtlCol="0" anchor="t"/>
          <a:lstStyle/>
          <a:p>
            <a:pPr marL="0" indent="0">
              <a:buNone/>
            </a:pP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p:tgtEl>
                                          <p:spTgt spid="5"/>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50"/>
                                        <p:tgtEl>
                                          <p:spTgt spid="6"/>
                                        </p:tgtEl>
                                      </p:cBhvr>
                                    </p:animEffect>
                                    <p:anim calcmode="lin" valueType="num">
                                      <p:cBhvr additive="base">
                                        <p:cTn id="12" dur="650" fill="hold"/>
                                        <p:tgtEl>
                                          <p:spTgt spid="6"/>
                                        </p:tgtEl>
                                        <p:attrNameLst>
                                          <p:attrName>ppt_y</p:attrName>
                                        </p:attrNameLst>
                                      </p:cBhvr>
                                      <p:tavLst>
                                        <p:tav tm="0">
                                          <p:val>
                                            <p:strVal val="#ppt_y+.05"/>
                                          </p:val>
                                        </p:tav>
                                        <p:tav tm="100000">
                                          <p:val>
                                            <p:strVal val="#ppt_y"/>
                                          </p:val>
                                        </p:tav>
                                      </p:tavLst>
                                    </p:anim>
                                  </p:childTnLst>
                                </p:cTn>
                              </p:par>
                              <p:par>
                                <p:cTn id="13" presetID="10" presetClass="entr" presetSubtype="0" fill="hold" nodeType="withEffect">
                                  <p:stCondLst>
                                    <p:cond delay="17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650"/>
                                        <p:tgtEl>
                                          <p:spTgt spid="21"/>
                                        </p:tgtEl>
                                      </p:cBhvr>
                                    </p:animEffect>
                                  </p:childTnLst>
                                </p:cTn>
                              </p:par>
                              <p:par>
                                <p:cTn id="16" presetID="42" presetClass="entr" presetSubtype="0" fill="hold" nodeType="withEffect">
                                  <p:stCondLst>
                                    <p:cond delay="34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50"/>
                                        <p:tgtEl>
                                          <p:spTgt spid="10"/>
                                        </p:tgtEl>
                                      </p:cBhvr>
                                    </p:animEffect>
                                    <p:anim calcmode="lin" valueType="num">
                                      <p:cBhvr additive="base">
                                        <p:cTn id="19" dur="650" fill="hold"/>
                                        <p:tgtEl>
                                          <p:spTgt spid="10"/>
                                        </p:tgtEl>
                                        <p:attrNameLst>
                                          <p:attrName>ppt_y</p:attrName>
                                        </p:attrNameLst>
                                      </p:cBhvr>
                                      <p:tavLst>
                                        <p:tav tm="0">
                                          <p:val>
                                            <p:strVal val="#ppt_y+.05"/>
                                          </p:val>
                                        </p:tav>
                                        <p:tav tm="100000">
                                          <p:val>
                                            <p:strVal val="#ppt_y"/>
                                          </p:val>
                                        </p:tav>
                                      </p:tavLst>
                                    </p:anim>
                                  </p:childTnLst>
                                </p:cTn>
                              </p:par>
                              <p:par>
                                <p:cTn id="20" presetID="42" presetClass="entr" presetSubtype="0" fill="hold" nodeType="withEffect">
                                  <p:stCondLst>
                                    <p:cond delay="34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50"/>
                                        <p:tgtEl>
                                          <p:spTgt spid="11"/>
                                        </p:tgtEl>
                                      </p:cBhvr>
                                    </p:animEffect>
                                    <p:anim calcmode="lin" valueType="num">
                                      <p:cBhvr additive="base">
                                        <p:cTn id="23" dur="650" fill="hold"/>
                                        <p:tgtEl>
                                          <p:spTgt spid="11"/>
                                        </p:tgtEl>
                                        <p:attrNameLst>
                                          <p:attrName>ppt_y</p:attrName>
                                        </p:attrNameLst>
                                      </p:cBhvr>
                                      <p:tavLst>
                                        <p:tav tm="0">
                                          <p:val>
                                            <p:strVal val="#ppt_y+.05"/>
                                          </p:val>
                                        </p:tav>
                                        <p:tav tm="100000">
                                          <p:val>
                                            <p:strVal val="#ppt_y"/>
                                          </p:val>
                                        </p:tav>
                                      </p:tavLst>
                                    </p:anim>
                                  </p:childTnLst>
                                </p:cTn>
                              </p:par>
                              <p:par>
                                <p:cTn id="24" presetID="42" presetClass="entr" presetSubtype="0" fill="hold" nodeType="withEffect">
                                  <p:stCondLst>
                                    <p:cond delay="34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650"/>
                                        <p:tgtEl>
                                          <p:spTgt spid="12"/>
                                        </p:tgtEl>
                                      </p:cBhvr>
                                    </p:animEffect>
                                    <p:anim calcmode="lin" valueType="num">
                                      <p:cBhvr additive="base">
                                        <p:cTn id="27" dur="650" fill="hold"/>
                                        <p:tgtEl>
                                          <p:spTgt spid="12"/>
                                        </p:tgtEl>
                                        <p:attrNameLst>
                                          <p:attrName>ppt_y</p:attrName>
                                        </p:attrNameLst>
                                      </p:cBhvr>
                                      <p:tavLst>
                                        <p:tav tm="0">
                                          <p:val>
                                            <p:strVal val="#ppt_y+.05"/>
                                          </p:val>
                                        </p:tav>
                                        <p:tav tm="100000">
                                          <p:val>
                                            <p:strVal val="#ppt_y"/>
                                          </p:val>
                                        </p:tav>
                                      </p:tavLst>
                                    </p:anim>
                                  </p:childTnLst>
                                </p:cTn>
                              </p:par>
                              <p:par>
                                <p:cTn id="28" presetID="42" presetClass="entr" presetSubtype="0" fill="hold" nodeType="withEffect">
                                  <p:stCondLst>
                                    <p:cond delay="34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50"/>
                                        <p:tgtEl>
                                          <p:spTgt spid="13"/>
                                        </p:tgtEl>
                                      </p:cBhvr>
                                    </p:animEffect>
                                    <p:anim calcmode="lin" valueType="num">
                                      <p:cBhvr additive="base">
                                        <p:cTn id="31" dur="650" fill="hold"/>
                                        <p:tgtEl>
                                          <p:spTgt spid="13"/>
                                        </p:tgtEl>
                                        <p:attrNameLst>
                                          <p:attrName>ppt_y</p:attrName>
                                        </p:attrNameLst>
                                      </p:cBhvr>
                                      <p:tavLst>
                                        <p:tav tm="0">
                                          <p:val>
                                            <p:strVal val="#ppt_y+.05"/>
                                          </p:val>
                                        </p:tav>
                                        <p:tav tm="100000">
                                          <p:val>
                                            <p:strVal val="#ppt_y"/>
                                          </p:val>
                                        </p:tav>
                                      </p:tavLst>
                                    </p:anim>
                                  </p:childTnLst>
                                </p:cTn>
                              </p:par>
                              <p:par>
                                <p:cTn id="32" presetID="42" presetClass="entr" presetSubtype="0" fill="hold" nodeType="withEffect">
                                  <p:stCondLst>
                                    <p:cond delay="3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50"/>
                                        <p:tgtEl>
                                          <p:spTgt spid="14"/>
                                        </p:tgtEl>
                                      </p:cBhvr>
                                    </p:animEffect>
                                    <p:anim calcmode="lin" valueType="num">
                                      <p:cBhvr additive="base">
                                        <p:cTn id="35" dur="650" fill="hold"/>
                                        <p:tgtEl>
                                          <p:spTgt spid="14"/>
                                        </p:tgtEl>
                                        <p:attrNameLst>
                                          <p:attrName>ppt_y</p:attrName>
                                        </p:attrNameLst>
                                      </p:cBhvr>
                                      <p:tavLst>
                                        <p:tav tm="0">
                                          <p:val>
                                            <p:strVal val="#ppt_y+.05"/>
                                          </p:val>
                                        </p:tav>
                                        <p:tav tm="100000">
                                          <p:val>
                                            <p:strVal val="#ppt_y"/>
                                          </p:val>
                                        </p:tav>
                                      </p:tavLst>
                                    </p:anim>
                                  </p:childTnLst>
                                </p:cTn>
                              </p:par>
                              <p:par>
                                <p:cTn id="36" presetID="42" presetClass="entr" presetSubtype="0" fill="hold" nodeType="withEffect">
                                  <p:stCondLst>
                                    <p:cond delay="34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650"/>
                                        <p:tgtEl>
                                          <p:spTgt spid="15"/>
                                        </p:tgtEl>
                                      </p:cBhvr>
                                    </p:animEffect>
                                    <p:anim calcmode="lin" valueType="num">
                                      <p:cBhvr additive="base">
                                        <p:cTn id="39" dur="650" fill="hold"/>
                                        <p:tgtEl>
                                          <p:spTgt spid="15"/>
                                        </p:tgtEl>
                                        <p:attrNameLst>
                                          <p:attrName>ppt_y</p:attrName>
                                        </p:attrNameLst>
                                      </p:cBhvr>
                                      <p:tavLst>
                                        <p:tav tm="0">
                                          <p:val>
                                            <p:strVal val="#ppt_y+.05"/>
                                          </p:val>
                                        </p:tav>
                                        <p:tav tm="100000">
                                          <p:val>
                                            <p:strVal val="#ppt_y"/>
                                          </p:val>
                                        </p:tav>
                                      </p:tavLst>
                                    </p:anim>
                                  </p:childTnLst>
                                </p:cTn>
                              </p:par>
                              <p:par>
                                <p:cTn id="40" presetID="42" presetClass="entr" presetSubtype="0" fill="hold" nodeType="withEffect">
                                  <p:stCondLst>
                                    <p:cond delay="34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650"/>
                                        <p:tgtEl>
                                          <p:spTgt spid="16"/>
                                        </p:tgtEl>
                                      </p:cBhvr>
                                    </p:animEffect>
                                    <p:anim calcmode="lin" valueType="num">
                                      <p:cBhvr additive="base">
                                        <p:cTn id="43" dur="650" fill="hold"/>
                                        <p:tgtEl>
                                          <p:spTgt spid="16"/>
                                        </p:tgtEl>
                                        <p:attrNameLst>
                                          <p:attrName>ppt_y</p:attrName>
                                        </p:attrNameLst>
                                      </p:cBhvr>
                                      <p:tavLst>
                                        <p:tav tm="0">
                                          <p:val>
                                            <p:strVal val="#ppt_y+.05"/>
                                          </p:val>
                                        </p:tav>
                                        <p:tav tm="100000">
                                          <p:val>
                                            <p:strVal val="#ppt_y"/>
                                          </p:val>
                                        </p:tav>
                                      </p:tavLst>
                                    </p:anim>
                                  </p:childTnLst>
                                </p:cTn>
                              </p:par>
                              <p:par>
                                <p:cTn id="44" presetID="42" presetClass="entr" presetSubtype="0" fill="hold" nodeType="withEffect">
                                  <p:stCondLst>
                                    <p:cond delay="34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50"/>
                                        <p:tgtEl>
                                          <p:spTgt spid="17"/>
                                        </p:tgtEl>
                                      </p:cBhvr>
                                    </p:animEffect>
                                    <p:anim calcmode="lin" valueType="num">
                                      <p:cBhvr additive="base">
                                        <p:cTn id="47" dur="650" fill="hold"/>
                                        <p:tgtEl>
                                          <p:spTgt spid="17"/>
                                        </p:tgtEl>
                                        <p:attrNameLst>
                                          <p:attrName>ppt_y</p:attrName>
                                        </p:attrNameLst>
                                      </p:cBhvr>
                                      <p:tavLst>
                                        <p:tav tm="0">
                                          <p:val>
                                            <p:strVal val="#ppt_y+.05"/>
                                          </p:val>
                                        </p:tav>
                                        <p:tav tm="100000">
                                          <p:val>
                                            <p:strVal val="#ppt_y"/>
                                          </p:val>
                                        </p:tav>
                                      </p:tavLst>
                                    </p:anim>
                                  </p:childTnLst>
                                </p:cTn>
                              </p:par>
                              <p:par>
                                <p:cTn id="48" presetID="42" presetClass="entr" presetSubtype="0" fill="hold" nodeType="withEffect">
                                  <p:stCondLst>
                                    <p:cond delay="34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650"/>
                                        <p:tgtEl>
                                          <p:spTgt spid="18"/>
                                        </p:tgtEl>
                                      </p:cBhvr>
                                    </p:animEffect>
                                    <p:anim calcmode="lin" valueType="num">
                                      <p:cBhvr additive="base">
                                        <p:cTn id="51" dur="650" fill="hold"/>
                                        <p:tgtEl>
                                          <p:spTgt spid="18"/>
                                        </p:tgtEl>
                                        <p:attrNameLst>
                                          <p:attrName>ppt_y</p:attrName>
                                        </p:attrNameLst>
                                      </p:cBhvr>
                                      <p:tavLst>
                                        <p:tav tm="0">
                                          <p:val>
                                            <p:strVal val="#ppt_y+.05"/>
                                          </p:val>
                                        </p:tav>
                                        <p:tav tm="100000">
                                          <p:val>
                                            <p:strVal val="#ppt_y"/>
                                          </p:val>
                                        </p:tav>
                                      </p:tavLst>
                                    </p:anim>
                                  </p:childTnLst>
                                </p:cTn>
                              </p:par>
                              <p:par>
                                <p:cTn id="52" presetID="42" presetClass="entr" presetSubtype="0" fill="hold" nodeType="withEffect">
                                  <p:stCondLst>
                                    <p:cond delay="34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50"/>
                                        <p:tgtEl>
                                          <p:spTgt spid="19"/>
                                        </p:tgtEl>
                                      </p:cBhvr>
                                    </p:animEffect>
                                    <p:anim calcmode="lin" valueType="num">
                                      <p:cBhvr additive="base">
                                        <p:cTn id="55" dur="650" fill="hold"/>
                                        <p:tgtEl>
                                          <p:spTgt spid="19"/>
                                        </p:tgtEl>
                                        <p:attrNameLst>
                                          <p:attrName>ppt_y</p:attrName>
                                        </p:attrNameLst>
                                      </p:cBhvr>
                                      <p:tavLst>
                                        <p:tav tm="0">
                                          <p:val>
                                            <p:strVal val="#ppt_y+.05"/>
                                          </p:val>
                                        </p:tav>
                                        <p:tav tm="100000">
                                          <p:val>
                                            <p:strVal val="#ppt_y"/>
                                          </p:val>
                                        </p:tav>
                                      </p:tavLst>
                                    </p:anim>
                                  </p:childTnLst>
                                </p:cTn>
                              </p:par>
                              <p:par>
                                <p:cTn id="56" presetID="42" presetClass="entr" presetSubtype="0" fill="hold" nodeType="withEffect">
                                  <p:stCondLst>
                                    <p:cond delay="34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50"/>
                                        <p:tgtEl>
                                          <p:spTgt spid="20"/>
                                        </p:tgtEl>
                                      </p:cBhvr>
                                    </p:animEffect>
                                    <p:anim calcmode="lin" valueType="num">
                                      <p:cBhvr additive="base">
                                        <p:cTn id="59" dur="650" fill="hold"/>
                                        <p:tgtEl>
                                          <p:spTgt spid="20"/>
                                        </p:tgtEl>
                                        <p:attrNameLst>
                                          <p:attrName>ppt_y</p:attrName>
                                        </p:attrNameLst>
                                      </p:cBhvr>
                                      <p:tavLst>
                                        <p:tav tm="0">
                                          <p:val>
                                            <p:strVal val="#ppt_y+.05"/>
                                          </p:val>
                                        </p:tav>
                                        <p:tav tm="100000">
                                          <p:val>
                                            <p:strVal val="#ppt_y"/>
                                          </p:val>
                                        </p:tav>
                                      </p:tavLst>
                                    </p:anim>
                                  </p:childTnLst>
                                </p:cTn>
                              </p:par>
                              <p:par>
                                <p:cTn id="60" presetID="10" presetClass="entr" presetSubtype="0" fill="hold" nodeType="withEffect">
                                  <p:stCondLst>
                                    <p:cond delay="51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650"/>
                                        <p:tgtEl>
                                          <p:spTgt spid="27"/>
                                        </p:tgtEl>
                                      </p:cBhvr>
                                    </p:animEffect>
                                  </p:childTnLst>
                                </p:cTn>
                              </p:par>
                              <p:par>
                                <p:cTn id="63" presetID="42" presetClass="entr" presetSubtype="0" fill="hold" nodeType="withEffect">
                                  <p:stCondLst>
                                    <p:cond delay="68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650"/>
                                        <p:tgtEl>
                                          <p:spTgt spid="25"/>
                                        </p:tgtEl>
                                      </p:cBhvr>
                                    </p:animEffect>
                                    <p:anim calcmode="lin" valueType="num">
                                      <p:cBhvr additive="base">
                                        <p:cTn id="66" dur="650" fill="hold"/>
                                        <p:tgtEl>
                                          <p:spTgt spid="25"/>
                                        </p:tgtEl>
                                        <p:attrNameLst>
                                          <p:attrName>ppt_y</p:attrName>
                                        </p:attrNameLst>
                                      </p:cBhvr>
                                      <p:tavLst>
                                        <p:tav tm="0">
                                          <p:val>
                                            <p:strVal val="#ppt_y+.05"/>
                                          </p:val>
                                        </p:tav>
                                        <p:tav tm="100000">
                                          <p:val>
                                            <p:strVal val="#ppt_y"/>
                                          </p:val>
                                        </p:tav>
                                      </p:tavLst>
                                    </p:anim>
                                  </p:childTnLst>
                                </p:cTn>
                              </p:par>
                              <p:par>
                                <p:cTn id="67" presetID="42" presetClass="entr" presetSubtype="0" fill="hold" nodeType="withEffect">
                                  <p:stCondLst>
                                    <p:cond delay="68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650"/>
                                        <p:tgtEl>
                                          <p:spTgt spid="26"/>
                                        </p:tgtEl>
                                      </p:cBhvr>
                                    </p:animEffect>
                                    <p:anim calcmode="lin" valueType="num">
                                      <p:cBhvr additive="base">
                                        <p:cTn id="70" dur="650" fill="hold"/>
                                        <p:tgtEl>
                                          <p:spTgt spid="26"/>
                                        </p:tgtEl>
                                        <p:attrNameLst>
                                          <p:attrName>ppt_y</p:attrName>
                                        </p:attrNameLst>
                                      </p:cBhvr>
                                      <p:tavLst>
                                        <p:tav tm="0">
                                          <p:val>
                                            <p:strVal val="#ppt_y+.05"/>
                                          </p:val>
                                        </p:tav>
                                        <p:tav tm="100000">
                                          <p:val>
                                            <p:strVal val="#ppt_y"/>
                                          </p:val>
                                        </p:tav>
                                      </p:tavLst>
                                    </p:anim>
                                  </p:childTnLst>
                                </p:cTn>
                              </p:par>
                              <p:par>
                                <p:cTn id="71" presetID="10" presetClass="entr" presetSubtype="0" fill="hold" nodeType="withEffect">
                                  <p:stCondLst>
                                    <p:cond delay="85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650"/>
                                        <p:tgtEl>
                                          <p:spTgt spid="9"/>
                                        </p:tgtEl>
                                      </p:cBhvr>
                                    </p:animEffect>
                                  </p:childTnLst>
                                </p:cTn>
                              </p:par>
                              <p:par>
                                <p:cTn id="74" presetID="42" presetClass="entr" presetSubtype="0" fill="hold" nodeType="withEffect">
                                  <p:stCondLst>
                                    <p:cond delay="1020"/>
                                  </p:stCondLst>
                                  <p:childTnLst>
                                    <p:set>
                                      <p:cBhvr>
                                        <p:cTn id="75" dur="1" fill="hold">
                                          <p:stCondLst>
                                            <p:cond delay="0"/>
                                          </p:stCondLst>
                                        </p:cTn>
                                        <p:tgtEl>
                                          <p:spTgt spid="7"/>
                                        </p:tgtEl>
                                        <p:attrNameLst>
                                          <p:attrName>style.visibility</p:attrName>
                                        </p:attrNameLst>
                                      </p:cBhvr>
                                      <p:to>
                                        <p:strVal val="visible"/>
                                      </p:to>
                                    </p:set>
                                    <p:animEffect transition="in" filter="fade">
                                      <p:cBhvr>
                                        <p:cTn id="76" dur="650"/>
                                        <p:tgtEl>
                                          <p:spTgt spid="7"/>
                                        </p:tgtEl>
                                      </p:cBhvr>
                                    </p:animEffect>
                                    <p:anim calcmode="lin" valueType="num">
                                      <p:cBhvr additive="base">
                                        <p:cTn id="77" dur="650" fill="hold"/>
                                        <p:tgtEl>
                                          <p:spTgt spid="7"/>
                                        </p:tgtEl>
                                        <p:attrNameLst>
                                          <p:attrName>ppt_y</p:attrName>
                                        </p:attrNameLst>
                                      </p:cBhvr>
                                      <p:tavLst>
                                        <p:tav tm="0">
                                          <p:val>
                                            <p:strVal val="#ppt_y+.05"/>
                                          </p:val>
                                        </p:tav>
                                        <p:tav tm="100000">
                                          <p:val>
                                            <p:strVal val="#ppt_y"/>
                                          </p:val>
                                        </p:tav>
                                      </p:tavLst>
                                    </p:anim>
                                  </p:childTnLst>
                                </p:cTn>
                              </p:par>
                              <p:par>
                                <p:cTn id="78" presetID="42" presetClass="entr" presetSubtype="0" fill="hold" nodeType="withEffect">
                                  <p:stCondLst>
                                    <p:cond delay="1020"/>
                                  </p:stCondLst>
                                  <p:childTnLst>
                                    <p:set>
                                      <p:cBhvr>
                                        <p:cTn id="79" dur="1" fill="hold">
                                          <p:stCondLst>
                                            <p:cond delay="0"/>
                                          </p:stCondLst>
                                        </p:cTn>
                                        <p:tgtEl>
                                          <p:spTgt spid="8"/>
                                        </p:tgtEl>
                                        <p:attrNameLst>
                                          <p:attrName>style.visibility</p:attrName>
                                        </p:attrNameLst>
                                      </p:cBhvr>
                                      <p:to>
                                        <p:strVal val="visible"/>
                                      </p:to>
                                    </p:set>
                                    <p:animEffect transition="in" filter="fade">
                                      <p:cBhvr>
                                        <p:cTn id="80" dur="650"/>
                                        <p:tgtEl>
                                          <p:spTgt spid="8"/>
                                        </p:tgtEl>
                                      </p:cBhvr>
                                    </p:animEffect>
                                    <p:anim calcmode="lin" valueType="num">
                                      <p:cBhvr additive="base">
                                        <p:cTn id="81" dur="650" fill="hold"/>
                                        <p:tgtEl>
                                          <p:spTgt spid="8"/>
                                        </p:tgtEl>
                                        <p:attrNameLst>
                                          <p:attrName>ppt_y</p:attrName>
                                        </p:attrNameLst>
                                      </p:cBhvr>
                                      <p:tavLst>
                                        <p:tav tm="0">
                                          <p:val>
                                            <p:strVal val="#ppt_y+.05"/>
                                          </p:val>
                                        </p:tav>
                                        <p:tav tm="100000">
                                          <p:val>
                                            <p:strVal val="#ppt_y"/>
                                          </p:val>
                                        </p:tav>
                                      </p:tavLst>
                                    </p:anim>
                                  </p:childTnLst>
                                </p:cTn>
                              </p:par>
                              <p:par>
                                <p:cTn id="82" presetID="42" presetClass="entr" presetSubtype="0" fill="hold" nodeType="withEffect">
                                  <p:stCondLst>
                                    <p:cond delay="119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650"/>
                                        <p:tgtEl>
                                          <p:spTgt spid="22"/>
                                        </p:tgtEl>
                                      </p:cBhvr>
                                    </p:animEffect>
                                    <p:anim calcmode="lin" valueType="num">
                                      <p:cBhvr additive="base">
                                        <p:cTn id="85" dur="650" fill="hold"/>
                                        <p:tgtEl>
                                          <p:spTgt spid="22"/>
                                        </p:tgtEl>
                                        <p:attrNameLst>
                                          <p:attrName>ppt_y</p:attrName>
                                        </p:attrNameLst>
                                      </p:cBhvr>
                                      <p:tavLst>
                                        <p:tav tm="0">
                                          <p:val>
                                            <p:strVal val="#ppt_y+.05"/>
                                          </p:val>
                                        </p:tav>
                                        <p:tav tm="100000">
                                          <p:val>
                                            <p:strVal val="#ppt_y"/>
                                          </p:val>
                                        </p:tav>
                                      </p:tavLst>
                                    </p:anim>
                                  </p:childTnLst>
                                </p:cTn>
                              </p:par>
                              <p:par>
                                <p:cTn id="86" presetID="42" presetClass="entr" presetSubtype="0" fill="hold" nodeType="withEffect">
                                  <p:stCondLst>
                                    <p:cond delay="119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650"/>
                                        <p:tgtEl>
                                          <p:spTgt spid="23"/>
                                        </p:tgtEl>
                                      </p:cBhvr>
                                    </p:animEffect>
                                    <p:anim calcmode="lin" valueType="num">
                                      <p:cBhvr additive="base">
                                        <p:cTn id="89" dur="650" fill="hold"/>
                                        <p:tgtEl>
                                          <p:spTgt spid="23"/>
                                        </p:tgtEl>
                                        <p:attrNameLst>
                                          <p:attrName>ppt_y</p:attrName>
                                        </p:attrNameLst>
                                      </p:cBhvr>
                                      <p:tavLst>
                                        <p:tav tm="0">
                                          <p:val>
                                            <p:strVal val="#ppt_y+.05"/>
                                          </p:val>
                                        </p:tav>
                                        <p:tav tm="100000">
                                          <p:val>
                                            <p:strVal val="#ppt_y"/>
                                          </p:val>
                                        </p:tav>
                                      </p:tavLst>
                                    </p:anim>
                                  </p:childTnLst>
                                </p:cTn>
                              </p:par>
                              <p:par>
                                <p:cTn id="90" presetID="10" presetClass="entr" presetSubtype="0" fill="hold" nodeType="withEffect">
                                  <p:stCondLst>
                                    <p:cond delay="136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650"/>
                                        <p:tgtEl>
                                          <p:spTgt spid="24"/>
                                        </p:tgtEl>
                                      </p:cBhvr>
                                    </p:animEffect>
                                  </p:childTnLst>
                                </p:cTn>
                              </p:par>
                              <p:par>
                                <p:cTn id="93" presetID="42" presetClass="entr" presetSubtype="0" fill="hold" nodeType="withEffect">
                                  <p:stCondLst>
                                    <p:cond delay="153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650"/>
                                        <p:tgtEl>
                                          <p:spTgt spid="28"/>
                                        </p:tgtEl>
                                      </p:cBhvr>
                                    </p:animEffect>
                                    <p:anim calcmode="lin" valueType="num">
                                      <p:cBhvr additive="base">
                                        <p:cTn id="96" dur="650" fill="hold"/>
                                        <p:tgtEl>
                                          <p:spTgt spid="28"/>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a:xfrm>
            <a:off x="640080" y="2103120"/>
            <a:ext cx="7498079" cy="1097280"/>
          </a:xfrm>
        </p:spPr>
        <p:txBody>
          <a:bodyPr lIns="0" tIns="0" rIns="0" bIns="0"/>
          <a:lstStyle/>
          <a:p>
            <a:r>
              <a:rPr sz="5400"/>
              <a:t>Conclusion</a:t>
            </a:r>
          </a:p>
        </p:txBody>
      </p:sp>
      <p:sp>
        <p:nvSpPr>
          <p:cNvPr id="3" name="Surtitre"/>
          <p:cNvSpPr txBox="1"/>
          <p:nvPr/>
        </p:nvSpPr>
        <p:spPr>
          <a:xfrm>
            <a:off x="640080" y="1691640"/>
            <a:ext cx="7315200" cy="184666"/>
          </a:xfrm>
          <a:prstGeom prst="rect">
            <a:avLst/>
          </a:prstGeom>
          <a:noFill/>
        </p:spPr>
        <p:txBody>
          <a:bodyPr wrap="square" lIns="0" tIns="0" rIns="0" bIns="0">
            <a:spAutoFit/>
          </a:bodyPr>
          <a:lstStyle/>
          <a:p>
            <a:r>
              <a:rPr sz="1200" b="1" spc="400" dirty="0">
                <a:solidFill>
                  <a:srgbClr val="FFA066"/>
                </a:solidFill>
              </a:rPr>
              <a:t>PARTIE 3</a:t>
            </a:r>
          </a:p>
        </p:txBody>
      </p:sp>
      <p:sp>
        <p:nvSpPr>
          <p:cNvPr id="4" name="Description partie"/>
          <p:cNvSpPr txBox="1"/>
          <p:nvPr/>
        </p:nvSpPr>
        <p:spPr>
          <a:xfrm>
            <a:off x="640080" y="3429000"/>
            <a:ext cx="6309360" cy="1188720"/>
          </a:xfrm>
          <a:prstGeom prst="rect">
            <a:avLst/>
          </a:prstGeom>
          <a:noFill/>
        </p:spPr>
        <p:txBody>
          <a:bodyPr wrap="square" lIns="0" tIns="0" rIns="0" bIns="0">
            <a:spAutoFit/>
          </a:bodyPr>
          <a:lstStyle/>
          <a:p>
            <a:r>
              <a:rPr sz="2000" b="0">
                <a:solidFill>
                  <a:srgbClr val="D6E4F5"/>
                </a:solidFill>
              </a:rPr>
              <a:t>La feuille de route du projet et la démonstration de l’application.</a:t>
            </a:r>
          </a:p>
        </p:txBody>
      </p:sp>
      <p:sp>
        <p:nvSpPr>
          <p:cNvPr id="5" name="Grand numéro"/>
          <p:cNvSpPr txBox="1"/>
          <p:nvPr/>
        </p:nvSpPr>
        <p:spPr>
          <a:xfrm>
            <a:off x="7589520" y="502920"/>
            <a:ext cx="4206240" cy="5669280"/>
          </a:xfrm>
          <a:prstGeom prst="rect">
            <a:avLst/>
          </a:prstGeom>
          <a:noFill/>
        </p:spPr>
        <p:txBody>
          <a:bodyPr wrap="square" lIns="0" tIns="0" rIns="0" bIns="0">
            <a:spAutoFit/>
          </a:bodyPr>
          <a:lstStyle/>
          <a:p>
            <a:pPr algn="ctr"/>
            <a:r>
              <a:rPr sz="33000" b="1">
                <a:solidFill>
                  <a:srgbClr val="FFA066">
                    <a:alpha val="34000"/>
                  </a:srgbClr>
                </a:solidFill>
              </a:rPr>
              <a:t>3</a:t>
            </a:r>
          </a:p>
        </p:txBody>
      </p:sp>
      <p:sp>
        <p:nvSpPr>
          <p:cNvPr id="6" name="Repère 1"/>
          <p:cNvSpPr/>
          <p:nvPr/>
        </p:nvSpPr>
        <p:spPr>
          <a:xfrm>
            <a:off x="640080" y="5532120"/>
            <a:ext cx="2011680" cy="91440"/>
          </a:xfrm>
          <a:prstGeom prst="roundRect">
            <a:avLst>
              <a:gd name="adj" fmla="val 50000"/>
            </a:avLst>
          </a:prstGeom>
          <a:solidFill>
            <a:srgbClr val="FFFF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père texte 1"/>
          <p:cNvSpPr txBox="1"/>
          <p:nvPr/>
        </p:nvSpPr>
        <p:spPr>
          <a:xfrm>
            <a:off x="640080" y="5715000"/>
            <a:ext cx="2011680" cy="274320"/>
          </a:xfrm>
          <a:prstGeom prst="rect">
            <a:avLst/>
          </a:prstGeom>
          <a:noFill/>
        </p:spPr>
        <p:txBody>
          <a:bodyPr wrap="square" lIns="0" tIns="0" rIns="0" bIns="0">
            <a:spAutoFit/>
          </a:bodyPr>
          <a:lstStyle/>
          <a:p>
            <a:r>
              <a:rPr sz="1200" b="0">
                <a:solidFill>
                  <a:srgbClr val="8DB9E0"/>
                </a:solidFill>
              </a:rPr>
              <a:t>Introduction</a:t>
            </a:r>
          </a:p>
        </p:txBody>
      </p:sp>
      <p:sp>
        <p:nvSpPr>
          <p:cNvPr id="8" name="Repère 2"/>
          <p:cNvSpPr/>
          <p:nvPr/>
        </p:nvSpPr>
        <p:spPr>
          <a:xfrm>
            <a:off x="2834639" y="5532120"/>
            <a:ext cx="2011680" cy="91440"/>
          </a:xfrm>
          <a:prstGeom prst="roundRect">
            <a:avLst>
              <a:gd name="adj" fmla="val 50000"/>
            </a:avLst>
          </a:prstGeom>
          <a:solidFill>
            <a:srgbClr val="FFFF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père texte 2"/>
          <p:cNvSpPr txBox="1"/>
          <p:nvPr/>
        </p:nvSpPr>
        <p:spPr>
          <a:xfrm>
            <a:off x="2834639" y="5715000"/>
            <a:ext cx="2011680" cy="274320"/>
          </a:xfrm>
          <a:prstGeom prst="rect">
            <a:avLst/>
          </a:prstGeom>
          <a:noFill/>
        </p:spPr>
        <p:txBody>
          <a:bodyPr wrap="square" lIns="0" tIns="0" rIns="0" bIns="0">
            <a:spAutoFit/>
          </a:bodyPr>
          <a:lstStyle/>
          <a:p>
            <a:r>
              <a:rPr sz="1200" b="0">
                <a:solidFill>
                  <a:srgbClr val="8DB9E0"/>
                </a:solidFill>
              </a:rPr>
              <a:t>Développement</a:t>
            </a:r>
          </a:p>
        </p:txBody>
      </p:sp>
      <p:sp>
        <p:nvSpPr>
          <p:cNvPr id="10" name="Repère 3"/>
          <p:cNvSpPr/>
          <p:nvPr/>
        </p:nvSpPr>
        <p:spPr>
          <a:xfrm>
            <a:off x="5029200" y="5532120"/>
            <a:ext cx="2011680" cy="91440"/>
          </a:xfrm>
          <a:prstGeom prst="roundRect">
            <a:avLst>
              <a:gd name="adj" fmla="val 50000"/>
            </a:avLst>
          </a:prstGeom>
          <a:solidFill>
            <a:srgbClr val="FFA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père texte 3"/>
          <p:cNvSpPr txBox="1"/>
          <p:nvPr/>
        </p:nvSpPr>
        <p:spPr>
          <a:xfrm>
            <a:off x="5029200" y="5715000"/>
            <a:ext cx="2011680" cy="274320"/>
          </a:xfrm>
          <a:prstGeom prst="rect">
            <a:avLst/>
          </a:prstGeom>
          <a:noFill/>
        </p:spPr>
        <p:txBody>
          <a:bodyPr wrap="square" lIns="0" tIns="0" rIns="0" bIns="0">
            <a:spAutoFit/>
          </a:bodyPr>
          <a:lstStyle/>
          <a:p>
            <a:r>
              <a:rPr sz="1200" b="1">
                <a:solidFill>
                  <a:srgbClr val="FFFFFF"/>
                </a:solidFill>
              </a:rPr>
              <a:t>Conclusion</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50"/>
                                        <p:tgtEl>
                                          <p:spTgt spid="2"/>
                                        </p:tgtEl>
                                      </p:cBhvr>
                                    </p:animEffect>
                                    <p:anim calcmode="lin" valueType="num">
                                      <p:cBhvr additive="base">
                                        <p:cTn id="8" dur="650" fill="hold"/>
                                        <p:tgtEl>
                                          <p:spTgt spid="2"/>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17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50"/>
                                        <p:tgtEl>
                                          <p:spTgt spid="5"/>
                                        </p:tgtEl>
                                      </p:cBhvr>
                                    </p:animEffect>
                                    <p:anim calcmode="lin" valueType="num">
                                      <p:cBhvr additive="base">
                                        <p:cTn id="12" dur="650" fill="hold"/>
                                        <p:tgtEl>
                                          <p:spTgt spid="5"/>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34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50"/>
                                        <p:tgtEl>
                                          <p:spTgt spid="4"/>
                                        </p:tgtEl>
                                      </p:cBhvr>
                                    </p:animEffect>
                                    <p:anim calcmode="lin" valueType="num">
                                      <p:cBhvr additive="base">
                                        <p:cTn id="16" dur="650" fill="hold"/>
                                        <p:tgtEl>
                                          <p:spTgt spid="4"/>
                                        </p:tgtEl>
                                        <p:attrNameLst>
                                          <p:attrName>ppt_y</p:attrName>
                                        </p:attrNameLst>
                                      </p:cBhvr>
                                      <p:tavLst>
                                        <p:tav tm="0">
                                          <p:val>
                                            <p:strVal val="#ppt_y+.05"/>
                                          </p:val>
                                        </p:tav>
                                        <p:tav tm="100000">
                                          <p:val>
                                            <p:strVal val="#ppt_y"/>
                                          </p:val>
                                        </p:tav>
                                      </p:tavLst>
                                    </p:anim>
                                  </p:childTnLst>
                                </p:cTn>
                              </p:par>
                              <p:par>
                                <p:cTn id="17" presetID="10" presetClass="entr" presetSubtype="0" fill="hold" nodeType="withEffect">
                                  <p:stCondLst>
                                    <p:cond delay="51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50"/>
                                        <p:tgtEl>
                                          <p:spTgt spid="6"/>
                                        </p:tgtEl>
                                      </p:cBhvr>
                                    </p:animEffect>
                                  </p:childTnLst>
                                </p:cTn>
                              </p:par>
                              <p:par>
                                <p:cTn id="20" presetID="10" presetClass="entr" presetSubtype="0" fill="hold" nodeType="withEffect">
                                  <p:stCondLst>
                                    <p:cond delay="6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50"/>
                                        <p:tgtEl>
                                          <p:spTgt spid="7"/>
                                        </p:tgtEl>
                                      </p:cBhvr>
                                    </p:animEffect>
                                  </p:childTnLst>
                                </p:cTn>
                              </p:par>
                              <p:par>
                                <p:cTn id="23" presetID="10" presetClass="entr" presetSubtype="0" fill="hold" nodeType="withEffect">
                                  <p:stCondLst>
                                    <p:cond delay="8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50"/>
                                        <p:tgtEl>
                                          <p:spTgt spid="8"/>
                                        </p:tgtEl>
                                      </p:cBhvr>
                                    </p:animEffect>
                                  </p:childTnLst>
                                </p:cTn>
                              </p:par>
                              <p:par>
                                <p:cTn id="26" presetID="10" presetClass="entr" presetSubtype="0" fill="hold" nodeType="withEffect">
                                  <p:stCondLst>
                                    <p:cond delay="102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50"/>
                                        <p:tgtEl>
                                          <p:spTgt spid="9"/>
                                        </p:tgtEl>
                                      </p:cBhvr>
                                    </p:animEffect>
                                  </p:childTnLst>
                                </p:cTn>
                              </p:par>
                              <p:par>
                                <p:cTn id="29" presetID="10" presetClass="entr" presetSubtype="0" fill="hold" nodeType="withEffect">
                                  <p:stCondLst>
                                    <p:cond delay="119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50"/>
                                        <p:tgtEl>
                                          <p:spTgt spid="10"/>
                                        </p:tgtEl>
                                      </p:cBhvr>
                                    </p:animEffect>
                                  </p:childTnLst>
                                </p:cTn>
                              </p:par>
                              <p:par>
                                <p:cTn id="32" presetID="10" presetClass="entr" presetSubtype="0" fill="hold" nodeType="withEffect">
                                  <p:stCondLst>
                                    <p:cond delay="1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urtitre"/>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300" dirty="0">
                <a:solidFill>
                  <a:srgbClr val="FFA066"/>
                </a:solidFill>
              </a:rPr>
              <a:t> FEUILLE DE ROUTE</a:t>
            </a:r>
            <a:endParaRPr lang="en-US" sz="1200" dirty="0"/>
          </a:p>
        </p:txBody>
      </p:sp>
      <p:sp>
        <p:nvSpPr>
          <p:cNvPr id="3" name="Text 1"/>
          <p:cNvSpPr>
            <a:spLocks noGrp="1"/>
          </p:cNvSpPr>
          <p:nvPr>
            <p:ph type="title" idx="101" hasCustomPrompt="1"/>
          </p:nvPr>
        </p:nvSpPr>
        <p:spPr>
          <a:xfrm>
            <a:off x="640080" y="713232"/>
            <a:ext cx="10881360" cy="777240"/>
          </a:xfrm>
          <a:prstGeom prst="rect">
            <a:avLst/>
          </a:prstGeom>
          <a:noFill/>
          <a:ln/>
        </p:spPr>
        <p:txBody>
          <a:bodyPr wrap="square" lIns="0" tIns="0" rIns="0" bIns="0" rtlCol="0" anchor="t"/>
          <a:lstStyle/>
          <a:p>
            <a:pPr marL="0" indent="0" algn="l">
              <a:buNone/>
            </a:pPr>
            <a:r>
              <a:rPr lang="en-US" sz="3400" b="1" dirty="0">
                <a:solidFill>
                  <a:schemeClr val="bg1"/>
                </a:solidFill>
              </a:rPr>
              <a:t>Feuille de route de YaGaz</a:t>
            </a:r>
            <a:endParaRPr lang="en-US" sz="3400" dirty="0"/>
          </a:p>
        </p:txBody>
      </p:sp>
      <p:sp>
        <p:nvSpPr>
          <p:cNvPr id="4" name="Annonce"/>
          <p:cNvSpPr txBox="1"/>
          <p:nvPr/>
        </p:nvSpPr>
        <p:spPr>
          <a:xfrm>
            <a:off x="640080" y="2468880"/>
            <a:ext cx="7589520" cy="2194560"/>
          </a:xfrm>
          <a:prstGeom prst="rect">
            <a:avLst/>
          </a:prstGeom>
          <a:noFill/>
          <a:ln/>
        </p:spPr>
        <p:txBody>
          <a:bodyPr wrap="square" lIns="0" tIns="0" rIns="0" bIns="0" rtlCol="0" anchor="t"/>
          <a:lstStyle/>
          <a:p>
            <a:pPr marL="0" indent="0">
              <a:buNone/>
            </a:pPr>
            <a:r>
              <a:rPr lang="en-US" sz="3800" b="1" dirty="0">
                <a:solidFill>
                  <a:schemeClr val="bg1"/>
                </a:solidFill>
              </a:rPr>
              <a:t>Trois étapes pour passer de la recherche d’un dépôt à la commande en ligne.</a:t>
            </a:r>
            <a:endParaRPr lang="en-US" sz="3800" dirty="0"/>
          </a:p>
        </p:txBody>
      </p:sp>
      <p:sp>
        <p:nvSpPr>
          <p:cNvPr id="5" name="Précision"/>
          <p:cNvSpPr txBox="1"/>
          <p:nvPr/>
        </p:nvSpPr>
        <p:spPr>
          <a:xfrm>
            <a:off x="640080" y="4892040"/>
            <a:ext cx="7315200" cy="457200"/>
          </a:xfrm>
          <a:prstGeom prst="rect">
            <a:avLst/>
          </a:prstGeom>
          <a:noFill/>
          <a:ln/>
        </p:spPr>
        <p:txBody>
          <a:bodyPr wrap="square" lIns="0" tIns="0" rIns="0" bIns="0" rtlCol="0" anchor="ctr"/>
          <a:lstStyle/>
          <a:p>
            <a:pPr marL="0" indent="0">
              <a:buNone/>
            </a:pPr>
            <a:endParaRPr lang="en-US" sz="1800" dirty="0"/>
          </a:p>
        </p:txBody>
      </p:sp>
      <p:sp>
        <p:nvSpPr>
          <p:cNvPr id="6" name="!!col1"/>
          <p:cNvSpPr/>
          <p:nvPr/>
        </p:nvSpPr>
        <p:spPr>
          <a:xfrm>
            <a:off x="8732520" y="0"/>
            <a:ext cx="1188720" cy="6858000"/>
          </a:xfrm>
          <a:prstGeom prst="rect">
            <a:avLst/>
          </a:prstGeom>
          <a:solidFill>
            <a:srgbClr val="0B8A5E"/>
          </a:solidFill>
          <a:ln w="12700">
            <a:solidFill>
              <a:srgbClr val="0B8A5E"/>
            </a:solidFill>
            <a:prstDash val="solid"/>
          </a:ln>
        </p:spPr>
        <p:txBody>
          <a:bodyPr/>
          <a:lstStyle/>
          <a:p>
            <a:endParaRPr/>
          </a:p>
        </p:txBody>
      </p:sp>
      <p:sp>
        <p:nvSpPr>
          <p:cNvPr id="7" name="!!col2"/>
          <p:cNvSpPr/>
          <p:nvPr/>
        </p:nvSpPr>
        <p:spPr>
          <a:xfrm>
            <a:off x="9921240" y="0"/>
            <a:ext cx="1188720" cy="6858000"/>
          </a:xfrm>
          <a:prstGeom prst="rect">
            <a:avLst/>
          </a:prstGeom>
          <a:solidFill>
            <a:srgbClr val="2770A4"/>
          </a:solidFill>
          <a:ln w="12700">
            <a:solidFill>
              <a:srgbClr val="2770A4"/>
            </a:solidFill>
            <a:prstDash val="solid"/>
          </a:ln>
        </p:spPr>
        <p:txBody>
          <a:bodyPr/>
          <a:lstStyle/>
          <a:p>
            <a:endParaRPr/>
          </a:p>
        </p:txBody>
      </p:sp>
      <p:sp>
        <p:nvSpPr>
          <p:cNvPr id="8" name="!!col3"/>
          <p:cNvSpPr/>
          <p:nvPr/>
        </p:nvSpPr>
        <p:spPr>
          <a:xfrm>
            <a:off x="11109960" y="0"/>
            <a:ext cx="1188720" cy="6858000"/>
          </a:xfrm>
          <a:prstGeom prst="rect">
            <a:avLst/>
          </a:prstGeom>
          <a:solidFill>
            <a:srgbClr val="D4540F"/>
          </a:solidFill>
          <a:ln w="12700">
            <a:solidFill>
              <a:srgbClr val="D4540F"/>
            </a:solidFill>
            <a:prstDash val="solid"/>
          </a:ln>
        </p:spPr>
        <p:txBody>
          <a:bodyPr/>
          <a:lstStyle/>
          <a:p>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additive="base">
                                        <p:cTn id="8" dur="650" fill="hold"/>
                                        <p:tgtEl>
                                          <p:spTgt spid="4"/>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17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50"/>
                                        <p:tgtEl>
                                          <p:spTgt spid="5"/>
                                        </p:tgtEl>
                                      </p:cBhvr>
                                    </p:animEffect>
                                    <p:anim calcmode="lin" valueType="num">
                                      <p:cBhvr additive="base">
                                        <p:cTn id="12" dur="650" fill="hold"/>
                                        <p:tgtEl>
                                          <p:spTgt spid="5"/>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urtitre"/>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300" dirty="0">
                <a:solidFill>
                  <a:srgbClr val="D4540F"/>
                </a:solidFill>
              </a:rPr>
              <a:t> FEUILLE DE ROUTE</a:t>
            </a:r>
            <a:endParaRPr lang="en-US" sz="1200" dirty="0"/>
          </a:p>
        </p:txBody>
      </p:sp>
      <p:sp>
        <p:nvSpPr>
          <p:cNvPr id="3" name="Text 0"/>
          <p:cNvSpPr>
            <a:spLocks noGrp="1"/>
          </p:cNvSpPr>
          <p:nvPr>
            <p:ph type="title" idx="100" hasCustomPrompt="1"/>
          </p:nvPr>
        </p:nvSpPr>
        <p:spPr>
          <a:xfrm>
            <a:off x="640080" y="713232"/>
            <a:ext cx="10881360" cy="777240"/>
          </a:xfrm>
          <a:prstGeom prst="rect">
            <a:avLst/>
          </a:prstGeom>
          <a:noFill/>
          <a:ln/>
        </p:spPr>
        <p:txBody>
          <a:bodyPr wrap="square" lIns="0" tIns="0" rIns="0" bIns="0" rtlCol="0" anchor="t"/>
          <a:lstStyle/>
          <a:p>
            <a:pPr marL="0" indent="0" algn="l">
              <a:buNone/>
            </a:pPr>
            <a:r>
              <a:rPr lang="en-US" sz="3400" b="1" dirty="0">
                <a:solidFill>
                  <a:schemeClr val="tx2"/>
                </a:solidFill>
              </a:rPr>
              <a:t>Feuille de route de YaGaz</a:t>
            </a:r>
            <a:endParaRPr lang="en-US" sz="3400" dirty="0"/>
          </a:p>
        </p:txBody>
      </p:sp>
      <p:sp>
        <p:nvSpPr>
          <p:cNvPr id="4" name="Sous-titre"/>
          <p:cNvSpPr txBox="1"/>
          <p:nvPr/>
        </p:nvSpPr>
        <p:spPr>
          <a:xfrm>
            <a:off x="640080" y="1463040"/>
            <a:ext cx="10424160" cy="365760"/>
          </a:xfrm>
          <a:prstGeom prst="rect">
            <a:avLst/>
          </a:prstGeom>
          <a:noFill/>
          <a:ln/>
        </p:spPr>
        <p:txBody>
          <a:bodyPr wrap="square" lIns="0" tIns="0" rIns="0" bIns="0" rtlCol="0" anchor="ctr"/>
          <a:lstStyle/>
          <a:p>
            <a:pPr marL="0" indent="0">
              <a:buNone/>
            </a:pPr>
            <a:r>
              <a:rPr lang="en-US" dirty="0" err="1">
                <a:solidFill>
                  <a:schemeClr val="accent5"/>
                </a:solidFill>
              </a:rPr>
              <a:t>C’est la version 01 qui est mise en évidence dans la présentation.</a:t>
            </a:r>
            <a:endParaRPr lang="en-US" dirty="0"/>
          </a:p>
        </p:txBody>
      </p:sp>
      <p:sp>
        <p:nvSpPr>
          <p:cNvPr id="5" name="!!col1"/>
          <p:cNvSpPr/>
          <p:nvPr/>
        </p:nvSpPr>
        <p:spPr>
          <a:xfrm>
            <a:off x="0" y="2103120"/>
            <a:ext cx="4063898" cy="4754880"/>
          </a:xfrm>
          <a:prstGeom prst="rect">
            <a:avLst/>
          </a:prstGeom>
          <a:solidFill>
            <a:srgbClr val="0B8A5E"/>
          </a:solidFill>
          <a:ln w="12700">
            <a:solidFill>
              <a:srgbClr val="0B8A5E"/>
            </a:solidFill>
            <a:prstDash val="solid"/>
          </a:ln>
        </p:spPr>
        <p:txBody>
          <a:bodyPr/>
          <a:lstStyle/>
          <a:p>
            <a:endParaRPr/>
          </a:p>
        </p:txBody>
      </p:sp>
      <p:sp>
        <p:nvSpPr>
          <p:cNvPr id="6" name="Numéro 01"/>
          <p:cNvSpPr txBox="1"/>
          <p:nvPr/>
        </p:nvSpPr>
        <p:spPr>
          <a:xfrm>
            <a:off x="640080" y="2377440"/>
            <a:ext cx="1828800" cy="868680"/>
          </a:xfrm>
          <a:prstGeom prst="rect">
            <a:avLst/>
          </a:prstGeom>
          <a:noFill/>
          <a:ln/>
        </p:spPr>
        <p:txBody>
          <a:bodyPr wrap="square" lIns="0" tIns="0" rIns="0" bIns="0" rtlCol="0" anchor="ctr"/>
          <a:lstStyle/>
          <a:p>
            <a:pPr marL="0" indent="0">
              <a:buNone/>
            </a:pPr>
            <a:r>
              <a:rPr lang="en-US" sz="5600" b="1" dirty="0">
                <a:solidFill>
                  <a:schemeClr val="bg1">
                    <a:alpha val="65000"/>
                  </a:schemeClr>
                </a:solidFill>
              </a:rPr>
              <a:t>01</a:t>
            </a:r>
            <a:endParaRPr lang="en-US" sz="5600" dirty="0"/>
          </a:p>
        </p:txBody>
      </p:sp>
      <p:sp>
        <p:nvSpPr>
          <p:cNvPr id="7" name="Étiquette VERSION INITIALE"/>
          <p:cNvSpPr txBox="1"/>
          <p:nvPr/>
        </p:nvSpPr>
        <p:spPr>
          <a:xfrm>
            <a:off x="640080" y="3337560"/>
            <a:ext cx="2926080" cy="274320"/>
          </a:xfrm>
          <a:prstGeom prst="rect">
            <a:avLst/>
          </a:prstGeom>
          <a:noFill/>
          <a:ln/>
        </p:spPr>
        <p:txBody>
          <a:bodyPr wrap="square" lIns="0" tIns="0" rIns="0" bIns="0" rtlCol="0" anchor="ctr"/>
          <a:lstStyle/>
          <a:p>
            <a:pPr marL="0" indent="0">
              <a:buNone/>
            </a:pPr>
            <a:r>
              <a:rPr lang="en-US" sz="1200" b="1" kern="0" spc="300" dirty="0">
                <a:solidFill>
                  <a:schemeClr val="bg1"/>
                </a:solidFill>
              </a:rPr>
              <a:t>VERSION INITIALE</a:t>
            </a:r>
            <a:endParaRPr lang="en-US" sz="1200" dirty="0"/>
          </a:p>
        </p:txBody>
      </p:sp>
      <p:sp>
        <p:nvSpPr>
          <p:cNvPr id="8" name="Titre VERSION INITIALE"/>
          <p:cNvSpPr txBox="1"/>
          <p:nvPr/>
        </p:nvSpPr>
        <p:spPr>
          <a:xfrm>
            <a:off x="640080" y="3657600"/>
            <a:ext cx="3017520" cy="502920"/>
          </a:xfrm>
          <a:prstGeom prst="rect">
            <a:avLst/>
          </a:prstGeom>
          <a:noFill/>
          <a:ln/>
        </p:spPr>
        <p:txBody>
          <a:bodyPr wrap="square" lIns="0" tIns="0" rIns="0" bIns="0" rtlCol="0" anchor="ctr"/>
          <a:lstStyle/>
          <a:p>
            <a:pPr marL="0" indent="0">
              <a:buNone/>
            </a:pPr>
            <a:r>
              <a:rPr lang="en-US" sz="2000" b="1" dirty="0">
                <a:solidFill>
                  <a:schemeClr val="bg1"/>
                </a:solidFill>
              </a:rPr>
              <a:t>Trouver &amp; contacter</a:t>
            </a:r>
            <a:endParaRPr lang="en-US" sz="2600" dirty="0"/>
          </a:p>
        </p:txBody>
      </p:sp>
      <p:pic>
        <p:nvPicPr>
          <p:cNvPr id="9" name="Coche 01-1" descr="Coche"/>
          <p:cNvPicPr>
            <a:picLocks noChangeAspect="1"/>
          </p:cNvPicPr>
          <p:nvPr/>
        </p:nvPicPr>
        <p:blipFill>
          <a:blip r:embed="rId3"/>
          <a:stretch>
            <a:fillRect/>
          </a:stretch>
        </p:blipFill>
        <p:spPr>
          <a:xfrm>
            <a:off x="640080" y="4608576"/>
            <a:ext cx="310896" cy="310896"/>
          </a:xfrm>
          <a:prstGeom prst="rect">
            <a:avLst/>
          </a:prstGeom>
        </p:spPr>
      </p:pic>
      <p:sp>
        <p:nvSpPr>
          <p:cNvPr id="10" name="Fonction Recherche des dépôts"/>
          <p:cNvSpPr txBox="1"/>
          <p:nvPr/>
        </p:nvSpPr>
        <p:spPr>
          <a:xfrm>
            <a:off x="1097280" y="4526280"/>
            <a:ext cx="2651760" cy="475488"/>
          </a:xfrm>
          <a:prstGeom prst="rect">
            <a:avLst/>
          </a:prstGeom>
          <a:noFill/>
          <a:ln/>
        </p:spPr>
        <p:txBody>
          <a:bodyPr wrap="square" lIns="0" tIns="0" rIns="0" bIns="0" rtlCol="0" anchor="ctr"/>
          <a:lstStyle/>
          <a:p>
            <a:pPr marL="0" indent="0">
              <a:buNone/>
            </a:pPr>
            <a:r>
              <a:rPr lang="en-US" sz="1600" dirty="0">
                <a:solidFill>
                  <a:schemeClr val="bg1"/>
                </a:solidFill>
              </a:rPr>
              <a:t>Recherche des dépôts</a:t>
            </a:r>
            <a:endParaRPr lang="en-US" sz="1600" dirty="0"/>
          </a:p>
        </p:txBody>
      </p:sp>
      <p:pic>
        <p:nvPicPr>
          <p:cNvPr id="11" name="Coche 01-2" descr="Coche"/>
          <p:cNvPicPr>
            <a:picLocks noChangeAspect="1"/>
          </p:cNvPicPr>
          <p:nvPr/>
        </p:nvPicPr>
        <p:blipFill>
          <a:blip r:embed="rId3"/>
          <a:stretch>
            <a:fillRect/>
          </a:stretch>
        </p:blipFill>
        <p:spPr>
          <a:xfrm>
            <a:off x="640080" y="5321808"/>
            <a:ext cx="310896" cy="310896"/>
          </a:xfrm>
          <a:prstGeom prst="rect">
            <a:avLst/>
          </a:prstGeom>
        </p:spPr>
      </p:pic>
      <p:sp>
        <p:nvSpPr>
          <p:cNvPr id="12" name="Fonction Consultation des formats / prix"/>
          <p:cNvSpPr txBox="1"/>
          <p:nvPr/>
        </p:nvSpPr>
        <p:spPr>
          <a:xfrm>
            <a:off x="1097280" y="5239512"/>
            <a:ext cx="2651760" cy="475488"/>
          </a:xfrm>
          <a:prstGeom prst="rect">
            <a:avLst/>
          </a:prstGeom>
          <a:noFill/>
          <a:ln/>
        </p:spPr>
        <p:txBody>
          <a:bodyPr wrap="square" lIns="0" tIns="0" rIns="0" bIns="0" rtlCol="0" anchor="ctr"/>
          <a:lstStyle/>
          <a:p>
            <a:pPr marL="0" indent="0">
              <a:buNone/>
            </a:pPr>
            <a:r>
              <a:rPr lang="en-US" sz="1600" dirty="0">
                <a:solidFill>
                  <a:schemeClr val="bg1"/>
                </a:solidFill>
              </a:rPr>
              <a:t>Consultation des formats / prix</a:t>
            </a:r>
            <a:endParaRPr lang="en-US" sz="1600" dirty="0"/>
          </a:p>
        </p:txBody>
      </p:sp>
      <p:pic>
        <p:nvPicPr>
          <p:cNvPr id="13" name="Coche 01-3" descr="Coche"/>
          <p:cNvPicPr>
            <a:picLocks noChangeAspect="1"/>
          </p:cNvPicPr>
          <p:nvPr/>
        </p:nvPicPr>
        <p:blipFill>
          <a:blip r:embed="rId3"/>
          <a:stretch>
            <a:fillRect/>
          </a:stretch>
        </p:blipFill>
        <p:spPr>
          <a:xfrm>
            <a:off x="640080" y="6035040"/>
            <a:ext cx="310896" cy="310896"/>
          </a:xfrm>
          <a:prstGeom prst="rect">
            <a:avLst/>
          </a:prstGeom>
        </p:spPr>
      </p:pic>
      <p:sp>
        <p:nvSpPr>
          <p:cNvPr id="14" name="Fonction Appel ou WhatsApp"/>
          <p:cNvSpPr txBox="1"/>
          <p:nvPr/>
        </p:nvSpPr>
        <p:spPr>
          <a:xfrm>
            <a:off x="1097280" y="5952744"/>
            <a:ext cx="2651760" cy="475488"/>
          </a:xfrm>
          <a:prstGeom prst="rect">
            <a:avLst/>
          </a:prstGeom>
          <a:noFill/>
          <a:ln/>
        </p:spPr>
        <p:txBody>
          <a:bodyPr wrap="square" lIns="0" tIns="0" rIns="0" bIns="0" rtlCol="0" anchor="ctr"/>
          <a:lstStyle/>
          <a:p>
            <a:pPr marL="0" indent="0">
              <a:buNone/>
            </a:pPr>
            <a:r>
              <a:rPr lang="en-US" sz="1600" dirty="0">
                <a:solidFill>
                  <a:schemeClr val="bg1"/>
                </a:solidFill>
              </a:rPr>
              <a:t>Appel ou WhatsApp</a:t>
            </a:r>
            <a:endParaRPr lang="en-US" sz="1600" dirty="0"/>
          </a:p>
        </p:txBody>
      </p:sp>
      <p:sp>
        <p:nvSpPr>
          <p:cNvPr id="15" name="!!col2"/>
          <p:cNvSpPr/>
          <p:nvPr/>
        </p:nvSpPr>
        <p:spPr>
          <a:xfrm>
            <a:off x="4063898" y="2103120"/>
            <a:ext cx="4063898" cy="4754880"/>
          </a:xfrm>
          <a:prstGeom prst="rect">
            <a:avLst/>
          </a:prstGeom>
          <a:solidFill>
            <a:srgbClr val="2770A4"/>
          </a:solidFill>
          <a:ln w="12700">
            <a:solidFill>
              <a:srgbClr val="2770A4"/>
            </a:solidFill>
            <a:prstDash val="solid"/>
          </a:ln>
        </p:spPr>
        <p:txBody>
          <a:bodyPr/>
          <a:lstStyle/>
          <a:p>
            <a:endParaRPr/>
          </a:p>
        </p:txBody>
      </p:sp>
      <p:sp>
        <p:nvSpPr>
          <p:cNvPr id="16" name="Numéro 02"/>
          <p:cNvSpPr txBox="1"/>
          <p:nvPr/>
        </p:nvSpPr>
        <p:spPr>
          <a:xfrm>
            <a:off x="4703978" y="2377440"/>
            <a:ext cx="1828800" cy="868680"/>
          </a:xfrm>
          <a:prstGeom prst="rect">
            <a:avLst/>
          </a:prstGeom>
          <a:noFill/>
          <a:ln/>
        </p:spPr>
        <p:txBody>
          <a:bodyPr wrap="square" lIns="0" tIns="0" rIns="0" bIns="0" rtlCol="0" anchor="ctr"/>
          <a:lstStyle/>
          <a:p>
            <a:pPr marL="0" indent="0">
              <a:buNone/>
            </a:pPr>
            <a:r>
              <a:rPr lang="en-US" sz="5600" b="1" dirty="0">
                <a:solidFill>
                  <a:schemeClr val="bg1">
                    <a:alpha val="65000"/>
                  </a:schemeClr>
                </a:solidFill>
              </a:rPr>
              <a:t>02</a:t>
            </a:r>
            <a:endParaRPr lang="en-US" sz="5600" dirty="0"/>
          </a:p>
        </p:txBody>
      </p:sp>
      <p:sp>
        <p:nvSpPr>
          <p:cNvPr id="17" name="Étiquette PHASE 2"/>
          <p:cNvSpPr txBox="1"/>
          <p:nvPr/>
        </p:nvSpPr>
        <p:spPr>
          <a:xfrm>
            <a:off x="4703978" y="3337560"/>
            <a:ext cx="2926080" cy="274320"/>
          </a:xfrm>
          <a:prstGeom prst="rect">
            <a:avLst/>
          </a:prstGeom>
          <a:noFill/>
          <a:ln/>
        </p:spPr>
        <p:txBody>
          <a:bodyPr wrap="square" lIns="0" tIns="0" rIns="0" bIns="0" rtlCol="0" anchor="ctr"/>
          <a:lstStyle/>
          <a:p>
            <a:pPr marL="0" indent="0">
              <a:buNone/>
            </a:pPr>
            <a:r>
              <a:rPr lang="en-US" sz="1200" b="1" kern="0" spc="300" dirty="0">
                <a:solidFill>
                  <a:schemeClr val="bg1"/>
                </a:solidFill>
              </a:rPr>
              <a:t>PHASE 2</a:t>
            </a:r>
            <a:endParaRPr lang="en-US" sz="1200" dirty="0"/>
          </a:p>
        </p:txBody>
      </p:sp>
      <p:sp>
        <p:nvSpPr>
          <p:cNvPr id="18" name="Titre PHASE 2"/>
          <p:cNvSpPr txBox="1"/>
          <p:nvPr/>
        </p:nvSpPr>
        <p:spPr>
          <a:xfrm>
            <a:off x="4703978" y="3657600"/>
            <a:ext cx="3017520" cy="502920"/>
          </a:xfrm>
          <a:prstGeom prst="rect">
            <a:avLst/>
          </a:prstGeom>
          <a:noFill/>
          <a:ln/>
        </p:spPr>
        <p:txBody>
          <a:bodyPr wrap="square" lIns="0" tIns="0" rIns="0" bIns="0" rtlCol="0" anchor="ctr"/>
          <a:lstStyle/>
          <a:p>
            <a:pPr marL="0" indent="0">
              <a:buNone/>
            </a:pPr>
            <a:r>
              <a:rPr lang="en-US" sz="2000" b="1" dirty="0">
                <a:solidFill>
                  <a:schemeClr val="bg1"/>
                </a:solidFill>
              </a:rPr>
              <a:t>Outiller les dépôts</a:t>
            </a:r>
            <a:endParaRPr lang="en-US" sz="2600" dirty="0"/>
          </a:p>
        </p:txBody>
      </p:sp>
      <p:pic>
        <p:nvPicPr>
          <p:cNvPr id="19" name="Coche 02-1" descr="Coche"/>
          <p:cNvPicPr>
            <a:picLocks noChangeAspect="1"/>
          </p:cNvPicPr>
          <p:nvPr/>
        </p:nvPicPr>
        <p:blipFill>
          <a:blip r:embed="rId4"/>
          <a:stretch>
            <a:fillRect/>
          </a:stretch>
        </p:blipFill>
        <p:spPr>
          <a:xfrm>
            <a:off x="4703978" y="4608576"/>
            <a:ext cx="310896" cy="310896"/>
          </a:xfrm>
          <a:prstGeom prst="rect">
            <a:avLst/>
          </a:prstGeom>
        </p:spPr>
      </p:pic>
      <p:sp>
        <p:nvSpPr>
          <p:cNvPr id="20" name="Fonction Application gérant"/>
          <p:cNvSpPr txBox="1"/>
          <p:nvPr/>
        </p:nvSpPr>
        <p:spPr>
          <a:xfrm>
            <a:off x="5161178" y="4526280"/>
            <a:ext cx="2651760" cy="475488"/>
          </a:xfrm>
          <a:prstGeom prst="rect">
            <a:avLst/>
          </a:prstGeom>
          <a:noFill/>
          <a:ln/>
        </p:spPr>
        <p:txBody>
          <a:bodyPr wrap="square" lIns="0" tIns="0" rIns="0" bIns="0" rtlCol="0" anchor="ctr"/>
          <a:lstStyle/>
          <a:p>
            <a:pPr marL="0" indent="0">
              <a:buNone/>
            </a:pPr>
            <a:r>
              <a:rPr lang="en-US" sz="1600" dirty="0">
                <a:solidFill>
                  <a:schemeClr val="bg1"/>
                </a:solidFill>
              </a:rPr>
              <a:t>Application gérant</a:t>
            </a:r>
            <a:endParaRPr lang="en-US" sz="1600" dirty="0"/>
          </a:p>
        </p:txBody>
      </p:sp>
      <p:pic>
        <p:nvPicPr>
          <p:cNvPr id="21" name="Coche 02-2" descr="Coche"/>
          <p:cNvPicPr>
            <a:picLocks noChangeAspect="1"/>
          </p:cNvPicPr>
          <p:nvPr/>
        </p:nvPicPr>
        <p:blipFill>
          <a:blip r:embed="rId4"/>
          <a:stretch>
            <a:fillRect/>
          </a:stretch>
        </p:blipFill>
        <p:spPr>
          <a:xfrm>
            <a:off x="4703978" y="5321808"/>
            <a:ext cx="310896" cy="310896"/>
          </a:xfrm>
          <a:prstGeom prst="rect">
            <a:avLst/>
          </a:prstGeom>
        </p:spPr>
      </p:pic>
      <p:sp>
        <p:nvSpPr>
          <p:cNvPr id="22" name="Fonction Mise à jour du stock et des prix"/>
          <p:cNvSpPr txBox="1"/>
          <p:nvPr/>
        </p:nvSpPr>
        <p:spPr>
          <a:xfrm>
            <a:off x="5161178" y="5239512"/>
            <a:ext cx="2651760" cy="475488"/>
          </a:xfrm>
          <a:prstGeom prst="rect">
            <a:avLst/>
          </a:prstGeom>
          <a:noFill/>
          <a:ln/>
        </p:spPr>
        <p:txBody>
          <a:bodyPr wrap="square" lIns="0" tIns="0" rIns="0" bIns="0" rtlCol="0" anchor="ctr"/>
          <a:lstStyle/>
          <a:p>
            <a:pPr marL="0" indent="0">
              <a:buNone/>
            </a:pPr>
            <a:r>
              <a:rPr lang="en-US" sz="1600" dirty="0">
                <a:solidFill>
                  <a:schemeClr val="bg1"/>
                </a:solidFill>
              </a:rPr>
              <a:t>Mise à jour du stock et des prix</a:t>
            </a:r>
            <a:endParaRPr lang="en-US" sz="1600" dirty="0"/>
          </a:p>
        </p:txBody>
      </p:sp>
      <p:pic>
        <p:nvPicPr>
          <p:cNvPr id="23" name="Coche 02-3" descr="Coche"/>
          <p:cNvPicPr>
            <a:picLocks noChangeAspect="1"/>
          </p:cNvPicPr>
          <p:nvPr/>
        </p:nvPicPr>
        <p:blipFill>
          <a:blip r:embed="rId4"/>
          <a:stretch>
            <a:fillRect/>
          </a:stretch>
        </p:blipFill>
        <p:spPr>
          <a:xfrm>
            <a:off x="4703978" y="6035040"/>
            <a:ext cx="310896" cy="310896"/>
          </a:xfrm>
          <a:prstGeom prst="rect">
            <a:avLst/>
          </a:prstGeom>
        </p:spPr>
      </p:pic>
      <p:sp>
        <p:nvSpPr>
          <p:cNvPr id="24" name="Fonction Alertes &amp;amp; statistiques"/>
          <p:cNvSpPr txBox="1"/>
          <p:nvPr/>
        </p:nvSpPr>
        <p:spPr>
          <a:xfrm>
            <a:off x="5161178" y="5952744"/>
            <a:ext cx="2651760" cy="475488"/>
          </a:xfrm>
          <a:prstGeom prst="rect">
            <a:avLst/>
          </a:prstGeom>
          <a:noFill/>
          <a:ln/>
        </p:spPr>
        <p:txBody>
          <a:bodyPr wrap="square" lIns="0" tIns="0" rIns="0" bIns="0" rtlCol="0" anchor="ctr"/>
          <a:lstStyle/>
          <a:p>
            <a:pPr marL="0" indent="0">
              <a:buNone/>
            </a:pPr>
            <a:r>
              <a:rPr lang="en-US" sz="1600" dirty="0">
                <a:solidFill>
                  <a:schemeClr val="bg1"/>
                </a:solidFill>
              </a:rPr>
              <a:t>Alertes &amp; statistiques</a:t>
            </a:r>
            <a:endParaRPr lang="en-US" sz="1600" dirty="0"/>
          </a:p>
        </p:txBody>
      </p:sp>
      <p:sp>
        <p:nvSpPr>
          <p:cNvPr id="25" name="!!col3"/>
          <p:cNvSpPr/>
          <p:nvPr/>
        </p:nvSpPr>
        <p:spPr>
          <a:xfrm>
            <a:off x="8127797" y="2103120"/>
            <a:ext cx="4063898" cy="4754880"/>
          </a:xfrm>
          <a:prstGeom prst="rect">
            <a:avLst/>
          </a:prstGeom>
          <a:solidFill>
            <a:srgbClr val="D4540F"/>
          </a:solidFill>
          <a:ln w="12700">
            <a:solidFill>
              <a:srgbClr val="D4540F"/>
            </a:solidFill>
            <a:prstDash val="solid"/>
          </a:ln>
        </p:spPr>
        <p:txBody>
          <a:bodyPr/>
          <a:lstStyle/>
          <a:p>
            <a:endParaRPr/>
          </a:p>
        </p:txBody>
      </p:sp>
      <p:sp>
        <p:nvSpPr>
          <p:cNvPr id="26" name="Numéro 03"/>
          <p:cNvSpPr txBox="1"/>
          <p:nvPr/>
        </p:nvSpPr>
        <p:spPr>
          <a:xfrm>
            <a:off x="8767877" y="2377440"/>
            <a:ext cx="1828800" cy="868680"/>
          </a:xfrm>
          <a:prstGeom prst="rect">
            <a:avLst/>
          </a:prstGeom>
          <a:noFill/>
          <a:ln/>
        </p:spPr>
        <p:txBody>
          <a:bodyPr wrap="square" lIns="0" tIns="0" rIns="0" bIns="0" rtlCol="0" anchor="ctr"/>
          <a:lstStyle/>
          <a:p>
            <a:pPr marL="0" indent="0">
              <a:buNone/>
            </a:pPr>
            <a:r>
              <a:rPr lang="en-US" sz="5600" b="1" dirty="0">
                <a:solidFill>
                  <a:schemeClr val="bg1">
                    <a:alpha val="65000"/>
                  </a:schemeClr>
                </a:solidFill>
              </a:rPr>
              <a:t>03</a:t>
            </a:r>
            <a:endParaRPr lang="en-US" sz="5600" dirty="0"/>
          </a:p>
        </p:txBody>
      </p:sp>
      <p:sp>
        <p:nvSpPr>
          <p:cNvPr id="27" name="Étiquette ÉTAPES SUIVANTES"/>
          <p:cNvSpPr txBox="1"/>
          <p:nvPr/>
        </p:nvSpPr>
        <p:spPr>
          <a:xfrm>
            <a:off x="8767877" y="3337560"/>
            <a:ext cx="2926080" cy="274320"/>
          </a:xfrm>
          <a:prstGeom prst="rect">
            <a:avLst/>
          </a:prstGeom>
          <a:noFill/>
          <a:ln/>
        </p:spPr>
        <p:txBody>
          <a:bodyPr wrap="square" lIns="0" tIns="0" rIns="0" bIns="0" rtlCol="0" anchor="ctr"/>
          <a:lstStyle/>
          <a:p>
            <a:pPr marL="0" indent="0">
              <a:buNone/>
            </a:pPr>
            <a:r>
              <a:rPr lang="en-US" sz="1200" b="1" kern="0" spc="300" dirty="0">
                <a:solidFill>
                  <a:schemeClr val="bg1"/>
                </a:solidFill>
              </a:rPr>
              <a:t>ÉTAPES SUIVANTES</a:t>
            </a:r>
            <a:endParaRPr lang="en-US" sz="1200" dirty="0"/>
          </a:p>
        </p:txBody>
      </p:sp>
      <p:sp>
        <p:nvSpPr>
          <p:cNvPr id="28" name="Titre ÉTAPES SUIVANTES"/>
          <p:cNvSpPr txBox="1"/>
          <p:nvPr/>
        </p:nvSpPr>
        <p:spPr>
          <a:xfrm>
            <a:off x="8767877" y="3657600"/>
            <a:ext cx="3017520" cy="502920"/>
          </a:xfrm>
          <a:prstGeom prst="rect">
            <a:avLst/>
          </a:prstGeom>
          <a:noFill/>
          <a:ln/>
        </p:spPr>
        <p:txBody>
          <a:bodyPr wrap="square" lIns="0" tIns="0" rIns="0" bIns="0" rtlCol="0" anchor="ctr"/>
          <a:lstStyle/>
          <a:p>
            <a:pPr marL="0" indent="0">
              <a:buNone/>
            </a:pPr>
            <a:r>
              <a:rPr lang="en-US" sz="2000" b="1" dirty="0">
                <a:solidFill>
                  <a:schemeClr val="bg1"/>
                </a:solidFill>
              </a:rPr>
              <a:t>Aller plus loin</a:t>
            </a:r>
            <a:endParaRPr lang="en-US" sz="2600" dirty="0"/>
          </a:p>
        </p:txBody>
      </p:sp>
      <p:pic>
        <p:nvPicPr>
          <p:cNvPr id="29" name="Coche 03-1" descr="Coche"/>
          <p:cNvPicPr>
            <a:picLocks noChangeAspect="1"/>
          </p:cNvPicPr>
          <p:nvPr/>
        </p:nvPicPr>
        <p:blipFill>
          <a:blip r:embed="rId5"/>
          <a:stretch>
            <a:fillRect/>
          </a:stretch>
        </p:blipFill>
        <p:spPr>
          <a:xfrm>
            <a:off x="8767877" y="4608576"/>
            <a:ext cx="310896" cy="310896"/>
          </a:xfrm>
          <a:prstGeom prst="rect">
            <a:avLst/>
          </a:prstGeom>
        </p:spPr>
      </p:pic>
      <p:sp>
        <p:nvSpPr>
          <p:cNvPr id="30" name="Fonction Commande et livraison"/>
          <p:cNvSpPr txBox="1"/>
          <p:nvPr/>
        </p:nvSpPr>
        <p:spPr>
          <a:xfrm>
            <a:off x="9225077" y="4526280"/>
            <a:ext cx="2651760" cy="475488"/>
          </a:xfrm>
          <a:prstGeom prst="rect">
            <a:avLst/>
          </a:prstGeom>
          <a:noFill/>
          <a:ln/>
        </p:spPr>
        <p:txBody>
          <a:bodyPr wrap="square" lIns="0" tIns="0" rIns="0" bIns="0" rtlCol="0" anchor="ctr"/>
          <a:lstStyle/>
          <a:p>
            <a:pPr marL="0" indent="0">
              <a:buNone/>
            </a:pPr>
            <a:r>
              <a:rPr lang="en-US" sz="1600" dirty="0">
                <a:solidFill>
                  <a:schemeClr val="bg1"/>
                </a:solidFill>
              </a:rPr>
              <a:t>Commande et livraison</a:t>
            </a:r>
            <a:endParaRPr lang="en-US" sz="1600" dirty="0"/>
          </a:p>
        </p:txBody>
      </p:sp>
      <p:pic>
        <p:nvPicPr>
          <p:cNvPr id="31" name="Coche 03-2" descr="Coche"/>
          <p:cNvPicPr>
            <a:picLocks noChangeAspect="1"/>
          </p:cNvPicPr>
          <p:nvPr/>
        </p:nvPicPr>
        <p:blipFill>
          <a:blip r:embed="rId5"/>
          <a:stretch>
            <a:fillRect/>
          </a:stretch>
        </p:blipFill>
        <p:spPr>
          <a:xfrm>
            <a:off x="8767877" y="5321808"/>
            <a:ext cx="310896" cy="310896"/>
          </a:xfrm>
          <a:prstGeom prst="rect">
            <a:avLst/>
          </a:prstGeom>
        </p:spPr>
      </p:pic>
      <p:sp>
        <p:nvSpPr>
          <p:cNvPr id="32" name="Fonction Paiement Mobile Money"/>
          <p:cNvSpPr txBox="1"/>
          <p:nvPr/>
        </p:nvSpPr>
        <p:spPr>
          <a:xfrm>
            <a:off x="9225077" y="5239512"/>
            <a:ext cx="2651760" cy="475488"/>
          </a:xfrm>
          <a:prstGeom prst="rect">
            <a:avLst/>
          </a:prstGeom>
          <a:noFill/>
          <a:ln/>
        </p:spPr>
        <p:txBody>
          <a:bodyPr wrap="square" lIns="0" tIns="0" rIns="0" bIns="0" rtlCol="0" anchor="ctr"/>
          <a:lstStyle/>
          <a:p>
            <a:pPr marL="0" indent="0">
              <a:buNone/>
            </a:pPr>
            <a:r>
              <a:rPr lang="en-US" sz="1600" dirty="0">
                <a:solidFill>
                  <a:schemeClr val="bg1"/>
                </a:solidFill>
              </a:rPr>
              <a:t>Paiement Mobile Money</a:t>
            </a:r>
            <a:endParaRPr lang="en-US" sz="1600" dirty="0"/>
          </a:p>
        </p:txBody>
      </p:sp>
      <p:pic>
        <p:nvPicPr>
          <p:cNvPr id="33" name="Coche 03-3" descr="Coche"/>
          <p:cNvPicPr>
            <a:picLocks noChangeAspect="1"/>
          </p:cNvPicPr>
          <p:nvPr/>
        </p:nvPicPr>
        <p:blipFill>
          <a:blip r:embed="rId5"/>
          <a:stretch>
            <a:fillRect/>
          </a:stretch>
        </p:blipFill>
        <p:spPr>
          <a:xfrm>
            <a:off x="8767877" y="6035040"/>
            <a:ext cx="310896" cy="310896"/>
          </a:xfrm>
          <a:prstGeom prst="rect">
            <a:avLst/>
          </a:prstGeom>
        </p:spPr>
      </p:pic>
      <p:sp>
        <p:nvSpPr>
          <p:cNvPr id="34" name="Fonction Alertes de retour en stock"/>
          <p:cNvSpPr txBox="1"/>
          <p:nvPr/>
        </p:nvSpPr>
        <p:spPr>
          <a:xfrm>
            <a:off x="9225077" y="5952744"/>
            <a:ext cx="2651760" cy="475488"/>
          </a:xfrm>
          <a:prstGeom prst="rect">
            <a:avLst/>
          </a:prstGeom>
          <a:noFill/>
          <a:ln/>
        </p:spPr>
        <p:txBody>
          <a:bodyPr wrap="square" lIns="0" tIns="0" rIns="0" bIns="0" rtlCol="0" anchor="ctr"/>
          <a:lstStyle/>
          <a:p>
            <a:pPr marL="0" indent="0">
              <a:buNone/>
            </a:pPr>
            <a:r>
              <a:rPr lang="en-US" sz="1600" dirty="0">
                <a:solidFill>
                  <a:schemeClr val="bg1"/>
                </a:solidFill>
              </a:rPr>
              <a:t>Alertes de retour en stock</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anim calcmode="lin" valueType="num">
                                      <p:cBhvr additive="base">
                                        <p:cTn id="8" dur="650" fill="hold"/>
                                        <p:tgtEl>
                                          <p:spTgt spid="6"/>
                                        </p:tgtEl>
                                        <p:attrNameLst>
                                          <p:attrName>ppt_y</p:attrName>
                                        </p:attrNameLst>
                                      </p:cBhvr>
                                      <p:tavLst>
                                        <p:tav tm="0">
                                          <p:val>
                                            <p:strVal val="#ppt_y+.05"/>
                                          </p:val>
                                        </p:tav>
                                        <p:tav tm="100000">
                                          <p:val>
                                            <p:strVal val="#ppt_y"/>
                                          </p:val>
                                        </p:tav>
                                      </p:tavLst>
                                    </p:anim>
                                  </p:childTnLst>
                                </p:cTn>
                              </p:par>
                              <p:par>
                                <p:cTn id="9" presetID="10" presetClass="entr" presetSubtype="0" fill="hold"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50"/>
                                        <p:tgtEl>
                                          <p:spTgt spid="7"/>
                                        </p:tgtEl>
                                      </p:cBhvr>
                                    </p:animEffect>
                                  </p:childTnLst>
                                </p:cTn>
                              </p:par>
                              <p:par>
                                <p:cTn id="12" presetID="42" presetClass="entr" presetSubtype="0" fill="hold" nodeType="withEffect">
                                  <p:stCondLst>
                                    <p:cond delay="2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650"/>
                                        <p:tgtEl>
                                          <p:spTgt spid="16"/>
                                        </p:tgtEl>
                                      </p:cBhvr>
                                    </p:animEffect>
                                    <p:anim calcmode="lin" valueType="num">
                                      <p:cBhvr additive="base">
                                        <p:cTn id="15" dur="650" fill="hold"/>
                                        <p:tgtEl>
                                          <p:spTgt spid="16"/>
                                        </p:tgtEl>
                                        <p:attrNameLst>
                                          <p:attrName>ppt_y</p:attrName>
                                        </p:attrNameLst>
                                      </p:cBhvr>
                                      <p:tavLst>
                                        <p:tav tm="0">
                                          <p:val>
                                            <p:strVal val="#ppt_y+.05"/>
                                          </p:val>
                                        </p:tav>
                                        <p:tav tm="100000">
                                          <p:val>
                                            <p:strVal val="#ppt_y"/>
                                          </p:val>
                                        </p:tav>
                                      </p:tavLst>
                                    </p:anim>
                                  </p:childTnLst>
                                </p:cTn>
                              </p:par>
                              <p:par>
                                <p:cTn id="16" presetID="10" presetClass="entr" presetSubtype="0" fill="hold" nodeType="withEffect">
                                  <p:stCondLst>
                                    <p:cond delay="33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50"/>
                                        <p:tgtEl>
                                          <p:spTgt spid="17"/>
                                        </p:tgtEl>
                                      </p:cBhvr>
                                    </p:animEffect>
                                  </p:childTnLst>
                                </p:cTn>
                              </p:par>
                              <p:par>
                                <p:cTn id="19" presetID="42" presetClass="entr" presetSubtype="0" fill="hold" nodeType="withEffect">
                                  <p:stCondLst>
                                    <p:cond delay="44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650"/>
                                        <p:tgtEl>
                                          <p:spTgt spid="26"/>
                                        </p:tgtEl>
                                      </p:cBhvr>
                                    </p:animEffect>
                                    <p:anim calcmode="lin" valueType="num">
                                      <p:cBhvr additive="base">
                                        <p:cTn id="22" dur="650" fill="hold"/>
                                        <p:tgtEl>
                                          <p:spTgt spid="26"/>
                                        </p:tgtEl>
                                        <p:attrNameLst>
                                          <p:attrName>ppt_y</p:attrName>
                                        </p:attrNameLst>
                                      </p:cBhvr>
                                      <p:tavLst>
                                        <p:tav tm="0">
                                          <p:val>
                                            <p:strVal val="#ppt_y+.05"/>
                                          </p:val>
                                        </p:tav>
                                        <p:tav tm="100000">
                                          <p:val>
                                            <p:strVal val="#ppt_y"/>
                                          </p:val>
                                        </p:tav>
                                      </p:tavLst>
                                    </p:anim>
                                  </p:childTnLst>
                                </p:cTn>
                              </p:par>
                              <p:par>
                                <p:cTn id="23" presetID="10" presetClass="entr" presetSubtype="0" fill="hold" nodeType="withEffect">
                                  <p:stCondLst>
                                    <p:cond delay="55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650"/>
                                        <p:tgtEl>
                                          <p:spTgt spid="27"/>
                                        </p:tgtEl>
                                      </p:cBhvr>
                                    </p:animEffect>
                                  </p:childTnLst>
                                </p:cTn>
                              </p:par>
                              <p:par>
                                <p:cTn id="26" presetID="42" presetClass="entr" presetSubtype="0" fill="hold" nodeType="withEffect">
                                  <p:stCondLst>
                                    <p:cond delay="66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additive="base">
                                        <p:cTn id="29" dur="650" fill="hold"/>
                                        <p:tgtEl>
                                          <p:spTgt spid="8"/>
                                        </p:tgtEl>
                                        <p:attrNameLst>
                                          <p:attrName>ppt_y</p:attrName>
                                        </p:attrNameLst>
                                      </p:cBhvr>
                                      <p:tavLst>
                                        <p:tav tm="0">
                                          <p:val>
                                            <p:strVal val="#ppt_y+.05"/>
                                          </p:val>
                                        </p:tav>
                                        <p:tav tm="100000">
                                          <p:val>
                                            <p:strVal val="#ppt_y"/>
                                          </p:val>
                                        </p:tav>
                                      </p:tavLst>
                                    </p:anim>
                                  </p:childTnLst>
                                </p:cTn>
                              </p:par>
                              <p:par>
                                <p:cTn id="30" presetID="10" presetClass="entr" presetSubtype="0" fill="hold" nodeType="withEffect">
                                  <p:stCondLst>
                                    <p:cond delay="7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50"/>
                                        <p:tgtEl>
                                          <p:spTgt spid="9"/>
                                        </p:tgtEl>
                                      </p:cBhvr>
                                    </p:animEffect>
                                  </p:childTnLst>
                                </p:cTn>
                              </p:par>
                              <p:par>
                                <p:cTn id="33" presetID="42" presetClass="entr" presetSubtype="0" fill="hold" nodeType="withEffect">
                                  <p:stCondLst>
                                    <p:cond delay="88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50"/>
                                        <p:tgtEl>
                                          <p:spTgt spid="10"/>
                                        </p:tgtEl>
                                      </p:cBhvr>
                                    </p:animEffect>
                                    <p:anim calcmode="lin" valueType="num">
                                      <p:cBhvr additive="base">
                                        <p:cTn id="36" dur="650" fill="hold"/>
                                        <p:tgtEl>
                                          <p:spTgt spid="10"/>
                                        </p:tgtEl>
                                        <p:attrNameLst>
                                          <p:attrName>ppt_y</p:attrName>
                                        </p:attrNameLst>
                                      </p:cBhvr>
                                      <p:tavLst>
                                        <p:tav tm="0">
                                          <p:val>
                                            <p:strVal val="#ppt_y+.05"/>
                                          </p:val>
                                        </p:tav>
                                        <p:tav tm="100000">
                                          <p:val>
                                            <p:strVal val="#ppt_y"/>
                                          </p:val>
                                        </p:tav>
                                      </p:tavLst>
                                    </p:anim>
                                  </p:childTnLst>
                                </p:cTn>
                              </p:par>
                              <p:par>
                                <p:cTn id="37" presetID="42" presetClass="entr" presetSubtype="0" fill="hold" nodeType="withEffect">
                                  <p:stCondLst>
                                    <p:cond delay="99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650"/>
                                        <p:tgtEl>
                                          <p:spTgt spid="18"/>
                                        </p:tgtEl>
                                      </p:cBhvr>
                                    </p:animEffect>
                                    <p:anim calcmode="lin" valueType="num">
                                      <p:cBhvr additive="base">
                                        <p:cTn id="40" dur="650" fill="hold"/>
                                        <p:tgtEl>
                                          <p:spTgt spid="18"/>
                                        </p:tgtEl>
                                        <p:attrNameLst>
                                          <p:attrName>ppt_y</p:attrName>
                                        </p:attrNameLst>
                                      </p:cBhvr>
                                      <p:tavLst>
                                        <p:tav tm="0">
                                          <p:val>
                                            <p:strVal val="#ppt_y+.05"/>
                                          </p:val>
                                        </p:tav>
                                        <p:tav tm="100000">
                                          <p:val>
                                            <p:strVal val="#ppt_y"/>
                                          </p:val>
                                        </p:tav>
                                      </p:tavLst>
                                    </p:anim>
                                  </p:childTnLst>
                                </p:cTn>
                              </p:par>
                              <p:par>
                                <p:cTn id="41" presetID="10" presetClass="entr" presetSubtype="0" fill="hold" nodeType="withEffect">
                                  <p:stCondLst>
                                    <p:cond delay="11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650"/>
                                        <p:tgtEl>
                                          <p:spTgt spid="19"/>
                                        </p:tgtEl>
                                      </p:cBhvr>
                                    </p:animEffect>
                                  </p:childTnLst>
                                </p:cTn>
                              </p:par>
                              <p:par>
                                <p:cTn id="44" presetID="42" presetClass="entr" presetSubtype="0" fill="hold" nodeType="withEffect">
                                  <p:stCondLst>
                                    <p:cond delay="121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650"/>
                                        <p:tgtEl>
                                          <p:spTgt spid="20"/>
                                        </p:tgtEl>
                                      </p:cBhvr>
                                    </p:animEffect>
                                    <p:anim calcmode="lin" valueType="num">
                                      <p:cBhvr additive="base">
                                        <p:cTn id="47" dur="650" fill="hold"/>
                                        <p:tgtEl>
                                          <p:spTgt spid="20"/>
                                        </p:tgtEl>
                                        <p:attrNameLst>
                                          <p:attrName>ppt_y</p:attrName>
                                        </p:attrNameLst>
                                      </p:cBhvr>
                                      <p:tavLst>
                                        <p:tav tm="0">
                                          <p:val>
                                            <p:strVal val="#ppt_y+.05"/>
                                          </p:val>
                                        </p:tav>
                                        <p:tav tm="100000">
                                          <p:val>
                                            <p:strVal val="#ppt_y"/>
                                          </p:val>
                                        </p:tav>
                                      </p:tavLst>
                                    </p:anim>
                                  </p:childTnLst>
                                </p:cTn>
                              </p:par>
                              <p:par>
                                <p:cTn id="48" presetID="42" presetClass="entr" presetSubtype="0" fill="hold" nodeType="withEffect">
                                  <p:stCondLst>
                                    <p:cond delay="132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650"/>
                                        <p:tgtEl>
                                          <p:spTgt spid="28"/>
                                        </p:tgtEl>
                                      </p:cBhvr>
                                    </p:animEffect>
                                    <p:anim calcmode="lin" valueType="num">
                                      <p:cBhvr additive="base">
                                        <p:cTn id="51" dur="650" fill="hold"/>
                                        <p:tgtEl>
                                          <p:spTgt spid="28"/>
                                        </p:tgtEl>
                                        <p:attrNameLst>
                                          <p:attrName>ppt_y</p:attrName>
                                        </p:attrNameLst>
                                      </p:cBhvr>
                                      <p:tavLst>
                                        <p:tav tm="0">
                                          <p:val>
                                            <p:strVal val="#ppt_y+.05"/>
                                          </p:val>
                                        </p:tav>
                                        <p:tav tm="100000">
                                          <p:val>
                                            <p:strVal val="#ppt_y"/>
                                          </p:val>
                                        </p:tav>
                                      </p:tavLst>
                                    </p:anim>
                                  </p:childTnLst>
                                </p:cTn>
                              </p:par>
                              <p:par>
                                <p:cTn id="52" presetID="10" presetClass="entr" presetSubtype="0" fill="hold" nodeType="withEffect">
                                  <p:stCondLst>
                                    <p:cond delay="143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650"/>
                                        <p:tgtEl>
                                          <p:spTgt spid="29"/>
                                        </p:tgtEl>
                                      </p:cBhvr>
                                    </p:animEffect>
                                  </p:childTnLst>
                                </p:cTn>
                              </p:par>
                              <p:par>
                                <p:cTn id="55" presetID="42" presetClass="entr" presetSubtype="0" fill="hold" nodeType="withEffect">
                                  <p:stCondLst>
                                    <p:cond delay="154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650"/>
                                        <p:tgtEl>
                                          <p:spTgt spid="30"/>
                                        </p:tgtEl>
                                      </p:cBhvr>
                                    </p:animEffect>
                                    <p:anim calcmode="lin" valueType="num">
                                      <p:cBhvr additive="base">
                                        <p:cTn id="58" dur="650" fill="hold"/>
                                        <p:tgtEl>
                                          <p:spTgt spid="30"/>
                                        </p:tgtEl>
                                        <p:attrNameLst>
                                          <p:attrName>ppt_y</p:attrName>
                                        </p:attrNameLst>
                                      </p:cBhvr>
                                      <p:tavLst>
                                        <p:tav tm="0">
                                          <p:val>
                                            <p:strVal val="#ppt_y+.05"/>
                                          </p:val>
                                        </p:tav>
                                        <p:tav tm="100000">
                                          <p:val>
                                            <p:strVal val="#ppt_y"/>
                                          </p:val>
                                        </p:tav>
                                      </p:tavLst>
                                    </p:anim>
                                  </p:childTnLst>
                                </p:cTn>
                              </p:par>
                              <p:par>
                                <p:cTn id="59" presetID="10" presetClass="entr" presetSubtype="0" fill="hold" nodeType="withEffect">
                                  <p:stCondLst>
                                    <p:cond delay="1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650"/>
                                        <p:tgtEl>
                                          <p:spTgt spid="11"/>
                                        </p:tgtEl>
                                      </p:cBhvr>
                                    </p:animEffect>
                                  </p:childTnLst>
                                </p:cTn>
                              </p:par>
                              <p:par>
                                <p:cTn id="62" presetID="42" presetClass="entr" presetSubtype="0" fill="hold" nodeType="withEffect">
                                  <p:stCondLst>
                                    <p:cond delay="176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650"/>
                                        <p:tgtEl>
                                          <p:spTgt spid="12"/>
                                        </p:tgtEl>
                                      </p:cBhvr>
                                    </p:animEffect>
                                    <p:anim calcmode="lin" valueType="num">
                                      <p:cBhvr additive="base">
                                        <p:cTn id="65" dur="650" fill="hold"/>
                                        <p:tgtEl>
                                          <p:spTgt spid="12"/>
                                        </p:tgtEl>
                                        <p:attrNameLst>
                                          <p:attrName>ppt_y</p:attrName>
                                        </p:attrNameLst>
                                      </p:cBhvr>
                                      <p:tavLst>
                                        <p:tav tm="0">
                                          <p:val>
                                            <p:strVal val="#ppt_y+.05"/>
                                          </p:val>
                                        </p:tav>
                                        <p:tav tm="100000">
                                          <p:val>
                                            <p:strVal val="#ppt_y"/>
                                          </p:val>
                                        </p:tav>
                                      </p:tavLst>
                                    </p:anim>
                                  </p:childTnLst>
                                </p:cTn>
                              </p:par>
                              <p:par>
                                <p:cTn id="66" presetID="10" presetClass="entr" presetSubtype="0" fill="hold" nodeType="withEffect">
                                  <p:stCondLst>
                                    <p:cond delay="187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650"/>
                                        <p:tgtEl>
                                          <p:spTgt spid="21"/>
                                        </p:tgtEl>
                                      </p:cBhvr>
                                    </p:animEffect>
                                  </p:childTnLst>
                                </p:cTn>
                              </p:par>
                              <p:par>
                                <p:cTn id="69" presetID="42" presetClass="entr" presetSubtype="0" fill="hold" nodeType="withEffect">
                                  <p:stCondLst>
                                    <p:cond delay="198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650"/>
                                        <p:tgtEl>
                                          <p:spTgt spid="22"/>
                                        </p:tgtEl>
                                      </p:cBhvr>
                                    </p:animEffect>
                                    <p:anim calcmode="lin" valueType="num">
                                      <p:cBhvr additive="base">
                                        <p:cTn id="72" dur="650" fill="hold"/>
                                        <p:tgtEl>
                                          <p:spTgt spid="22"/>
                                        </p:tgtEl>
                                        <p:attrNameLst>
                                          <p:attrName>ppt_y</p:attrName>
                                        </p:attrNameLst>
                                      </p:cBhvr>
                                      <p:tavLst>
                                        <p:tav tm="0">
                                          <p:val>
                                            <p:strVal val="#ppt_y+.05"/>
                                          </p:val>
                                        </p:tav>
                                        <p:tav tm="100000">
                                          <p:val>
                                            <p:strVal val="#ppt_y"/>
                                          </p:val>
                                        </p:tav>
                                      </p:tavLst>
                                    </p:anim>
                                  </p:childTnLst>
                                </p:cTn>
                              </p:par>
                              <p:par>
                                <p:cTn id="73" presetID="10" presetClass="entr" presetSubtype="0" fill="hold" nodeType="withEffect">
                                  <p:stCondLst>
                                    <p:cond delay="209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650"/>
                                        <p:tgtEl>
                                          <p:spTgt spid="31"/>
                                        </p:tgtEl>
                                      </p:cBhvr>
                                    </p:animEffect>
                                  </p:childTnLst>
                                </p:cTn>
                              </p:par>
                              <p:par>
                                <p:cTn id="76" presetID="42" presetClass="entr" presetSubtype="0" fill="hold" nodeType="withEffect">
                                  <p:stCondLst>
                                    <p:cond delay="220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650"/>
                                        <p:tgtEl>
                                          <p:spTgt spid="32"/>
                                        </p:tgtEl>
                                      </p:cBhvr>
                                    </p:animEffect>
                                    <p:anim calcmode="lin" valueType="num">
                                      <p:cBhvr additive="base">
                                        <p:cTn id="79" dur="650" fill="hold"/>
                                        <p:tgtEl>
                                          <p:spTgt spid="32"/>
                                        </p:tgtEl>
                                        <p:attrNameLst>
                                          <p:attrName>ppt_y</p:attrName>
                                        </p:attrNameLst>
                                      </p:cBhvr>
                                      <p:tavLst>
                                        <p:tav tm="0">
                                          <p:val>
                                            <p:strVal val="#ppt_y+.05"/>
                                          </p:val>
                                        </p:tav>
                                        <p:tav tm="100000">
                                          <p:val>
                                            <p:strVal val="#ppt_y"/>
                                          </p:val>
                                        </p:tav>
                                      </p:tavLst>
                                    </p:anim>
                                  </p:childTnLst>
                                </p:cTn>
                              </p:par>
                              <p:par>
                                <p:cTn id="80" presetID="10" presetClass="entr" presetSubtype="0" fill="hold" nodeType="withEffect">
                                  <p:stCondLst>
                                    <p:cond delay="231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650"/>
                                        <p:tgtEl>
                                          <p:spTgt spid="13"/>
                                        </p:tgtEl>
                                      </p:cBhvr>
                                    </p:animEffect>
                                  </p:childTnLst>
                                </p:cTn>
                              </p:par>
                              <p:par>
                                <p:cTn id="83" presetID="42" presetClass="entr" presetSubtype="0" fill="hold" nodeType="withEffect">
                                  <p:stCondLst>
                                    <p:cond delay="2420"/>
                                  </p:stCondLst>
                                  <p:childTnLst>
                                    <p:set>
                                      <p:cBhvr>
                                        <p:cTn id="84" dur="1" fill="hold">
                                          <p:stCondLst>
                                            <p:cond delay="0"/>
                                          </p:stCondLst>
                                        </p:cTn>
                                        <p:tgtEl>
                                          <p:spTgt spid="14"/>
                                        </p:tgtEl>
                                        <p:attrNameLst>
                                          <p:attrName>style.visibility</p:attrName>
                                        </p:attrNameLst>
                                      </p:cBhvr>
                                      <p:to>
                                        <p:strVal val="visible"/>
                                      </p:to>
                                    </p:set>
                                    <p:animEffect transition="in" filter="fade">
                                      <p:cBhvr>
                                        <p:cTn id="85" dur="650"/>
                                        <p:tgtEl>
                                          <p:spTgt spid="14"/>
                                        </p:tgtEl>
                                      </p:cBhvr>
                                    </p:animEffect>
                                    <p:anim calcmode="lin" valueType="num">
                                      <p:cBhvr additive="base">
                                        <p:cTn id="86" dur="650" fill="hold"/>
                                        <p:tgtEl>
                                          <p:spTgt spid="14"/>
                                        </p:tgtEl>
                                        <p:attrNameLst>
                                          <p:attrName>ppt_y</p:attrName>
                                        </p:attrNameLst>
                                      </p:cBhvr>
                                      <p:tavLst>
                                        <p:tav tm="0">
                                          <p:val>
                                            <p:strVal val="#ppt_y+.05"/>
                                          </p:val>
                                        </p:tav>
                                        <p:tav tm="100000">
                                          <p:val>
                                            <p:strVal val="#ppt_y"/>
                                          </p:val>
                                        </p:tav>
                                      </p:tavLst>
                                    </p:anim>
                                  </p:childTnLst>
                                </p:cTn>
                              </p:par>
                              <p:par>
                                <p:cTn id="87" presetID="10" presetClass="entr" presetSubtype="0" fill="hold" nodeType="withEffect">
                                  <p:stCondLst>
                                    <p:cond delay="253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650"/>
                                        <p:tgtEl>
                                          <p:spTgt spid="23"/>
                                        </p:tgtEl>
                                      </p:cBhvr>
                                    </p:animEffect>
                                  </p:childTnLst>
                                </p:cTn>
                              </p:par>
                              <p:par>
                                <p:cTn id="90" presetID="42" presetClass="entr" presetSubtype="0" fill="hold" nodeType="withEffect">
                                  <p:stCondLst>
                                    <p:cond delay="264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650"/>
                                        <p:tgtEl>
                                          <p:spTgt spid="24"/>
                                        </p:tgtEl>
                                      </p:cBhvr>
                                    </p:animEffect>
                                    <p:anim calcmode="lin" valueType="num">
                                      <p:cBhvr additive="base">
                                        <p:cTn id="93" dur="650" fill="hold"/>
                                        <p:tgtEl>
                                          <p:spTgt spid="24"/>
                                        </p:tgtEl>
                                        <p:attrNameLst>
                                          <p:attrName>ppt_y</p:attrName>
                                        </p:attrNameLst>
                                      </p:cBhvr>
                                      <p:tavLst>
                                        <p:tav tm="0">
                                          <p:val>
                                            <p:strVal val="#ppt_y+.05"/>
                                          </p:val>
                                        </p:tav>
                                        <p:tav tm="100000">
                                          <p:val>
                                            <p:strVal val="#ppt_y"/>
                                          </p:val>
                                        </p:tav>
                                      </p:tavLst>
                                    </p:anim>
                                  </p:childTnLst>
                                </p:cTn>
                              </p:par>
                              <p:par>
                                <p:cTn id="94" presetID="10" presetClass="entr" presetSubtype="0" fill="hold" nodeType="withEffect">
                                  <p:stCondLst>
                                    <p:cond delay="275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650"/>
                                        <p:tgtEl>
                                          <p:spTgt spid="33"/>
                                        </p:tgtEl>
                                      </p:cBhvr>
                                    </p:animEffect>
                                  </p:childTnLst>
                                </p:cTn>
                              </p:par>
                              <p:par>
                                <p:cTn id="97" presetID="42" presetClass="entr" presetSubtype="0" fill="hold" nodeType="withEffect">
                                  <p:stCondLst>
                                    <p:cond delay="286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650"/>
                                        <p:tgtEl>
                                          <p:spTgt spid="34"/>
                                        </p:tgtEl>
                                      </p:cBhvr>
                                    </p:animEffect>
                                    <p:anim calcmode="lin" valueType="num">
                                      <p:cBhvr additive="base">
                                        <p:cTn id="100" dur="650" fill="hold"/>
                                        <p:tgtEl>
                                          <p:spTgt spid="34"/>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Vidéo de démonstration" descr="Démonstration animée de l’application YaGaz">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68680" y="548640"/>
            <a:ext cx="3124200" cy="5623560"/>
          </a:xfrm>
          <a:prstGeom prst="roundRect">
            <a:avLst>
              <a:gd name="adj" fmla="val 5500"/>
            </a:avLst>
          </a:prstGeom>
        </p:spPr>
      </p:pic>
      <p:sp>
        <p:nvSpPr>
          <p:cNvPr id="38" name="Surtitre"/>
          <p:cNvSpPr txBox="1"/>
          <p:nvPr/>
        </p:nvSpPr>
        <p:spPr>
          <a:xfrm>
            <a:off x="4480560" y="566928"/>
            <a:ext cx="7315200" cy="274320"/>
          </a:xfrm>
          <a:prstGeom prst="rect">
            <a:avLst/>
          </a:prstGeom>
          <a:noFill/>
          <a:ln/>
        </p:spPr>
        <p:txBody>
          <a:bodyPr wrap="square" lIns="0" tIns="0" rIns="0" bIns="0" rtlCol="0" anchor="ctr"/>
          <a:lstStyle/>
          <a:p>
            <a:pPr marL="0" indent="0">
              <a:buNone/>
            </a:pPr>
            <a:r>
              <a:rPr lang="en-US" sz="1200" b="1" kern="0" spc="300" dirty="0">
                <a:solidFill>
                  <a:srgbClr val="D4540F"/>
                </a:solidFill>
              </a:rPr>
              <a:t> DÉMONSTRATION DE L’APPLICATION</a:t>
            </a:r>
            <a:endParaRPr lang="en-US" sz="1200" dirty="0"/>
          </a:p>
        </p:txBody>
      </p:sp>
      <p:sp>
        <p:nvSpPr>
          <p:cNvPr id="4" name="Text 1"/>
          <p:cNvSpPr>
            <a:spLocks noGrp="1"/>
          </p:cNvSpPr>
          <p:nvPr>
            <p:ph type="title" idx="101" hasCustomPrompt="1"/>
          </p:nvPr>
        </p:nvSpPr>
        <p:spPr>
          <a:xfrm>
            <a:off x="4480560" y="960120"/>
            <a:ext cx="7040880" cy="777240"/>
          </a:xfrm>
          <a:prstGeom prst="rect">
            <a:avLst/>
          </a:prstGeom>
          <a:noFill/>
          <a:ln/>
        </p:spPr>
        <p:txBody>
          <a:bodyPr wrap="square" lIns="0" tIns="0" rIns="0" bIns="0" rtlCol="0" anchor="t"/>
          <a:lstStyle/>
          <a:p>
            <a:pPr marL="0" indent="0" algn="l">
              <a:buNone/>
            </a:pPr>
            <a:r>
              <a:rPr lang="en-US" sz="3400" b="1" dirty="0">
                <a:solidFill>
                  <a:schemeClr val="tx2"/>
                </a:solidFill>
              </a:rPr>
              <a:t>L’application en action</a:t>
            </a:r>
            <a:endParaRPr lang="en-US" sz="3400" dirty="0"/>
          </a:p>
        </p:txBody>
      </p:sp>
      <p:sp>
        <p:nvSpPr>
          <p:cNvPr id="5" name="Sous-titre"/>
          <p:cNvSpPr txBox="1"/>
          <p:nvPr/>
        </p:nvSpPr>
        <p:spPr>
          <a:xfrm>
            <a:off x="4480560" y="1783080"/>
            <a:ext cx="7040880" cy="365760"/>
          </a:xfrm>
          <a:prstGeom prst="rect">
            <a:avLst/>
          </a:prstGeom>
          <a:noFill/>
          <a:ln/>
        </p:spPr>
        <p:txBody>
          <a:bodyPr wrap="square" lIns="0" tIns="0" rIns="0" bIns="0" rtlCol="0" anchor="ctr"/>
          <a:lstStyle/>
          <a:p>
            <a:pPr marL="0" indent="0">
              <a:buNone/>
            </a:pPr>
            <a:r>
              <a:rPr lang="en-US" sz="1600" dirty="0">
                <a:solidFill>
                  <a:schemeClr val="accent5"/>
                </a:solidFill>
              </a:rPr>
              <a:t>Parcours animé de la maquette : de l’ouverture au contact avec le dépôt.</a:t>
            </a:r>
            <a:endParaRPr lang="en-US" sz="1600" dirty="0"/>
          </a:p>
        </p:txBody>
      </p:sp>
      <p:sp>
        <p:nvSpPr>
          <p:cNvPr id="6" name="F1 pastille"/>
          <p:cNvSpPr/>
          <p:nvPr/>
        </p:nvSpPr>
        <p:spPr>
          <a:xfrm>
            <a:off x="4480560" y="2551176"/>
            <a:ext cx="457200" cy="457200"/>
          </a:xfrm>
          <a:prstGeom prst="ellipse">
            <a:avLst/>
          </a:prstGeom>
          <a:solidFill>
            <a:schemeClr val="accent1"/>
          </a:solidFill>
          <a:ln w="12700">
            <a:solidFill>
              <a:schemeClr val="accent1"/>
            </a:solidFill>
            <a:prstDash val="solid"/>
          </a:ln>
        </p:spPr>
        <p:txBody>
          <a:bodyPr/>
          <a:lstStyle/>
          <a:p>
            <a:endParaRPr/>
          </a:p>
        </p:txBody>
      </p:sp>
      <p:sp>
        <p:nvSpPr>
          <p:cNvPr id="7" name="F1 numéro"/>
          <p:cNvSpPr txBox="1"/>
          <p:nvPr/>
        </p:nvSpPr>
        <p:spPr>
          <a:xfrm>
            <a:off x="4480560" y="255117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F1 titre"/>
          <p:cNvSpPr txBox="1"/>
          <p:nvPr/>
        </p:nvSpPr>
        <p:spPr>
          <a:xfrm>
            <a:off x="5074920" y="2514600"/>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Lancement et prise en main</a:t>
            </a:r>
            <a:endParaRPr lang="en-US" sz="1600" dirty="0"/>
          </a:p>
        </p:txBody>
      </p:sp>
      <p:sp>
        <p:nvSpPr>
          <p:cNvPr id="9" name="F1 texte"/>
          <p:cNvSpPr txBox="1"/>
          <p:nvPr/>
        </p:nvSpPr>
        <p:spPr>
          <a:xfrm>
            <a:off x="5074920" y="2862072"/>
            <a:ext cx="2834640" cy="502920"/>
          </a:xfrm>
          <a:prstGeom prst="rect">
            <a:avLst/>
          </a:prstGeom>
          <a:noFill/>
          <a:ln/>
        </p:spPr>
        <p:txBody>
          <a:bodyPr wrap="square" lIns="0" tIns="0" rIns="0" bIns="0" rtlCol="0" anchor="t"/>
          <a:lstStyle/>
          <a:p>
            <a:pPr marL="0" indent="0">
              <a:buNone/>
            </a:pPr>
            <a:r>
              <a:rPr lang="en-US" sz="1300" dirty="0">
                <a:solidFill>
                  <a:schemeClr val="accent5"/>
                </a:solidFill>
              </a:rPr>
              <a:t>Écran de démarrage et trois pages de présentation.</a:t>
            </a:r>
            <a:endParaRPr lang="en-US" sz="1300" dirty="0"/>
          </a:p>
        </p:txBody>
      </p:sp>
      <p:sp>
        <p:nvSpPr>
          <p:cNvPr id="10" name="F2 pastille"/>
          <p:cNvSpPr/>
          <p:nvPr/>
        </p:nvSpPr>
        <p:spPr>
          <a:xfrm>
            <a:off x="8092440" y="2551176"/>
            <a:ext cx="457200" cy="457200"/>
          </a:xfrm>
          <a:prstGeom prst="ellipse">
            <a:avLst/>
          </a:prstGeom>
          <a:solidFill>
            <a:schemeClr val="accent2"/>
          </a:solidFill>
          <a:ln w="12700">
            <a:solidFill>
              <a:schemeClr val="accent2"/>
            </a:solidFill>
            <a:prstDash val="solid"/>
          </a:ln>
        </p:spPr>
        <p:txBody>
          <a:bodyPr/>
          <a:lstStyle/>
          <a:p>
            <a:endParaRPr/>
          </a:p>
        </p:txBody>
      </p:sp>
      <p:sp>
        <p:nvSpPr>
          <p:cNvPr id="11" name="F2 numéro"/>
          <p:cNvSpPr txBox="1"/>
          <p:nvPr/>
        </p:nvSpPr>
        <p:spPr>
          <a:xfrm>
            <a:off x="8092440" y="255117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2" name="F2 titre"/>
          <p:cNvSpPr txBox="1"/>
          <p:nvPr/>
        </p:nvSpPr>
        <p:spPr>
          <a:xfrm>
            <a:off x="8686800" y="2514600"/>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Recherche et filtres</a:t>
            </a:r>
            <a:endParaRPr lang="en-US" sz="1600" dirty="0"/>
          </a:p>
        </p:txBody>
      </p:sp>
      <p:sp>
        <p:nvSpPr>
          <p:cNvPr id="13" name="F2 texte"/>
          <p:cNvSpPr txBox="1"/>
          <p:nvPr/>
        </p:nvSpPr>
        <p:spPr>
          <a:xfrm>
            <a:off x="8686800" y="2862072"/>
            <a:ext cx="2834640" cy="502920"/>
          </a:xfrm>
          <a:prstGeom prst="rect">
            <a:avLst/>
          </a:prstGeom>
          <a:noFill/>
          <a:ln/>
        </p:spPr>
        <p:txBody>
          <a:bodyPr wrap="square" lIns="0" tIns="0" rIns="0" bIns="0" rtlCol="0" anchor="t"/>
          <a:lstStyle/>
          <a:p>
            <a:pPr marL="0" indent="0">
              <a:buNone/>
            </a:pPr>
            <a:r>
              <a:rPr lang="en-US" sz="1300" dirty="0">
                <a:solidFill>
                  <a:schemeClr val="accent5"/>
                </a:solidFill>
              </a:rPr>
              <a:t>Bouteille ou vendeur, filtres B6, B12, B28, Ouvert et Trier.</a:t>
            </a:r>
            <a:endParaRPr lang="en-US" sz="1300" dirty="0"/>
          </a:p>
        </p:txBody>
      </p:sp>
      <p:sp>
        <p:nvSpPr>
          <p:cNvPr id="14" name="F3 pastille"/>
          <p:cNvSpPr/>
          <p:nvPr/>
        </p:nvSpPr>
        <p:spPr>
          <a:xfrm>
            <a:off x="4480560" y="3483864"/>
            <a:ext cx="457200" cy="457200"/>
          </a:xfrm>
          <a:prstGeom prst="ellipse">
            <a:avLst/>
          </a:prstGeom>
          <a:solidFill>
            <a:schemeClr val="accent3"/>
          </a:solidFill>
          <a:ln w="12700">
            <a:solidFill>
              <a:schemeClr val="accent3"/>
            </a:solidFill>
            <a:prstDash val="solid"/>
          </a:ln>
        </p:spPr>
        <p:txBody>
          <a:bodyPr/>
          <a:lstStyle/>
          <a:p>
            <a:endParaRPr/>
          </a:p>
        </p:txBody>
      </p:sp>
      <p:sp>
        <p:nvSpPr>
          <p:cNvPr id="15" name="F3 numéro"/>
          <p:cNvSpPr txBox="1"/>
          <p:nvPr/>
        </p:nvSpPr>
        <p:spPr>
          <a:xfrm>
            <a:off x="4480560" y="3483864"/>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6" name="F3 titre"/>
          <p:cNvSpPr txBox="1"/>
          <p:nvPr/>
        </p:nvSpPr>
        <p:spPr>
          <a:xfrm>
            <a:off x="5074920" y="3447288"/>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Carte et dépôts proches</a:t>
            </a:r>
            <a:endParaRPr lang="en-US" sz="1600" dirty="0"/>
          </a:p>
        </p:txBody>
      </p:sp>
      <p:sp>
        <p:nvSpPr>
          <p:cNvPr id="17" name="F3 texte"/>
          <p:cNvSpPr txBox="1"/>
          <p:nvPr/>
        </p:nvSpPr>
        <p:spPr>
          <a:xfrm>
            <a:off x="5074920" y="3794760"/>
            <a:ext cx="2834640" cy="502920"/>
          </a:xfrm>
          <a:prstGeom prst="rect">
            <a:avLst/>
          </a:prstGeom>
          <a:noFill/>
          <a:ln/>
        </p:spPr>
        <p:txBody>
          <a:bodyPr wrap="square" lIns="0" tIns="0" rIns="0" bIns="0" rtlCol="0" anchor="t"/>
          <a:lstStyle/>
          <a:p>
            <a:pPr marL="0" indent="0">
              <a:buNone/>
            </a:pPr>
            <a:r>
              <a:rPr lang="en-US" sz="1300" dirty="0">
                <a:solidFill>
                  <a:schemeClr val="accent5"/>
                </a:solidFill>
              </a:rPr>
              <a:t>Dépôts classés du plus proche au plus loin.</a:t>
            </a:r>
            <a:endParaRPr lang="en-US" sz="1300" dirty="0"/>
          </a:p>
        </p:txBody>
      </p:sp>
      <p:sp>
        <p:nvSpPr>
          <p:cNvPr id="18" name="F4 pastille"/>
          <p:cNvSpPr/>
          <p:nvPr/>
        </p:nvSpPr>
        <p:spPr>
          <a:xfrm>
            <a:off x="8092440" y="3483864"/>
            <a:ext cx="457200" cy="457200"/>
          </a:xfrm>
          <a:prstGeom prst="ellipse">
            <a:avLst/>
          </a:prstGeom>
          <a:solidFill>
            <a:schemeClr val="accent5"/>
          </a:solidFill>
          <a:ln w="12700">
            <a:solidFill>
              <a:schemeClr val="accent5"/>
            </a:solidFill>
            <a:prstDash val="solid"/>
          </a:ln>
        </p:spPr>
        <p:txBody>
          <a:bodyPr/>
          <a:lstStyle/>
          <a:p>
            <a:endParaRPr/>
          </a:p>
        </p:txBody>
      </p:sp>
      <p:sp>
        <p:nvSpPr>
          <p:cNvPr id="19" name="F4 numéro"/>
          <p:cNvSpPr txBox="1"/>
          <p:nvPr/>
        </p:nvSpPr>
        <p:spPr>
          <a:xfrm>
            <a:off x="8092440" y="3483864"/>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0" name="F4 titre"/>
          <p:cNvSpPr txBox="1"/>
          <p:nvPr/>
        </p:nvSpPr>
        <p:spPr>
          <a:xfrm>
            <a:off x="8686800" y="3447288"/>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Liste des dépôts</a:t>
            </a:r>
            <a:endParaRPr lang="en-US" sz="1600" dirty="0"/>
          </a:p>
        </p:txBody>
      </p:sp>
      <p:sp>
        <p:nvSpPr>
          <p:cNvPr id="21" name="F4 texte"/>
          <p:cNvSpPr txBox="1"/>
          <p:nvPr/>
        </p:nvSpPr>
        <p:spPr>
          <a:xfrm>
            <a:off x="8686800" y="3794760"/>
            <a:ext cx="2834640" cy="502920"/>
          </a:xfrm>
          <a:prstGeom prst="rect">
            <a:avLst/>
          </a:prstGeom>
          <a:noFill/>
          <a:ln/>
        </p:spPr>
        <p:txBody>
          <a:bodyPr wrap="square" lIns="0" tIns="0" rIns="0" bIns="0" rtlCol="0" anchor="t"/>
          <a:lstStyle/>
          <a:p>
            <a:pPr marL="0" indent="0">
              <a:buNone/>
            </a:pPr>
            <a:r>
              <a:rPr lang="en-US" sz="1300" dirty="0">
                <a:solidFill>
                  <a:schemeClr val="accent5"/>
                </a:solidFill>
              </a:rPr>
              <a:t>Types, ville, quartier, marques et tri.</a:t>
            </a:r>
            <a:endParaRPr lang="en-US" sz="1300" dirty="0"/>
          </a:p>
        </p:txBody>
      </p:sp>
      <p:sp>
        <p:nvSpPr>
          <p:cNvPr id="22" name="F5 pastille"/>
          <p:cNvSpPr/>
          <p:nvPr/>
        </p:nvSpPr>
        <p:spPr>
          <a:xfrm>
            <a:off x="4480560" y="4416552"/>
            <a:ext cx="457200" cy="457200"/>
          </a:xfrm>
          <a:prstGeom prst="ellipse">
            <a:avLst/>
          </a:prstGeom>
          <a:solidFill>
            <a:schemeClr val="accent1"/>
          </a:solidFill>
          <a:ln w="12700">
            <a:solidFill>
              <a:schemeClr val="accent1"/>
            </a:solidFill>
            <a:prstDash val="solid"/>
          </a:ln>
        </p:spPr>
        <p:txBody>
          <a:bodyPr/>
          <a:lstStyle/>
          <a:p>
            <a:endParaRPr/>
          </a:p>
        </p:txBody>
      </p:sp>
      <p:sp>
        <p:nvSpPr>
          <p:cNvPr id="23" name="F5 numéro"/>
          <p:cNvSpPr txBox="1"/>
          <p:nvPr/>
        </p:nvSpPr>
        <p:spPr>
          <a:xfrm>
            <a:off x="4480560" y="441655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4" name="F5 titre"/>
          <p:cNvSpPr txBox="1"/>
          <p:nvPr/>
        </p:nvSpPr>
        <p:spPr>
          <a:xfrm>
            <a:off x="5074920" y="4379976"/>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Fiche du dépôt</a:t>
            </a:r>
            <a:endParaRPr lang="en-US" sz="1600" dirty="0"/>
          </a:p>
        </p:txBody>
      </p:sp>
      <p:sp>
        <p:nvSpPr>
          <p:cNvPr id="25" name="F5 texte"/>
          <p:cNvSpPr txBox="1"/>
          <p:nvPr/>
        </p:nvSpPr>
        <p:spPr>
          <a:xfrm>
            <a:off x="5074920" y="4727448"/>
            <a:ext cx="2834640" cy="502920"/>
          </a:xfrm>
          <a:prstGeom prst="rect">
            <a:avLst/>
          </a:prstGeom>
          <a:noFill/>
          <a:ln/>
        </p:spPr>
        <p:txBody>
          <a:bodyPr wrap="square" lIns="0" tIns="0" rIns="0" bIns="0" rtlCol="0" anchor="t"/>
          <a:lstStyle/>
          <a:p>
            <a:pPr marL="0" indent="0">
              <a:buNone/>
            </a:pPr>
            <a:r>
              <a:rPr lang="en-US" sz="1300" dirty="0">
                <a:solidFill>
                  <a:schemeClr val="accent5"/>
                </a:solidFill>
              </a:rPr>
              <a:t>Photo, note 4,8, adresse, statut et échange de bouteilles.</a:t>
            </a:r>
            <a:endParaRPr lang="en-US" sz="1300" dirty="0"/>
          </a:p>
        </p:txBody>
      </p:sp>
      <p:sp>
        <p:nvSpPr>
          <p:cNvPr id="26" name="F6 pastille"/>
          <p:cNvSpPr/>
          <p:nvPr/>
        </p:nvSpPr>
        <p:spPr>
          <a:xfrm>
            <a:off x="8092440" y="4416552"/>
            <a:ext cx="457200" cy="457200"/>
          </a:xfrm>
          <a:prstGeom prst="ellipse">
            <a:avLst/>
          </a:prstGeom>
          <a:solidFill>
            <a:schemeClr val="accent2"/>
          </a:solidFill>
          <a:ln w="12700">
            <a:solidFill>
              <a:schemeClr val="accent2"/>
            </a:solidFill>
            <a:prstDash val="solid"/>
          </a:ln>
        </p:spPr>
        <p:txBody>
          <a:bodyPr/>
          <a:lstStyle/>
          <a:p>
            <a:endParaRPr/>
          </a:p>
        </p:txBody>
      </p:sp>
      <p:sp>
        <p:nvSpPr>
          <p:cNvPr id="27" name="F6 numéro"/>
          <p:cNvSpPr txBox="1"/>
          <p:nvPr/>
        </p:nvSpPr>
        <p:spPr>
          <a:xfrm>
            <a:off x="8092440" y="441655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28" name="F6 titre"/>
          <p:cNvSpPr txBox="1"/>
          <p:nvPr/>
        </p:nvSpPr>
        <p:spPr>
          <a:xfrm>
            <a:off x="8686800" y="4379976"/>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Bouteilles, prix et stock</a:t>
            </a:r>
            <a:endParaRPr lang="en-US" sz="1600" dirty="0"/>
          </a:p>
        </p:txBody>
      </p:sp>
      <p:sp>
        <p:nvSpPr>
          <p:cNvPr id="29" name="F6 texte"/>
          <p:cNvSpPr txBox="1"/>
          <p:nvPr/>
        </p:nvSpPr>
        <p:spPr>
          <a:xfrm>
            <a:off x="8686800" y="4727448"/>
            <a:ext cx="2834640" cy="502920"/>
          </a:xfrm>
          <a:prstGeom prst="rect">
            <a:avLst/>
          </a:prstGeom>
          <a:noFill/>
          <a:ln/>
        </p:spPr>
        <p:txBody>
          <a:bodyPr wrap="square" lIns="0" tIns="0" rIns="0" bIns="0" rtlCol="0" anchor="t"/>
          <a:lstStyle/>
          <a:p>
            <a:pPr marL="0" indent="0">
              <a:buNone/>
            </a:pPr>
            <a:r>
              <a:rPr lang="en-US" sz="1300" dirty="0">
                <a:solidFill>
                  <a:schemeClr val="accent5"/>
                </a:solidFill>
              </a:rPr>
              <a:t>Marque, format, prix, Disponible ou Rupture.</a:t>
            </a:r>
            <a:endParaRPr lang="en-US" sz="1300" dirty="0"/>
          </a:p>
        </p:txBody>
      </p:sp>
      <p:sp>
        <p:nvSpPr>
          <p:cNvPr id="30" name="F7 pastille"/>
          <p:cNvSpPr/>
          <p:nvPr/>
        </p:nvSpPr>
        <p:spPr>
          <a:xfrm>
            <a:off x="4480560" y="5349240"/>
            <a:ext cx="457200" cy="457200"/>
          </a:xfrm>
          <a:prstGeom prst="ellipse">
            <a:avLst/>
          </a:prstGeom>
          <a:solidFill>
            <a:schemeClr val="accent3"/>
          </a:solidFill>
          <a:ln w="12700">
            <a:solidFill>
              <a:schemeClr val="accent3"/>
            </a:solidFill>
            <a:prstDash val="solid"/>
          </a:ln>
        </p:spPr>
        <p:txBody>
          <a:bodyPr/>
          <a:lstStyle/>
          <a:p>
            <a:endParaRPr/>
          </a:p>
        </p:txBody>
      </p:sp>
      <p:sp>
        <p:nvSpPr>
          <p:cNvPr id="31" name="F7 numéro"/>
          <p:cNvSpPr txBox="1"/>
          <p:nvPr/>
        </p:nvSpPr>
        <p:spPr>
          <a:xfrm>
            <a:off x="4480560" y="53492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7</a:t>
            </a:r>
            <a:endParaRPr lang="en-US" sz="1500" dirty="0"/>
          </a:p>
        </p:txBody>
      </p:sp>
      <p:sp>
        <p:nvSpPr>
          <p:cNvPr id="32" name="F7 titre"/>
          <p:cNvSpPr txBox="1"/>
          <p:nvPr/>
        </p:nvSpPr>
        <p:spPr>
          <a:xfrm>
            <a:off x="5074920" y="5312664"/>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Contact direct</a:t>
            </a:r>
            <a:endParaRPr lang="en-US" sz="1600" dirty="0"/>
          </a:p>
        </p:txBody>
      </p:sp>
      <p:sp>
        <p:nvSpPr>
          <p:cNvPr id="33" name="F7 texte"/>
          <p:cNvSpPr txBox="1"/>
          <p:nvPr/>
        </p:nvSpPr>
        <p:spPr>
          <a:xfrm>
            <a:off x="5074920" y="5660136"/>
            <a:ext cx="2834640" cy="502920"/>
          </a:xfrm>
          <a:prstGeom prst="rect">
            <a:avLst/>
          </a:prstGeom>
          <a:noFill/>
          <a:ln/>
        </p:spPr>
        <p:txBody>
          <a:bodyPr wrap="square" lIns="0" tIns="0" rIns="0" bIns="0" rtlCol="0" anchor="t"/>
          <a:lstStyle/>
          <a:p>
            <a:pPr marL="0" indent="0">
              <a:buNone/>
            </a:pPr>
            <a:r>
              <a:rPr lang="en-US" sz="1300" dirty="0">
                <a:solidFill>
                  <a:schemeClr val="accent5"/>
                </a:solidFill>
              </a:rPr>
              <a:t>Appel ou conversation WhatsApp.</a:t>
            </a:r>
            <a:endParaRPr lang="en-US" sz="1300" dirty="0"/>
          </a:p>
        </p:txBody>
      </p:sp>
      <p:sp>
        <p:nvSpPr>
          <p:cNvPr id="34" name="F8 pastille"/>
          <p:cNvSpPr/>
          <p:nvPr/>
        </p:nvSpPr>
        <p:spPr>
          <a:xfrm>
            <a:off x="8092440" y="5349240"/>
            <a:ext cx="457200" cy="457200"/>
          </a:xfrm>
          <a:prstGeom prst="ellipse">
            <a:avLst/>
          </a:prstGeom>
          <a:solidFill>
            <a:schemeClr val="accent5"/>
          </a:solidFill>
          <a:ln w="12700">
            <a:solidFill>
              <a:schemeClr val="accent5"/>
            </a:solidFill>
            <a:prstDash val="solid"/>
          </a:ln>
        </p:spPr>
        <p:txBody>
          <a:bodyPr/>
          <a:lstStyle/>
          <a:p>
            <a:endParaRPr/>
          </a:p>
        </p:txBody>
      </p:sp>
      <p:sp>
        <p:nvSpPr>
          <p:cNvPr id="35" name="F8 numéro"/>
          <p:cNvSpPr txBox="1"/>
          <p:nvPr/>
        </p:nvSpPr>
        <p:spPr>
          <a:xfrm>
            <a:off x="8092440" y="53492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8</a:t>
            </a:r>
            <a:endParaRPr lang="en-US" sz="1500" dirty="0"/>
          </a:p>
        </p:txBody>
      </p:sp>
      <p:sp>
        <p:nvSpPr>
          <p:cNvPr id="36" name="F8 titre"/>
          <p:cNvSpPr txBox="1"/>
          <p:nvPr/>
        </p:nvSpPr>
        <p:spPr>
          <a:xfrm>
            <a:off x="8686800" y="5312664"/>
            <a:ext cx="2834640" cy="329184"/>
          </a:xfrm>
          <a:prstGeom prst="rect">
            <a:avLst/>
          </a:prstGeom>
          <a:noFill/>
          <a:ln/>
        </p:spPr>
        <p:txBody>
          <a:bodyPr wrap="square" lIns="0" tIns="0" rIns="0" bIns="0" rtlCol="0" anchor="ctr"/>
          <a:lstStyle/>
          <a:p>
            <a:pPr marL="0" indent="0">
              <a:buNone/>
            </a:pPr>
            <a:r>
              <a:rPr lang="en-US" sz="1400" b="1" dirty="0">
                <a:solidFill>
                  <a:schemeClr val="tx2"/>
                </a:solidFill>
              </a:rPr>
              <a:t>Favoris et profil</a:t>
            </a:r>
            <a:endParaRPr lang="en-US" sz="1600" dirty="0"/>
          </a:p>
        </p:txBody>
      </p:sp>
      <p:sp>
        <p:nvSpPr>
          <p:cNvPr id="37" name="F8 texte"/>
          <p:cNvSpPr txBox="1"/>
          <p:nvPr/>
        </p:nvSpPr>
        <p:spPr>
          <a:xfrm>
            <a:off x="8686800" y="5660136"/>
            <a:ext cx="2834640" cy="502920"/>
          </a:xfrm>
          <a:prstGeom prst="rect">
            <a:avLst/>
          </a:prstGeom>
          <a:noFill/>
          <a:ln/>
        </p:spPr>
        <p:txBody>
          <a:bodyPr wrap="square" lIns="0" tIns="0" rIns="0" bIns="0" rtlCol="0" anchor="t"/>
          <a:lstStyle/>
          <a:p>
            <a:pPr marL="0" indent="0">
              <a:buNone/>
            </a:pPr>
            <a:r>
              <a:rPr lang="en-US" sz="1300" dirty="0">
                <a:solidFill>
                  <a:schemeClr val="accent5"/>
                </a:solidFill>
              </a:rPr>
              <a:t>Mes dépôts favoris, compte et paramètres.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600"/>
                                  </p:stCondLst>
                                  <p:childTnLst>
                                    <p:cmd type="call" cmd="playFrom(0.0)">
                                      <p:cBhvr>
                                        <p:cTn id="6" dur="52900" fill="hold"/>
                                        <p:tgtEl>
                                          <p:spTgt spid="3"/>
                                        </p:tgtEl>
                                      </p:cBhvr>
                                    </p:cmd>
                                  </p:childTnLst>
                                </p:cTn>
                              </p:par>
                              <p:par>
                                <p:cTn id="7" presetID="10" presetClass="entr" presetSubtype="0" fill="hold" nodeType="withEffect">
                                  <p:stCondLst>
                                    <p:cond delay="60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650"/>
                                        <p:tgtEl>
                                          <p:spTgt spid="6"/>
                                        </p:tgtEl>
                                      </p:cBhvr>
                                    </p:animEffect>
                                  </p:childTnLst>
                                </p:cTn>
                              </p:par>
                              <p:par>
                                <p:cTn id="10" presetID="10" presetClass="entr" presetSubtype="0" fill="hold" nodeType="withEffect">
                                  <p:stCondLst>
                                    <p:cond delay="6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50"/>
                                        <p:tgtEl>
                                          <p:spTgt spid="7"/>
                                        </p:tgtEl>
                                      </p:cBhvr>
                                    </p:animEffect>
                                  </p:childTnLst>
                                </p:cTn>
                              </p:par>
                              <p:par>
                                <p:cTn id="13" presetID="10" presetClass="entr" presetSubtype="0" fill="hold" nodeType="withEffect">
                                  <p:stCondLst>
                                    <p:cond delay="6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50"/>
                                        <p:tgtEl>
                                          <p:spTgt spid="8"/>
                                        </p:tgtEl>
                                      </p:cBhvr>
                                    </p:animEffect>
                                  </p:childTnLst>
                                </p:cTn>
                              </p:par>
                              <p:par>
                                <p:cTn id="16" presetID="10" presetClass="entr" presetSubtype="0" fill="hold" nodeType="withEffect">
                                  <p:stCondLst>
                                    <p:cond delay="60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50"/>
                                        <p:tgtEl>
                                          <p:spTgt spid="9"/>
                                        </p:tgtEl>
                                      </p:cBhvr>
                                    </p:animEffect>
                                  </p:childTnLst>
                                </p:cTn>
                              </p:par>
                              <p:par>
                                <p:cTn id="19" presetID="10" presetClass="entr" presetSubtype="0" fill="hold" nodeType="withEffect">
                                  <p:stCondLst>
                                    <p:cond delay="146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childTnLst>
                                </p:cTn>
                              </p:par>
                              <p:par>
                                <p:cTn id="22" presetID="10" presetClass="entr" presetSubtype="0" fill="hold" nodeType="withEffect">
                                  <p:stCondLst>
                                    <p:cond delay="146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50"/>
                                        <p:tgtEl>
                                          <p:spTgt spid="11"/>
                                        </p:tgtEl>
                                      </p:cBhvr>
                                    </p:animEffect>
                                  </p:childTnLst>
                                </p:cTn>
                              </p:par>
                              <p:par>
                                <p:cTn id="25" presetID="10" presetClass="entr" presetSubtype="0" fill="hold" nodeType="withEffect">
                                  <p:stCondLst>
                                    <p:cond delay="146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childTnLst>
                                </p:cTn>
                              </p:par>
                              <p:par>
                                <p:cTn id="28" presetID="10" presetClass="entr" presetSubtype="0" fill="hold" nodeType="withEffect">
                                  <p:stCondLst>
                                    <p:cond delay="146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50"/>
                                        <p:tgtEl>
                                          <p:spTgt spid="13"/>
                                        </p:tgtEl>
                                      </p:cBhvr>
                                    </p:animEffect>
                                  </p:childTnLst>
                                </p:cTn>
                              </p:par>
                              <p:par>
                                <p:cTn id="31" presetID="10" presetClass="entr" presetSubtype="0" fill="hold" nodeType="withEffect">
                                  <p:stCondLst>
                                    <p:cond delay="1890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50"/>
                                        <p:tgtEl>
                                          <p:spTgt spid="14"/>
                                        </p:tgtEl>
                                      </p:cBhvr>
                                    </p:animEffect>
                                  </p:childTnLst>
                                </p:cTn>
                              </p:par>
                              <p:par>
                                <p:cTn id="34" presetID="10" presetClass="entr" presetSubtype="0" fill="hold" nodeType="withEffect">
                                  <p:stCondLst>
                                    <p:cond delay="1890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650"/>
                                        <p:tgtEl>
                                          <p:spTgt spid="15"/>
                                        </p:tgtEl>
                                      </p:cBhvr>
                                    </p:animEffect>
                                  </p:childTnLst>
                                </p:cTn>
                              </p:par>
                              <p:par>
                                <p:cTn id="37" presetID="10" presetClass="entr" presetSubtype="0" fill="hold" nodeType="withEffect">
                                  <p:stCondLst>
                                    <p:cond delay="1890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650"/>
                                        <p:tgtEl>
                                          <p:spTgt spid="16"/>
                                        </p:tgtEl>
                                      </p:cBhvr>
                                    </p:animEffect>
                                  </p:childTnLst>
                                </p:cTn>
                              </p:par>
                              <p:par>
                                <p:cTn id="40" presetID="10" presetClass="entr" presetSubtype="0" fill="hold" nodeType="withEffect">
                                  <p:stCondLst>
                                    <p:cond delay="189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650"/>
                                        <p:tgtEl>
                                          <p:spTgt spid="17"/>
                                        </p:tgtEl>
                                      </p:cBhvr>
                                    </p:animEffect>
                                  </p:childTnLst>
                                </p:cTn>
                              </p:par>
                              <p:par>
                                <p:cTn id="43" presetID="10" presetClass="entr" presetSubtype="0" fill="hold" nodeType="withEffect">
                                  <p:stCondLst>
                                    <p:cond delay="2455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650"/>
                                        <p:tgtEl>
                                          <p:spTgt spid="18"/>
                                        </p:tgtEl>
                                      </p:cBhvr>
                                    </p:animEffect>
                                  </p:childTnLst>
                                </p:cTn>
                              </p:par>
                              <p:par>
                                <p:cTn id="46" presetID="10" presetClass="entr" presetSubtype="0" fill="hold" nodeType="withEffect">
                                  <p:stCondLst>
                                    <p:cond delay="2455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650"/>
                                        <p:tgtEl>
                                          <p:spTgt spid="19"/>
                                        </p:tgtEl>
                                      </p:cBhvr>
                                    </p:animEffect>
                                  </p:childTnLst>
                                </p:cTn>
                              </p:par>
                              <p:par>
                                <p:cTn id="49" presetID="10" presetClass="entr" presetSubtype="0" fill="hold" nodeType="withEffect">
                                  <p:stCondLst>
                                    <p:cond delay="2455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650"/>
                                        <p:tgtEl>
                                          <p:spTgt spid="20"/>
                                        </p:tgtEl>
                                      </p:cBhvr>
                                    </p:animEffect>
                                  </p:childTnLst>
                                </p:cTn>
                              </p:par>
                              <p:par>
                                <p:cTn id="52" presetID="10" presetClass="entr" presetSubtype="0" fill="hold" nodeType="withEffect">
                                  <p:stCondLst>
                                    <p:cond delay="2455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650"/>
                                        <p:tgtEl>
                                          <p:spTgt spid="21"/>
                                        </p:tgtEl>
                                      </p:cBhvr>
                                    </p:animEffect>
                                  </p:childTnLst>
                                </p:cTn>
                              </p:par>
                              <p:par>
                                <p:cTn id="55" presetID="10" presetClass="entr" presetSubtype="0" fill="hold" nodeType="withEffect">
                                  <p:stCondLst>
                                    <p:cond delay="3170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650"/>
                                        <p:tgtEl>
                                          <p:spTgt spid="22"/>
                                        </p:tgtEl>
                                      </p:cBhvr>
                                    </p:animEffect>
                                  </p:childTnLst>
                                </p:cTn>
                              </p:par>
                              <p:par>
                                <p:cTn id="58" presetID="10" presetClass="entr" presetSubtype="0" fill="hold" nodeType="withEffect">
                                  <p:stCondLst>
                                    <p:cond delay="3170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650"/>
                                        <p:tgtEl>
                                          <p:spTgt spid="23"/>
                                        </p:tgtEl>
                                      </p:cBhvr>
                                    </p:animEffect>
                                  </p:childTnLst>
                                </p:cTn>
                              </p:par>
                              <p:par>
                                <p:cTn id="61" presetID="10" presetClass="entr" presetSubtype="0" fill="hold" nodeType="withEffect">
                                  <p:stCondLst>
                                    <p:cond delay="3170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650"/>
                                        <p:tgtEl>
                                          <p:spTgt spid="24"/>
                                        </p:tgtEl>
                                      </p:cBhvr>
                                    </p:animEffect>
                                  </p:childTnLst>
                                </p:cTn>
                              </p:par>
                              <p:par>
                                <p:cTn id="64" presetID="10" presetClass="entr" presetSubtype="0" fill="hold" nodeType="withEffect">
                                  <p:stCondLst>
                                    <p:cond delay="3170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650"/>
                                        <p:tgtEl>
                                          <p:spTgt spid="25"/>
                                        </p:tgtEl>
                                      </p:cBhvr>
                                    </p:animEffect>
                                  </p:childTnLst>
                                </p:cTn>
                              </p:par>
                              <p:par>
                                <p:cTn id="67" presetID="10" presetClass="entr" presetSubtype="0" fill="hold" nodeType="withEffect">
                                  <p:stCondLst>
                                    <p:cond delay="3600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650"/>
                                        <p:tgtEl>
                                          <p:spTgt spid="26"/>
                                        </p:tgtEl>
                                      </p:cBhvr>
                                    </p:animEffect>
                                  </p:childTnLst>
                                </p:cTn>
                              </p:par>
                              <p:par>
                                <p:cTn id="70" presetID="10" presetClass="entr" presetSubtype="0" fill="hold" nodeType="withEffect">
                                  <p:stCondLst>
                                    <p:cond delay="3600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650"/>
                                        <p:tgtEl>
                                          <p:spTgt spid="27"/>
                                        </p:tgtEl>
                                      </p:cBhvr>
                                    </p:animEffect>
                                  </p:childTnLst>
                                </p:cTn>
                              </p:par>
                              <p:par>
                                <p:cTn id="73" presetID="10" presetClass="entr" presetSubtype="0" fill="hold" nodeType="withEffect">
                                  <p:stCondLst>
                                    <p:cond delay="3600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650"/>
                                        <p:tgtEl>
                                          <p:spTgt spid="28"/>
                                        </p:tgtEl>
                                      </p:cBhvr>
                                    </p:animEffect>
                                  </p:childTnLst>
                                </p:cTn>
                              </p:par>
                              <p:par>
                                <p:cTn id="76" presetID="10" presetClass="entr" presetSubtype="0" fill="hold" nodeType="withEffect">
                                  <p:stCondLst>
                                    <p:cond delay="3600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650"/>
                                        <p:tgtEl>
                                          <p:spTgt spid="29"/>
                                        </p:tgtEl>
                                      </p:cBhvr>
                                    </p:animEffect>
                                  </p:childTnLst>
                                </p:cTn>
                              </p:par>
                              <p:par>
                                <p:cTn id="79" presetID="10" presetClass="entr" presetSubtype="0" fill="hold" nodeType="withEffect">
                                  <p:stCondLst>
                                    <p:cond delay="3860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650"/>
                                        <p:tgtEl>
                                          <p:spTgt spid="30"/>
                                        </p:tgtEl>
                                      </p:cBhvr>
                                    </p:animEffect>
                                  </p:childTnLst>
                                </p:cTn>
                              </p:par>
                              <p:par>
                                <p:cTn id="82" presetID="10" presetClass="entr" presetSubtype="0" fill="hold" nodeType="withEffect">
                                  <p:stCondLst>
                                    <p:cond delay="3860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650"/>
                                        <p:tgtEl>
                                          <p:spTgt spid="31"/>
                                        </p:tgtEl>
                                      </p:cBhvr>
                                    </p:animEffect>
                                  </p:childTnLst>
                                </p:cTn>
                              </p:par>
                              <p:par>
                                <p:cTn id="85" presetID="10" presetClass="entr" presetSubtype="0" fill="hold" nodeType="withEffect">
                                  <p:stCondLst>
                                    <p:cond delay="3860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650"/>
                                        <p:tgtEl>
                                          <p:spTgt spid="32"/>
                                        </p:tgtEl>
                                      </p:cBhvr>
                                    </p:animEffect>
                                  </p:childTnLst>
                                </p:cTn>
                              </p:par>
                              <p:par>
                                <p:cTn id="88" presetID="10" presetClass="entr" presetSubtype="0" fill="hold" nodeType="withEffect">
                                  <p:stCondLst>
                                    <p:cond delay="3860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650"/>
                                        <p:tgtEl>
                                          <p:spTgt spid="33"/>
                                        </p:tgtEl>
                                      </p:cBhvr>
                                    </p:animEffect>
                                  </p:childTnLst>
                                </p:cTn>
                              </p:par>
                              <p:par>
                                <p:cTn id="91" presetID="10" presetClass="entr" presetSubtype="0" fill="hold" nodeType="withEffect">
                                  <p:stCondLst>
                                    <p:cond delay="4325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650"/>
                                        <p:tgtEl>
                                          <p:spTgt spid="34"/>
                                        </p:tgtEl>
                                      </p:cBhvr>
                                    </p:animEffect>
                                  </p:childTnLst>
                                </p:cTn>
                              </p:par>
                              <p:par>
                                <p:cTn id="94" presetID="10" presetClass="entr" presetSubtype="0" fill="hold" nodeType="withEffect">
                                  <p:stCondLst>
                                    <p:cond delay="4325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650"/>
                                        <p:tgtEl>
                                          <p:spTgt spid="35"/>
                                        </p:tgtEl>
                                      </p:cBhvr>
                                    </p:animEffect>
                                  </p:childTnLst>
                                </p:cTn>
                              </p:par>
                              <p:par>
                                <p:cTn id="97" presetID="10" presetClass="entr" presetSubtype="0" fill="hold" nodeType="withEffect">
                                  <p:stCondLst>
                                    <p:cond delay="4325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650"/>
                                        <p:tgtEl>
                                          <p:spTgt spid="36"/>
                                        </p:tgtEl>
                                      </p:cBhvr>
                                    </p:animEffect>
                                  </p:childTnLst>
                                </p:cTn>
                              </p:par>
                              <p:par>
                                <p:cTn id="100" presetID="10" presetClass="entr" presetSubtype="0" fill="hold" nodeType="withEffect">
                                  <p:stCondLst>
                                    <p:cond delay="4325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6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3" fill="hold" display="0">
                  <p:stCondLst>
                    <p:cond delay="indefinite"/>
                  </p:stCondLst>
                  <p:endCondLst>
                    <p:cond evt="onStopAudio" delay="0">
                      <p:tgtEl>
                        <p:sldTgt/>
                      </p:tgtEl>
                    </p:cond>
                  </p:end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ercle décor"/>
          <p:cNvSpPr/>
          <p:nvPr/>
        </p:nvSpPr>
        <p:spPr>
          <a:xfrm>
            <a:off x="6309360" y="640080"/>
            <a:ext cx="5852160" cy="5852160"/>
          </a:xfrm>
          <a:prstGeom prst="ellipse">
            <a:avLst/>
          </a:prstGeom>
          <a:solidFill>
            <a:schemeClr val="accent1">
              <a:alpha val="28000"/>
            </a:schemeClr>
          </a:solidFill>
          <a:ln w="12700">
            <a:solidFill>
              <a:schemeClr val="accent1"/>
            </a:solidFill>
            <a:prstDash val="solid"/>
          </a:ln>
        </p:spPr>
        <p:txBody>
          <a:bodyPr/>
          <a:lstStyle/>
          <a:p>
            <a:endParaRPr/>
          </a:p>
        </p:txBody>
      </p:sp>
      <p:sp>
        <p:nvSpPr>
          <p:cNvPr id="3" name="Pastille logo"/>
          <p:cNvSpPr/>
          <p:nvPr/>
        </p:nvSpPr>
        <p:spPr>
          <a:xfrm>
            <a:off x="640080" y="685800"/>
            <a:ext cx="2834640" cy="1097280"/>
          </a:xfrm>
          <a:prstGeom prst="roundRect">
            <a:avLst>
              <a:gd name="adj" fmla="val 16667"/>
            </a:avLst>
          </a:prstGeom>
          <a:solidFill>
            <a:schemeClr val="bg1"/>
          </a:solidFill>
          <a:ln w="12700">
            <a:solidFill>
              <a:schemeClr val="bg1"/>
            </a:solidFill>
            <a:prstDash val="solid"/>
          </a:ln>
        </p:spPr>
        <p:txBody>
          <a:bodyPr/>
          <a:lstStyle/>
          <a:p>
            <a:endParaRPr/>
          </a:p>
        </p:txBody>
      </p:sp>
      <p:pic>
        <p:nvPicPr>
          <p:cNvPr id="4" name="Logo YaGaz" descr="Logo YaGaz"/>
          <p:cNvPicPr>
            <a:picLocks noChangeAspect="1"/>
          </p:cNvPicPr>
          <p:nvPr/>
        </p:nvPicPr>
        <p:blipFill>
          <a:blip r:embed="rId3"/>
          <a:stretch>
            <a:fillRect/>
          </a:stretch>
        </p:blipFill>
        <p:spPr>
          <a:xfrm>
            <a:off x="868680" y="822960"/>
            <a:ext cx="2377440" cy="860179"/>
          </a:xfrm>
          <a:prstGeom prst="rect">
            <a:avLst/>
          </a:prstGeom>
        </p:spPr>
      </p:pic>
      <p:sp>
        <p:nvSpPr>
          <p:cNvPr id="5" name="Text 0"/>
          <p:cNvSpPr>
            <a:spLocks noGrp="1"/>
          </p:cNvSpPr>
          <p:nvPr>
            <p:ph type="title" idx="100" hasCustomPrompt="1"/>
          </p:nvPr>
        </p:nvSpPr>
        <p:spPr>
          <a:xfrm>
            <a:off x="640080" y="2103120"/>
            <a:ext cx="6400800" cy="1188720"/>
          </a:xfrm>
          <a:prstGeom prst="rect">
            <a:avLst/>
          </a:prstGeom>
          <a:noFill/>
          <a:ln/>
        </p:spPr>
        <p:txBody>
          <a:bodyPr wrap="square" lIns="0" tIns="0" rIns="0" bIns="0" rtlCol="0" anchor="t"/>
          <a:lstStyle/>
          <a:p>
            <a:pPr marL="0" indent="0" algn="l">
              <a:buNone/>
            </a:pPr>
            <a:r>
              <a:rPr lang="en-US" sz="6600" b="1" dirty="0">
                <a:solidFill>
                  <a:schemeClr val="bg1"/>
                </a:solidFill>
              </a:rPr>
              <a:t>MERCI</a:t>
            </a:r>
            <a:endParaRPr lang="en-US" sz="6600" dirty="0"/>
          </a:p>
        </p:txBody>
      </p:sp>
      <p:sp>
        <p:nvSpPr>
          <p:cNvPr id="6" name="Sous-titre merci"/>
          <p:cNvSpPr txBox="1"/>
          <p:nvPr/>
        </p:nvSpPr>
        <p:spPr>
          <a:xfrm>
            <a:off x="640080" y="3383280"/>
            <a:ext cx="4389120" cy="640080"/>
          </a:xfrm>
          <a:prstGeom prst="rect">
            <a:avLst/>
          </a:prstGeom>
          <a:noFill/>
          <a:ln/>
        </p:spPr>
        <p:txBody>
          <a:bodyPr wrap="square" lIns="0" tIns="0" rIns="0" bIns="0" rtlCol="0" anchor="ctr"/>
          <a:lstStyle/>
          <a:p>
            <a:pPr marL="0" indent="0">
              <a:buNone/>
            </a:pPr>
            <a:r>
              <a:rPr lang="en-US" sz="3000" dirty="0">
                <a:solidFill>
                  <a:schemeClr val="accent6"/>
                </a:solidFill>
              </a:rPr>
              <a:t>pour votre attention.</a:t>
            </a:r>
            <a:endParaRPr lang="en-US" sz="3000" dirty="0"/>
          </a:p>
        </p:txBody>
      </p:sp>
      <p:sp>
        <p:nvSpPr>
          <p:cNvPr id="7" name="Signature"/>
          <p:cNvSpPr txBox="1"/>
          <p:nvPr/>
        </p:nvSpPr>
        <p:spPr>
          <a:xfrm>
            <a:off x="640080" y="5989320"/>
            <a:ext cx="4572000" cy="320040"/>
          </a:xfrm>
          <a:prstGeom prst="rect">
            <a:avLst/>
          </a:prstGeom>
          <a:noFill/>
          <a:ln/>
        </p:spPr>
        <p:txBody>
          <a:bodyPr wrap="square" lIns="0" tIns="0" rIns="0" bIns="0" rtlCol="0" anchor="ctr"/>
          <a:lstStyle/>
          <a:p>
            <a:pPr marL="0" indent="0">
              <a:buNone/>
            </a:pPr>
            <a:r>
              <a:rPr lang="en-US" sz="1400" dirty="0">
                <a:solidFill>
                  <a:srgbClr val="D6E4F5"/>
                </a:solidFill>
              </a:rPr>
              <a:t>YaGaz · Votre bouteille de gaz, chap chap !</a:t>
            </a:r>
            <a:endParaRPr lang="en-US" sz="1400" dirty="0"/>
          </a:p>
        </p:txBody>
      </p:sp>
      <p:pic>
        <p:nvPicPr>
          <p:cNvPr id="25" name="Logo application YaGaz" descr="Logo de l’application YaGaz : bouteille de gaz et localisation"/>
          <p:cNvPicPr>
            <a:picLocks noChangeAspect="1"/>
          </p:cNvPicPr>
          <p:nvPr/>
        </p:nvPicPr>
        <p:blipFill>
          <a:blip r:embed="rId4"/>
          <a:stretch>
            <a:fillRect/>
          </a:stretch>
        </p:blipFill>
        <p:spPr>
          <a:xfrm>
            <a:off x="7498079" y="1828800"/>
            <a:ext cx="3474720" cy="3474720"/>
          </a:xfrm>
          <a:prstGeom prst="rect">
            <a:avLst/>
          </a:prstGeom>
        </p:spPr>
      </p:pic>
      <p:sp>
        <p:nvSpPr>
          <p:cNvPr id="26" name="Question"/>
          <p:cNvSpPr txBox="1"/>
          <p:nvPr/>
        </p:nvSpPr>
        <p:spPr>
          <a:xfrm>
            <a:off x="640080" y="4160520"/>
            <a:ext cx="5486400" cy="731520"/>
          </a:xfrm>
          <a:prstGeom prst="rect">
            <a:avLst/>
          </a:prstGeom>
          <a:noFill/>
        </p:spPr>
        <p:txBody>
          <a:bodyPr wrap="square" lIns="0" tIns="0" rIns="0" bIns="0">
            <a:spAutoFit/>
          </a:bodyPr>
          <a:lstStyle/>
          <a:p>
            <a:r>
              <a:rPr sz="3600" b="1">
                <a:solidFill>
                  <a:srgbClr val="FFFFFF"/>
                </a:solidFill>
              </a:rPr>
              <a:t>Des questions ?</a:t>
            </a: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50"/>
                                        <p:tgtEl>
                                          <p:spTgt spid="3"/>
                                        </p:tgtEl>
                                      </p:cBhvr>
                                    </p:animEffect>
                                    <p:anim calcmode="lin" valueType="num">
                                      <p:cBhvr additive="base">
                                        <p:cTn id="8" dur="650" fill="hold"/>
                                        <p:tgtEl>
                                          <p:spTgt spid="3"/>
                                        </p:tgtEl>
                                        <p:attrNameLst>
                                          <p:attrName>ppt_y</p:attrName>
                                        </p:attrNameLst>
                                      </p:cBhvr>
                                      <p:tavLst>
                                        <p:tav tm="0">
                                          <p:val>
                                            <p:strVal val="#ppt_y+.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50"/>
                                        <p:tgtEl>
                                          <p:spTgt spid="4"/>
                                        </p:tgtEl>
                                      </p:cBhvr>
                                    </p:animEffect>
                                    <p:anim calcmode="lin" valueType="num">
                                      <p:cBhvr additive="base">
                                        <p:cTn id="12" dur="650" fill="hold"/>
                                        <p:tgtEl>
                                          <p:spTgt spid="4"/>
                                        </p:tgtEl>
                                        <p:attrNameLst>
                                          <p:attrName>ppt_y</p:attrName>
                                        </p:attrNameLst>
                                      </p:cBhvr>
                                      <p:tavLst>
                                        <p:tav tm="0">
                                          <p:val>
                                            <p:strVal val="#ppt_y+.05"/>
                                          </p:val>
                                        </p:tav>
                                        <p:tav tm="100000">
                                          <p:val>
                                            <p:strVal val="#ppt_y"/>
                                          </p:val>
                                        </p:tav>
                                      </p:tavLst>
                                    </p:anim>
                                  </p:childTnLst>
                                </p:cTn>
                              </p:par>
                              <p:par>
                                <p:cTn id="13" presetID="42" presetClass="entr" presetSubtype="0" fill="hold" nodeType="withEffect">
                                  <p:stCondLst>
                                    <p:cond delay="17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50"/>
                                        <p:tgtEl>
                                          <p:spTgt spid="5"/>
                                        </p:tgtEl>
                                      </p:cBhvr>
                                    </p:animEffect>
                                    <p:anim calcmode="lin" valueType="num">
                                      <p:cBhvr additive="base">
                                        <p:cTn id="16" dur="650" fill="hold"/>
                                        <p:tgtEl>
                                          <p:spTgt spid="5"/>
                                        </p:tgtEl>
                                        <p:attrNameLst>
                                          <p:attrName>ppt_y</p:attrName>
                                        </p:attrNameLst>
                                      </p:cBhvr>
                                      <p:tavLst>
                                        <p:tav tm="0">
                                          <p:val>
                                            <p:strVal val="#ppt_y+.05"/>
                                          </p:val>
                                        </p:tav>
                                        <p:tav tm="100000">
                                          <p:val>
                                            <p:strVal val="#ppt_y"/>
                                          </p:val>
                                        </p:tav>
                                      </p:tavLst>
                                    </p:anim>
                                  </p:childTnLst>
                                </p:cTn>
                              </p:par>
                              <p:par>
                                <p:cTn id="17" presetID="42" presetClass="entr" presetSubtype="0" fill="hold" nodeType="withEffect">
                                  <p:stCondLst>
                                    <p:cond delay="34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50"/>
                                        <p:tgtEl>
                                          <p:spTgt spid="6"/>
                                        </p:tgtEl>
                                      </p:cBhvr>
                                    </p:animEffect>
                                    <p:anim calcmode="lin" valueType="num">
                                      <p:cBhvr additive="base">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nodeType="withEffect">
                                  <p:stCondLst>
                                    <p:cond delay="119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additive="base">
                                        <p:cTn id="24" dur="650" fill="hold"/>
                                        <p:tgtEl>
                                          <p:spTgt spid="7"/>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YaGaz">
  <a:themeElements>
    <a:clrScheme name="YaGaz">
      <a:dk1>
        <a:srgbClr val="0E1B33"/>
      </a:dk1>
      <a:lt1>
        <a:srgbClr val="FFFFFF"/>
      </a:lt1>
      <a:dk2>
        <a:srgbClr val="132F53"/>
      </a:dk2>
      <a:lt2>
        <a:srgbClr val="EEF3FA"/>
      </a:lt2>
      <a:accent1>
        <a:srgbClr val="2770A4"/>
      </a:accent1>
      <a:accent2>
        <a:srgbClr val="0E9F6E"/>
      </a:accent2>
      <a:accent3>
        <a:srgbClr val="F26A21"/>
      </a:accent3>
      <a:accent4>
        <a:srgbClr val="1C2031"/>
      </a:accent4>
      <a:accent5>
        <a:srgbClr val="5B6794"/>
      </a:accent5>
      <a:accent6>
        <a:srgbClr val="8DB9E0"/>
      </a:accent6>
      <a:hlink>
        <a:srgbClr val="2770A4"/>
      </a:hlink>
      <a:folHlink>
        <a:srgbClr val="5B6794"/>
      </a:folHlink>
    </a:clrScheme>
    <a:fontScheme name="YaGaz">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1041</Words>
  <Application>Microsoft Office PowerPoint</Application>
  <PresentationFormat>Grand écran</PresentationFormat>
  <Paragraphs>195</Paragraphs>
  <Slides>15</Slides>
  <Notes>8</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Century Gothic</vt:lpstr>
      <vt:lpstr>YaGaz</vt:lpstr>
      <vt:lpstr>Présentation PowerPoint</vt:lpstr>
      <vt:lpstr>Présentation PowerPoint</vt:lpstr>
      <vt:lpstr>Votre bouteille de gaz, chap chap !</vt:lpstr>
      <vt:lpstr>Plan de la présentation</vt:lpstr>
      <vt:lpstr>Le problème : trouver un dépôt disponible</vt:lpstr>
      <vt:lpstr>Développement</vt:lpstr>
      <vt:lpstr>La solution proposée par YaGaz</vt:lpstr>
      <vt:lpstr>Les écrans clés de l’application</vt:lpstr>
      <vt:lpstr>Ce que fait l’application</vt:lpstr>
      <vt:lpstr>Architecture de l’application</vt:lpstr>
      <vt:lpstr>Conclusion</vt:lpstr>
      <vt:lpstr>Feuille de route de YaGaz</vt:lpstr>
      <vt:lpstr>Feuille de route de YaGaz</vt:lpstr>
      <vt:lpstr>L’application en action</vt:lpstr>
      <vt:lpstr>MERCI</vt:lpstr>
    </vt:vector>
  </TitlesOfParts>
  <Company>ESATIC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YaGaz - Présentation du projet</dc:title>
  <dc:subject>Projet d’application mobile YaGaz</dc:subject>
  <dc:creator>DTS SQUAD</dc:creator>
  <cp:lastModifiedBy>nathan kogoulin</cp:lastModifiedBy>
  <cp:revision>6</cp:revision>
  <dcterms:created xsi:type="dcterms:W3CDTF">2026-10-11T00:52:04Z</dcterms:created>
  <dcterms:modified xsi:type="dcterms:W3CDTF">2026-10-14T11:50:20Z</dcterms:modified>
</cp:coreProperties>
</file>